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 snapToObjects="1">
      <p:cViewPr varScale="1">
        <p:scale>
          <a:sx n="133" d="100"/>
          <a:sy n="133" d="100"/>
        </p:scale>
        <p:origin x="3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91440"/>
            <a:ext cx="320040" cy="66751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86868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EFF"/>
                </a:solidFill>
              </a:rPr>
              <a:t>SEFIN-CE / DATAPREV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Régua de Cobrança Proativa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8353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96FF"/>
                </a:solidFill>
              </a:rPr>
              <a:t>via WhatsApp — Agentforce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EEFF"/>
                </a:solidFill>
              </a:rPr>
              <a:t>Fluxo de Atendimento v1.0  ·  Premissas Técnicas  ·  Perguntas em Aberto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1325880" cy="31089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054096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Agentforce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20440"/>
            <a:ext cx="4754880" cy="36576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EFF"/>
                </a:solidFill>
              </a:rPr>
              <a:t>Cliente:  DATAPREV para SEFIN-CE — Secretaria Municipal de Finanças de Fortaleza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7F8C8D"/>
                </a:solidFill>
              </a:rPr>
              <a:t>Programa</a:t>
            </a:r>
            <a:r>
              <a:rPr sz="1200" b="0" i="0" dirty="0">
                <a:solidFill>
                  <a:srgbClr val="7F8C8D"/>
                </a:solidFill>
              </a:rPr>
              <a:t>:  </a:t>
            </a:r>
            <a:r>
              <a:rPr sz="1200" b="0" i="0" dirty="0" err="1">
                <a:solidFill>
                  <a:srgbClr val="7F8C8D"/>
                </a:solidFill>
              </a:rPr>
              <a:t>Modernização</a:t>
            </a:r>
            <a:r>
              <a:rPr sz="1200" b="0" i="0" dirty="0">
                <a:solidFill>
                  <a:srgbClr val="7F8C8D"/>
                </a:solidFill>
              </a:rPr>
              <a:t> da</a:t>
            </a:r>
            <a:r>
              <a:rPr lang="pt-BR" sz="1200" b="0" i="0" dirty="0">
                <a:solidFill>
                  <a:srgbClr val="7F8C8D"/>
                </a:solidFill>
              </a:rPr>
              <a:t> Régua de </a:t>
            </a:r>
            <a:r>
              <a:rPr sz="1200" b="0" i="0" dirty="0" err="1">
                <a:solidFill>
                  <a:srgbClr val="7F8C8D"/>
                </a:solidFill>
              </a:rPr>
              <a:t>Cobrança</a:t>
            </a:r>
            <a:endParaRPr sz="1200" b="0" i="0" dirty="0">
              <a:solidFill>
                <a:srgbClr val="7F8C8D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F8C8D"/>
                </a:solidFill>
              </a:rPr>
              <a:t>Julho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</a:rPr>
              <a:t>Salesforce Professional Services LATAM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6888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Contexto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</a:rPr>
              <a:t>SEFIN-CE · Modernização da cobrança tributária via WhatsApp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96112"/>
            <a:ext cx="11548872" cy="228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DATAPREV  |  SEFIN-CE  ·  Régua de Cobrança via WhatsApp  |  Agentforce  ·  Marketing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3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24128"/>
            <a:ext cx="53949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1024128"/>
            <a:ext cx="5394960" cy="38404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Volumes e Dados do Projeto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5303520" cy="502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1627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8C8D"/>
                </a:solidFill>
              </a:rPr>
              <a:t>Msgs WhatsApp proativas / 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160934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32D60"/>
                </a:solidFill>
              </a:rPr>
              <a:t>4.860.000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93976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2167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8C8D"/>
                </a:solidFill>
              </a:rPr>
              <a:t>Conversas chatbot / 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1488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32D60"/>
                </a:solidFill>
              </a:rPr>
              <a:t>400.000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33472"/>
            <a:ext cx="5303520" cy="502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27066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8C8D"/>
                </a:solidFill>
              </a:rPr>
              <a:t>Posições de atendimento (PAs)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68833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32D60"/>
                </a:solidFill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172968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3246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8C8D"/>
                </a:solidFill>
              </a:rPr>
              <a:t>Prazo estimado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22783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32D60"/>
                </a:solidFill>
              </a:rPr>
              <a:t>5 meses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12463"/>
            <a:ext cx="5303520" cy="502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3785615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8C8D"/>
                </a:solidFill>
              </a:rPr>
              <a:t>Perfis 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3767327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32D60"/>
                </a:solidFill>
              </a:rPr>
              <a:t>Dev SC + Dev MC + PM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51959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" y="43251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8C8D"/>
                </a:solidFill>
              </a:rPr>
              <a:t>Tributos cobertos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306823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32D60"/>
                </a:solidFill>
              </a:rPr>
              <a:t>IPTU (cód. 10) · TMRSU (cód. 980)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791456"/>
            <a:ext cx="5303520" cy="5029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" y="48646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8C8D"/>
                </a:solidFill>
              </a:rPr>
              <a:t>ISS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8463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32D60"/>
                </a:solidFill>
              </a:rPr>
              <a:t>Redirecionamento para site SEFIN-CE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330952"/>
            <a:ext cx="53035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" y="54041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8C8D"/>
                </a:solidFill>
              </a:rPr>
              <a:t>Valor estimado 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38581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32D60"/>
                </a:solidFill>
              </a:rPr>
              <a:t>~R$ 1.300.000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024128"/>
            <a:ext cx="5605272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1024128"/>
            <a:ext cx="5605272" cy="38404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1051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Participantes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1536192"/>
            <a:ext cx="5513832" cy="49377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19088" y="15819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Nelson Stebulaitis Filho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1801368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F8C8D"/>
                </a:solidFill>
              </a:rPr>
              <a:t>Solutions Manager — Salesforce PS LATAM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075688"/>
            <a:ext cx="551383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19088" y="21214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Alex Siqueira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234086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F8C8D"/>
                </a:solidFill>
              </a:rPr>
              <a:t>Account Executive — Salesforce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615184"/>
            <a:ext cx="5513832" cy="49377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19088" y="2660903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Augusto Cesar Martins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2880360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F8C8D"/>
                </a:solidFill>
              </a:rPr>
              <a:t>Delivery Lead — DATAPREV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3154680"/>
            <a:ext cx="5513832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19088" y="3200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Osvaldo Melo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8" y="3419856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F8C8D"/>
                </a:solidFill>
              </a:rPr>
              <a:t>Arquiteto de Solução — DATAPREV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63640" y="3794760"/>
            <a:ext cx="5605272" cy="2395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63640" y="3794760"/>
            <a:ext cx="5605272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382219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Produtos Salesforce Confirmados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4754879"/>
            <a:ext cx="109728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92240" y="4764023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 err="1">
                <a:solidFill>
                  <a:srgbClr val="032D60"/>
                </a:solidFill>
              </a:rPr>
              <a:t>Agentforce</a:t>
            </a:r>
            <a:endParaRPr sz="950" b="1" i="0" dirty="0">
              <a:solidFill>
                <a:srgbClr val="032D6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92240" y="4956047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F8C8D"/>
                </a:solidFill>
              </a:rPr>
              <a:t>Agente WhatsApp — IPTU · TMRSU · ISS · Ajuda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Fluxo de Atendimento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4EEFF"/>
                </a:solidFill>
              </a:rPr>
              <a:t>Validado em 02/07/2026  ·  Agentforce SEFIN-CE / DATAPREV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01168" cy="20116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9509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EEFF"/>
                </a:solidFill>
              </a:rPr>
              <a:t>Ação do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960120"/>
            <a:ext cx="201168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87752" y="9509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EEFF"/>
                </a:solidFill>
              </a:rPr>
              <a:t>Decisão / Condicional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960120"/>
            <a:ext cx="201168" cy="20116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9509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EEFF"/>
                </a:solidFill>
              </a:rPr>
              <a:t>Chamada de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960120"/>
            <a:ext cx="201168" cy="2011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9672" y="9509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EEFF"/>
                </a:solidFill>
              </a:rPr>
              <a:t>Falha / Transbordo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960120"/>
            <a:ext cx="201168" cy="20116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5632" y="9509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EEFF"/>
                </a:solidFill>
              </a:rPr>
              <a:t>Pesquisa + 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5560" y="960120"/>
            <a:ext cx="201168" cy="201168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51592" y="95097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4EEFF"/>
                </a:solidFill>
              </a:rPr>
              <a:t>Encerramento</a:t>
            </a:r>
          </a:p>
        </p:txBody>
      </p:sp>
      <p:pic>
        <p:nvPicPr>
          <p:cNvPr id="18" name="Picture 17" descr="SEFIN_CE_Fluxo_v1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34440"/>
            <a:ext cx="11548872" cy="52578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DATAPREV  |  SEFIN-CE  ·  Régua de Cobrança via WhatsApp  |  Agentforce  ·  Marketing Cloud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Fluxo — Detalhamento (Parte 1 de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</a:rPr>
              <a:t>Entrada · Identificação · Consulta Imóvel via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96112"/>
            <a:ext cx="11548872" cy="228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DATAPREV  |  SEFIN-CE  ·  Régua de Cobrança via WhatsApp  |  Agentforce  ·  Marketing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6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33271"/>
            <a:ext cx="11548872" cy="34747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ENTRADA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399031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399031"/>
            <a:ext cx="54864" cy="43891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1453895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INÍCIO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4721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Cidadão envia mensagem ao canal WhatsApp da SEFIN-CE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56231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1856231"/>
            <a:ext cx="54864" cy="43891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1911095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SAUDAÇÃO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19293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Agente envia boas-vindas ao canal oficial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13432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2313432"/>
            <a:ext cx="54864" cy="43891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23682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Veio de HSM?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3865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SIM → apresenta contexto do disparo proativo recebido  |  NÃO → Menu direto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70632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2770632"/>
            <a:ext cx="54864" cy="43891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28254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MENU DE SERVIÇOS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28437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1. Boleto IPTU   2. Boleto Taxa do Lixo   3. ISS   4. Preciso de ajuda / Outros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319272"/>
            <a:ext cx="11548872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3364991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IDENTIFICAÇÃO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85032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040" y="3685032"/>
            <a:ext cx="54864" cy="43891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5488" y="37398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Já identificado?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37581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SIM + mesmo CPF → vai direto à API  |  NÃO → solicita CPF/CNPJ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142232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4142232"/>
            <a:ext cx="54864" cy="43891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" y="41970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Validação CPF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42153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Formato 11 ou 14 dígitos · até 2 tentativas inválidas · esgotou → Pesquisa → Fim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599432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4599432"/>
            <a:ext cx="54864" cy="43891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" y="46542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Solicita NOME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6725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Nome completo do cidadão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056632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5056632"/>
            <a:ext cx="54864" cy="43891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5488" y="51114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Solicita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1297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Data de nascimento (PF) ou data de abertura na RFB (PJ) · 2 tentativas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605272"/>
            <a:ext cx="11548872" cy="34747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56509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CONSULTA IMÓVEL (API)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971032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0040" y="5971032"/>
            <a:ext cx="54864" cy="4389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5488" y="60258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API ConsultaImovel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60441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Método por-documento: CPF/CNPJ + nome + data + exercício fiscal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6428232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20040" y="6428232"/>
            <a:ext cx="54864" cy="4389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5488" y="64830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Serviço OK?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51760" y="65013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NÃO → 1 retentativa automática  |  falhou 2x → FALHA COM REGISTRO → ALGO MAIS?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6885432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20040" y="6885432"/>
            <a:ext cx="54864" cy="4389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5488" y="69402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Possui inscrições?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51760" y="69585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NÃO → AJUDO COM ALGO MAIS? (cidadão sem imóvel vinculado)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7342632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20040" y="7342632"/>
            <a:ext cx="54864" cy="4389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75488" y="73974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Inscrições em aberto?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51760" y="74157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NÃO → AJUDO COM ALGO MAIS?  |  SIM → apresenta TODAS (sem limite — P-13)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Fluxo — Detalhamento (Parte 2 de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</a:rPr>
              <a:t>Emissão DAM · ISS · Preciso de Ajuda · Encerramento Universal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96112"/>
            <a:ext cx="11548872" cy="228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DATAPREV  |  SEFIN-CE  ·  Régua de Cobrança via WhatsApp  |  Agentforce  ·  Marketing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7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33271"/>
            <a:ext cx="11548872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0789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EMISSÃO DAM — IPTU / TAXA DO LIXO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399031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399031"/>
            <a:ext cx="54864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1453895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Cidadão seleciona inscrição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4721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Escolhe uma das inscrições em aberto apresentadas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856231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1856231"/>
            <a:ext cx="54864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1911095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DAM só ano vigente?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19293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SIM → confirma emissão  |  NÃO → escolhe Cota Única ou Parcelamento + ano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13432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2313432"/>
            <a:ext cx="54864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23682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CONFIRMA EMISSÃO?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23865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NÃO → AJUDO COM ALGO MAIS?  |  SIM → chama API EmitirDamUnico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770632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2770632"/>
            <a:ext cx="54864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28254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API EmitirDamUnico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28437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CPF/CNPJ + tipoDebito + tipoPagamento + ano/parcelas · retorna link PDF DAM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227832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3227832"/>
            <a:ext cx="54864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" y="328269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Falha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300984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1 retentativa · se falhar 2x → Informa falha + registra + AJUDO COM ALGO MAIS? (SEM pesquisa)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685031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685031"/>
            <a:ext cx="54864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" y="3739895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Loop inscrições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758183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Possui outra inscrição sem DAM? → Quer emitir? SIM = repete fluxo completo · NÃO = ALGO MAIS?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215383"/>
            <a:ext cx="11548872" cy="34747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261103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ISS  ·  PRECISO DE AJUDA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581144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" y="4581144"/>
            <a:ext cx="54864" cy="43891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" y="4636007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ISS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65429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Informa link do site SEFIN-CE · sem identificação do cidadão [Q-E: URL a confirmar]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038344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5038344"/>
            <a:ext cx="54864" cy="43891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5488" y="5093207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Preciso de Ajuda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11149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Coleta CPF/CNPJ + nome → consulta Knowledge Base [Q-F: KB a definir]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495544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0040" y="5495544"/>
            <a:ext cx="54864" cy="43891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5550407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KB respondeu?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556869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SIM → entrega resposta → AJUDO COM ALGO MAIS?  |  NÃO → verifica DHA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952744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20040" y="5952744"/>
            <a:ext cx="54864" cy="43891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5488" y="6007607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DHA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651760" y="6025896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FORA horário → informa indisponibilidade → AJUDO COM ALGO MAIS?  |  DENTRO → [TRANSBORDO — Q-B]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6483096"/>
            <a:ext cx="11548872" cy="34747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5760" y="6528816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ENCERRAMENTO UNIVERSAL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6848856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20040" y="6848856"/>
            <a:ext cx="54864" cy="4389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5488" y="690372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AJUDO COM ALGO MAIS?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51760" y="6922008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SIM → volta ao Menu  |  NÃO → Pesquisa de Satisfação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7306056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20040" y="7306056"/>
            <a:ext cx="54864" cy="4389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75488" y="736092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PESQUISA DE SATISFAÇÃO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51760" y="7379208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⭐ Muito ruim  ⭐⭐ Ruim  ⭐⭐⭐ Razoável  ⭐⭐⭐⭐ Bom  ⭐⭐⭐⭐⭐ Muito bom  —  ALL encerramentos (P-05)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7763256"/>
            <a:ext cx="1154887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20040" y="7763256"/>
            <a:ext cx="54864" cy="4389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75488" y="781812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Nota ≤ 3?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51760" y="7836408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SIM → solicita descrição da insatisfação antes de registrar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8220456"/>
            <a:ext cx="11548872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20040" y="8220456"/>
            <a:ext cx="54864" cy="4389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5488" y="827532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32D60"/>
                </a:solidFill>
              </a:rPr>
              <a:t>API Registro de Contato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51760" y="8293608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23E48"/>
                </a:solidFill>
              </a:rPr>
              <a:t>CPF/CNPJ · nome · serviço · resultado · nota · justificativa  [Q-C / Q-D — a definir]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Premissas Técnicas  (1 de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</a:rPr>
              <a:t>Premissas P-01 a P-08 — regem o escopo e o desenvolvimento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96112"/>
            <a:ext cx="11548872" cy="228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DATAPREV  |  SEFIN-CE  ·  Régua de Cobrança via WhatsApp  |  Agentforce  ·  Marketing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24128"/>
            <a:ext cx="594360" cy="5669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13385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1024128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105156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Encerramento universal com Pesquisa de Satisfação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13167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Todo encerramento → Pesquisa → API Registro → Despedida. EXCEÇÃO: falha de API após retentativa encerra sem pesquisa.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691640"/>
            <a:ext cx="59436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18013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1691640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17190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Transbordo humano fora do escopo (a definir)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198424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Não há mecanismo de transbordo humano confirmado. DHA dentro do horário sinaliza [TRANSBORDO — A DEFINIR] como nó orange no fluxo.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59152"/>
            <a:ext cx="594360" cy="56692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46888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2359152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238658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DHA fora do horário = informa indisponibilidade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265176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Quando DHA = FORA, agente informa que atendimento humano só ocorre em horário comercial [Q-J: horário a confirmar] e encerra com pesquisa normalmente.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026664"/>
            <a:ext cx="594360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313639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3026664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" y="305409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API de Registro recebe dados completos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31927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Campos: CPF/CNPJ · nome · serviço executado · resultado · nota de satisfação · justificativa de insatisfação (quando ≤ 3 estrelas).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94176"/>
            <a:ext cx="594360" cy="56692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380390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" y="3694176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4128" y="372160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Pesquisa de satisfação em TODOS os encerramentos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398678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Incluindo erros, abandonos e timeouts. EXCEÇÃO única: falha persistente de API (2ª tentativa falhou) → encerra sem pesquisa.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361688"/>
            <a:ext cx="594360" cy="56692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447141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" y="4361688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4128" y="438912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Nota ≤ 3 estrelas = coleta justificativa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465429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Antes de chamar a API de Registro, o agente solicita uma descrição textual do motivo da insatisfação.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029200"/>
            <a:ext cx="594360" cy="56692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513892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P-07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" y="5029200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8" y="50566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Máximo 2 tentativas por campo de entrada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32180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CPF/CNPJ e Data permitem 2 tentativas inválidas. Na 3ª falha, o fluxo encerra com pesquisa de satisfação e registro.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696712"/>
            <a:ext cx="594360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580644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" y="5696712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24128" y="572414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Sessão já identificada = pula identificação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" y="598932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Cidadão identificado com o mesmo CPF/CNPJ na mesma sessão vai direto para a API ConsultaImovel sem repetir nome/data.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Premissas Técnicas  (2 de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</a:rPr>
              <a:t>Premissas P-09 a P-15 — regem o escopo e o desenvolvimento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96112"/>
            <a:ext cx="11548872" cy="228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DATAPREV  |  SEFIN-CE  ·  Régua de Cobrança via WhatsApp  |  Agentforce  ·  Marketing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24128"/>
            <a:ext cx="594360" cy="66751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1887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1024128"/>
            <a:ext cx="10972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106984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ISS = apenas link do site, sem identificação do cidadão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1371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Ao escolher ISS no menu, o agente informa o link do site SEFIN-CE [Q-E: URL a confirmar] e segue para AJUDO COM ALGO MAIS?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792224"/>
            <a:ext cx="594360" cy="66751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195681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1792224"/>
            <a:ext cx="10972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1837943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Falha de API = 1 retentativa, depois informa e registra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213969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Após 2 falhas consecutivas: agente informa a falha, diz que o contato foi registrado e que alguém entrará em contato para resolver. Depois: AJUDO COM ALGO MAIS?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60320"/>
            <a:ext cx="594360" cy="66751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272491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2560320"/>
            <a:ext cx="10972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2606039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CONFIRMA EMISSÃO? = NÃO → AJUDO COM ALGO MAIS? sem chamar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2907791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Se o cidadão cancelar a confirmação, nenhuma chamada é feita à API EmitirDamUnico. Fluxo segue direto para AJUDO COM ALGO MAIS?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328416"/>
            <a:ext cx="594360" cy="66751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349300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3328416"/>
            <a:ext cx="10972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" y="337413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Loop de emissão para múltiplas inscrições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" y="367588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O processo de seleção + confirmação + API EmitirDamUnico repete-se individualmente para cada inscrição que o cidadão desejar emitir.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096512"/>
            <a:ext cx="594360" cy="667512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426110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P-13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" y="4096512"/>
            <a:ext cx="10972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4128" y="414223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Sem limite de inscrições — apresenta todas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44439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O fluxo original limitava a 7 inscrições. Esta premissa ignora esse limite: o agente apresenta TODAS as inscrições retornadas pela API. [Q-K: verificar motivo original]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64608"/>
            <a:ext cx="594360" cy="6675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502920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" y="4864608"/>
            <a:ext cx="10972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4128" y="491032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Régua proativa via Marketing Cloud Journey Builder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52120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Sugestão de régua: D-15, D-5, D+1, D+15. Gatilhos alimentados pelo sistema ARREC. A ser validada com o cliente [Q-G / Q-H].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632704"/>
            <a:ext cx="594360" cy="6675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579729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P-15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" y="5632704"/>
            <a:ext cx="1097280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8" y="567842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'Preciso de Ajuda' → KB → se sem resposta → [TRANSBORDO]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9801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Identifica o cidadão (CPF/nome), consulta Knowledge Base [Q-F]. Se KB não responder, verifica DHA e sinaliza [TRANSBORDO — A DEFINIR].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Perguntas em Aberto para o Cliente  (1 de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</a:rPr>
              <a:t>Q-A a Q-F — respostas necessárias antes de iniciar o desenvolvimento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96112"/>
            <a:ext cx="11548872" cy="228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DATAPREV  |  SEFIN-CE  ·  Régua de Cobrança via WhatsApp  |  Agentforce  ·  Marketing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24128"/>
            <a:ext cx="621792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43584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Q-A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024128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1060704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O que é HSM no contexto do fluxo original?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34416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Quais parâmetros e conteúdo das mensagens HSM proativas? Como o cidadão é identificado no disparo?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65792" y="1133856"/>
            <a:ext cx="20574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38944" y="11521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8C8D"/>
                </a:solidFill>
              </a:rPr>
              <a:t>Osvaldo / Augusto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920240"/>
            <a:ext cx="621792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2139696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Q-B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1920240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195681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Qual será o mecanismo de transbordo humano?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2402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Como se dará tecnicamente dado que não há Service Cloud/Digital Engagement no escopo? Há queue externa, telefone, outro canal?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65792" y="2029968"/>
            <a:ext cx="20574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38944" y="20482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8C8D"/>
                </a:solidFill>
              </a:rPr>
              <a:t>Augusto / SEFIN-CE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16352"/>
            <a:ext cx="621792" cy="77724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3035808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Q-C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2816352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28529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Quais são os parâmetros da API de Registro de Contato?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13639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Endpoint, autenticação, campos esperados. Confirmar se recebe: CPF/CNPJ, nome, serviço, resultado, nota, justificativa.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65792" y="2926080"/>
            <a:ext cx="20574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38944" y="29443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8C8D"/>
                </a:solidFill>
              </a:rPr>
              <a:t>Osvaldo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712464"/>
            <a:ext cx="621792" cy="77724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3931920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Q-D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3712464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" y="37490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O registro da pesquisa de satisfação usa a mesma API de log?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03250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Ou há endpoint separado para avaliação? A nota e justificativa fazem parte do mesmo payload ou chamada distinta?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65792" y="3822192"/>
            <a:ext cx="20574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38944" y="384048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8C8D"/>
                </a:solidFill>
              </a:rPr>
              <a:t>Osvaldo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608576"/>
            <a:ext cx="621792" cy="7772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4828032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Q-E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4608576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1560" y="46451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Qual é a URL do site SEFIN-CE para o fluxo ISS?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492861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URL completa que o agente deve informar ao cidadão quando selecionar ISS no menu.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65792" y="4718304"/>
            <a:ext cx="20574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38944" y="473659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8C8D"/>
                </a:solidFill>
              </a:rPr>
              <a:t>SEFIN-CE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504688"/>
            <a:ext cx="621792" cy="7772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5724144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Q-F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0120" y="5504688"/>
            <a:ext cx="109728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51560" y="5541264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Há base de conhecimento (KB) disponível para o agente?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582472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Se sim: quem mantém, em qual formato (PDF, artigos, FAQ), qual sistema atual? Agente consulta KB para 'Preciso de Ajuda' antes de escalar.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65792" y="5614416"/>
            <a:ext cx="20574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38944" y="56327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8C8D"/>
                </a:solidFill>
              </a:rPr>
              <a:t>SEFIN-CE / Augusto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Perguntas em Aberto para o Cliente  (2 de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</a:rPr>
              <a:t>Q-G a Q-K — respostas necessárias antes de iniciar o desenvolvimento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96112"/>
            <a:ext cx="11548872" cy="228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DATAPREV  |  SEFIN-CE  ·  Régua de Cobrança via WhatsApp  |  Agentforce  ·  Marketing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24128"/>
            <a:ext cx="621792" cy="8961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80160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Q-G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024128"/>
            <a:ext cx="1097280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10789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Há régua de comunicação proativa já definida?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1389888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Se não, o cliente aceita adotar a régua sugerida via Marketing Cloud Journey Builder (D-15, D-5, D+1, D+15)? Quem aprova o conteúdo das mensagens?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65792" y="1152144"/>
            <a:ext cx="20574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38944" y="117043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8C8D"/>
                </a:solidFill>
              </a:rPr>
              <a:t>SEFIN-CE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48256"/>
            <a:ext cx="621792" cy="89611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2304288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Q-H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2048256"/>
            <a:ext cx="1097280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21031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Qual é a fonte de dados para os gatilhos da régua proativa?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414016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Como o Marketing Cloud acessa os dados de quem está em débito e quando vence? API ARREC, SFTP batch, Direct Connect ou outro?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65792" y="2176272"/>
            <a:ext cx="20574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38944" y="21945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8C8D"/>
                </a:solidFill>
              </a:rPr>
              <a:t>SEFIN-CE / TI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072384"/>
            <a:ext cx="621792" cy="8961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3328416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Q-I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3072384"/>
            <a:ext cx="1097280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312724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O cidadão pode solicitar opt-out das mensagens proativas?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438144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Se sim: como é registrado o opt-out e como o Journey Builder respeita essa preferência nos disparos seguintes? Há campo no ARREC?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65792" y="3200400"/>
            <a:ext cx="20574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38944" y="321868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8C8D"/>
                </a:solidFill>
              </a:rPr>
              <a:t>SEFIN-CE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096512"/>
            <a:ext cx="621792" cy="89611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4352544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Q-J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4096512"/>
            <a:ext cx="1097280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" y="4151376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Qual é o horário comercial de atendimento humano?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462272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Dias da semana (ex.: seg-sex), horário de início e fim (ex.: 8h–18h). Feriados nacionais e municipais de Fortaleza devem ser considerados?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65792" y="4224528"/>
            <a:ext cx="20574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38944" y="42428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8C8D"/>
                </a:solidFill>
              </a:rPr>
              <a:t>SEFIN-CE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120640"/>
            <a:ext cx="621792" cy="896112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5376672"/>
            <a:ext cx="621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Q-K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5120640"/>
            <a:ext cx="10972800" cy="896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51560" y="5175504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32D60"/>
                </a:solidFill>
              </a:rPr>
              <a:t>O limite de 7 inscrições do fluxo original é limitação de qual sistema?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486400"/>
            <a:ext cx="8686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Bot atual, API ConsultaImovel ou regra de negócio? A nova solução pode apresentar todas as inscrições sem limite (Premissa P-13 assume que SIM)?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65792" y="5248656"/>
            <a:ext cx="2057400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38944" y="52669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F8C8D"/>
                </a:solidFill>
              </a:rPr>
              <a:t>Osvaldo / SEFIN-CE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APIs Mapeadas — Sistema ARREC (SEFIN-CE)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</a:rPr>
              <a:t>Dois serviços prontos para consumo · API de Registro a ser entregue pelo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96112"/>
            <a:ext cx="11548872" cy="228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DATAPREV  |  SEFIN-CE  ·  Régua de Cobrança via WhatsApp  |  Agentforce  ·  Marketing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12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24128"/>
            <a:ext cx="11548872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0515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API 1 — EmitirDamUnico  ·  Gera boleto DAM para pagamento de tributo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389888"/>
            <a:ext cx="11548872" cy="310896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4" y="1435608"/>
            <a:ext cx="3127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Parâmetro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1435608"/>
            <a:ext cx="1938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3" y="1435608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Obrig.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3" y="1435608"/>
            <a:ext cx="5230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Descrição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700784"/>
            <a:ext cx="11548872" cy="3474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" y="1764792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tipoDebito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1764792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Integer(3)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6983" y="1764792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3" y="1764792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TMRSU = 980  ·  IPTU =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048256"/>
            <a:ext cx="115488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4" y="2112264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tipoPessoa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2112264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String(1)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6983" y="2112264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3" y="2112264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F = Física  ·  J = Jurídica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395728"/>
            <a:ext cx="11548872" cy="3474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4904" y="2459736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cpfcnpj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5304" y="2459736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String(14)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6983" y="2459736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1383" y="2459736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Somente números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743200"/>
            <a:ext cx="115488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4904" y="2807208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tipoPagamento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5304" y="2807208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String(9)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86983" y="2807208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1383" y="2807208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COTAUNICA  ou  PARCELADO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090672"/>
            <a:ext cx="11548872" cy="34747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4904" y="3154679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AnoDebito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5304" y="3154679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Integer(4)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86983" y="3154679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1383" y="3154679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Ano do débito — opcional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438144"/>
            <a:ext cx="115488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4904" y="3502151"/>
            <a:ext cx="3127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1B9A"/>
                </a:solidFill>
              </a:rPr>
              <a:t>periodoParcelas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75304" y="3502151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86983" y="3502151"/>
            <a:ext cx="841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01383" y="3502151"/>
            <a:ext cx="5230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Obrigatório se PARCELADO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3840479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00695C"/>
                </a:solidFill>
              </a:rPr>
              <a:t>  Retorno: link PDF do DAM pronto para download e envio via WhatsApp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169663"/>
            <a:ext cx="11548872" cy="34747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4215383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API 2 — ConsultaImovel por-documento  ·  Retorna imóveis e inscrições vinculadas ao CPF/CNPJ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517136"/>
            <a:ext cx="11548872" cy="27432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74904" y="4553712"/>
            <a:ext cx="3127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Parâmetro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75304" y="4553712"/>
            <a:ext cx="1938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86983" y="4553712"/>
            <a:ext cx="841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Obrig.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01383" y="4553712"/>
            <a:ext cx="5230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Descrição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791455"/>
            <a:ext cx="11548872" cy="32918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74904" y="4855464"/>
            <a:ext cx="3127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95C"/>
                </a:solidFill>
              </a:rPr>
              <a:t>Tipo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75304" y="4855464"/>
            <a:ext cx="1938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String(8)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86983" y="4855464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1383" y="4855464"/>
            <a:ext cx="5230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Física  ou  Jurídica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120640"/>
            <a:ext cx="1154887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74904" y="5184648"/>
            <a:ext cx="3127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95C"/>
                </a:solidFill>
              </a:rPr>
              <a:t>Documento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75304" y="5184648"/>
            <a:ext cx="1938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String(14)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86983" y="5184648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01383" y="5184648"/>
            <a:ext cx="5230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CPF ou CNPJ formatado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449824"/>
            <a:ext cx="11548872" cy="32918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74904" y="5513832"/>
            <a:ext cx="3127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95C"/>
                </a:solidFill>
              </a:rPr>
              <a:t>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75304" y="5513832"/>
            <a:ext cx="1938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Date ISO8601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86983" y="5513832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01383" y="5513832"/>
            <a:ext cx="5230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Data de nascimento (PF) ou abertura na RFB (PJ)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779008"/>
            <a:ext cx="1154887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74904" y="5843016"/>
            <a:ext cx="3127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695C"/>
                </a:solidFill>
              </a:rPr>
              <a:t>Exercicio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75304" y="5843016"/>
            <a:ext cx="19385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Number(4)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86983" y="5843016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01383" y="5843016"/>
            <a:ext cx="5230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23E48"/>
                </a:solidFill>
              </a:rPr>
              <a:t>Exercício fiscal a pesquisar (ano)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16305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00695C"/>
                </a:solidFill>
              </a:rPr>
              <a:t>  Retorno: inscrição municipal · endereço · cartografia · titular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6455664"/>
            <a:ext cx="11548872" cy="310896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65760" y="6492240"/>
            <a:ext cx="11338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  API 3 — Registro de Contato  ·  A ser entregue pelo cliente [Q-C / Q-D]  ·  Campos esperados: CPF/CNPJ · nome · serviço · resultado · nota · justificativa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32D60"/>
                </a:solidFill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F8C8D"/>
                </a:solidFill>
              </a:rPr>
              <a:t>Ações, responsáveis e prazos para avançar com o projeto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96112"/>
            <a:ext cx="11548872" cy="228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DATAPREV  |  SEFIN-CE  ·  Régua de Cobrança via WhatsApp  |  Agentforce  ·  Marketing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FFFFFF"/>
                </a:solidFill>
              </a:rPr>
              <a:t>13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24128"/>
            <a:ext cx="11548872" cy="310896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06984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069848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1069848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069848"/>
            <a:ext cx="2487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Responsável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335024"/>
            <a:ext cx="11548872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1335024"/>
            <a:ext cx="109728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1444752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145389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1463040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Osvaldo entregou documentação das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49047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01/07/2026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1490472"/>
            <a:ext cx="155448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44968" y="150876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Concluído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49047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32D60"/>
                </a:solidFill>
              </a:rPr>
              <a:t>Osvaldo Melo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920240"/>
            <a:ext cx="1154887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0040" y="1920240"/>
            <a:ext cx="109728" cy="5669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2029968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203911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048256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Fluxo de atendimento v1.0 validado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07568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02/07/2026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075688"/>
            <a:ext cx="1554480" cy="2560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44968" y="209397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Concluído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07568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32D60"/>
                </a:solidFill>
              </a:rPr>
              <a:t>Nelson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505456"/>
            <a:ext cx="11548872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0040" y="2505456"/>
            <a:ext cx="109728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615184"/>
            <a:ext cx="502920" cy="3474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62432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2633472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Nelson + Alex revisam escopo de 800h e valor PS real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66090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URGENTE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2660904"/>
            <a:ext cx="1554480" cy="2560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44968" y="267919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Em andamento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66090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32D60"/>
                </a:solidFill>
              </a:rPr>
              <a:t>Nelson + Alex Siqueira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3090672"/>
            <a:ext cx="1154887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3090672"/>
            <a:ext cx="109728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3200400"/>
            <a:ext cx="502920" cy="3474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320954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3218688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Alex comunica retorno a Augusto com valor e escopo revisado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32461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URGENTE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3246120"/>
            <a:ext cx="1554480" cy="2560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44968" y="32644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Aguardando #3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324612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32D60"/>
                </a:solidFill>
              </a:rPr>
              <a:t>Alex Siqueira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3675888"/>
            <a:ext cx="11548872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20040" y="3675888"/>
            <a:ext cx="109728" cy="56692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3785616"/>
            <a:ext cx="502920" cy="34747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37947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3803904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Enviar perguntas Q-A a Q-K para DATAPREV / SEFIN-CE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60" y="383133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Próxima semana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0" y="3831336"/>
            <a:ext cx="1554480" cy="2560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44968" y="384962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Pendente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2600" y="383133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32D60"/>
                </a:solidFill>
              </a:rPr>
              <a:t>Nelson / Augusto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4261104"/>
            <a:ext cx="1154887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20040" y="4261104"/>
            <a:ext cx="109728" cy="56692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57200" y="4370832"/>
            <a:ext cx="502920" cy="34747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437997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" y="4389120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Cliente responde perguntas — validar premissas restantes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80760" y="44165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A combinar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80960" y="4416552"/>
            <a:ext cx="1554480" cy="2560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44968" y="44348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Pendente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2600" y="441655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32D60"/>
                </a:solidFill>
              </a:rPr>
              <a:t>Osvaldo / SEFIN-CE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4846320"/>
            <a:ext cx="11548872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320040" y="4846320"/>
            <a:ext cx="109728" cy="566928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57200" y="4956048"/>
            <a:ext cx="502920" cy="34747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57200" y="49651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4974336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Preparar ROM definitivo para DATAPREV fechar com CFIN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80760" y="500176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Pós validação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80960" y="5001768"/>
            <a:ext cx="1554480" cy="2560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744968" y="502005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Pendente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72600" y="500176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32D60"/>
                </a:solidFill>
              </a:rPr>
              <a:t>Nelson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5431536"/>
            <a:ext cx="11548872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320040" y="5431536"/>
            <a:ext cx="109728" cy="566928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457200" y="5541264"/>
            <a:ext cx="502920" cy="347472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57200" y="5550407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🔭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5840" y="5559551"/>
            <a:ext cx="4983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2D60"/>
                </a:solidFill>
              </a:rPr>
              <a:t>Avaliar expansão para PGM e CMF (mesmo modelo)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58698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8C8D"/>
                </a:solidFill>
              </a:rPr>
              <a:t>Futuro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680960" y="5586983"/>
            <a:ext cx="1554480" cy="256032"/>
          </a:xfrm>
          <a:prstGeom prst="rect">
            <a:avLst/>
          </a:prstGeom>
          <a:solidFill>
            <a:srgbClr val="323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744968" y="560527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Oportunidade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72600" y="5586983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32D60"/>
                </a:solidFill>
              </a:rPr>
              <a:t>Augusto + Alex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2277</Words>
  <Application>Microsoft Macintosh PowerPoint</Application>
  <PresentationFormat>Personalizar</PresentationFormat>
  <Paragraphs>328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Nelson Stebulaitis Filho</cp:lastModifiedBy>
  <cp:revision>2</cp:revision>
  <dcterms:created xsi:type="dcterms:W3CDTF">2013-01-27T09:14:16Z</dcterms:created>
  <dcterms:modified xsi:type="dcterms:W3CDTF">2026-07-02T17:20:44Z</dcterms:modified>
  <cp:category/>
</cp:coreProperties>
</file>