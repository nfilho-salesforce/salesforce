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6"/>
  </p:normalViewPr>
  <p:slideViewPr>
    <p:cSldViewPr snapToGrid="0" snapToObjects="1">
      <p:cViewPr varScale="1">
        <p:scale>
          <a:sx n="135" d="100"/>
          <a:sy n="135" d="100"/>
        </p:scale>
        <p:origin x="8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86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6000"/>
            <a:ext cx="9144000" cy="432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ANATEL — TFF/TFI  |  Arquitetura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295200"/>
            <a:ext cx="57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C4DE"/>
                </a:solidFill>
              </a:rPr>
              <a:t>Fase 2  ·  MuleSoft como Orquestrador  ·  Fluxo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25999"/>
            <a:ext cx="27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C4DE"/>
                </a:solidFill>
              </a:rPr>
              <a:t>Salesforce Professional Services  |  LATAM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" y="594000"/>
            <a:ext cx="1980000" cy="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000" y="601200"/>
            <a:ext cx="19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4657D"/>
                </a:solidFill>
              </a:rPr>
              <a:t>FONTES DE 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8000" y="594000"/>
            <a:ext cx="2124000" cy="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8000" y="601200"/>
            <a:ext cx="212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7A00"/>
                </a:solidFill>
              </a:rPr>
              <a:t>ORQUESTRADOR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31999" y="594000"/>
            <a:ext cx="2232000" cy="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31999" y="601200"/>
            <a:ext cx="22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70D2"/>
                </a:solidFill>
              </a:rPr>
              <a:t>SALESFORCE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000" y="594000"/>
            <a:ext cx="2700000" cy="180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000" y="601200"/>
            <a:ext cx="27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A2D82"/>
                </a:solidFill>
              </a:rPr>
              <a:t>SAÍDAS / USUÁRIO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" y="864000"/>
            <a:ext cx="1980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F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1999" y="9072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A00"/>
                </a:solidFill>
              </a:rPr>
              <a:t>SITARWEB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999" y="1080000"/>
            <a:ext cx="183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Sistema de fiscalização
de estações de rádio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999" y="1360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1999" y="1364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5A00"/>
                </a:solidFill>
              </a:rPr>
              <a:t>Legacy / API 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" y="1638000"/>
            <a:ext cx="1980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1999" y="16812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</a:rPr>
              <a:t>DB_TELECOM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999" y="1853999"/>
            <a:ext cx="183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Obrigações e contribuintes
TFF principais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999" y="2134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1999" y="2138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62FE"/>
                </a:solidFill>
              </a:rPr>
              <a:t>SQL Server / JDBC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" y="2412000"/>
            <a:ext cx="1980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1999" y="2455200"/>
            <a:ext cx="18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44E"/>
                </a:solidFill>
              </a:rPr>
              <a:t>SMS / FISTEL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99" y="2628000"/>
            <a:ext cx="1835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Registros e histórico
de arrecadação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1999" y="2908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1999" y="2912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E844E"/>
                </a:solidFill>
              </a:rPr>
              <a:t>MongoDB Connector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" y="3186000"/>
            <a:ext cx="1980000" cy="396000"/>
          </a:xfrm>
          <a:prstGeom prst="rect">
            <a:avLst/>
          </a:prstGeom>
          <a:solidFill>
            <a:srgbClr val="FFF3CD"/>
          </a:solidFill>
          <a:ln w="1905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2000" y="3211200"/>
            <a:ext cx="187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7A00"/>
                </a:solidFill>
              </a:rPr>
              <a:t>⚠  ~10M registros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000" y="3355200"/>
            <a:ext cx="187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4F00"/>
                </a:solidFill>
              </a:rPr>
              <a:t>Identidade fragmentada entre as 3 fontes.
Deduplicação e resolução tratadas no MuleSoft.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6000" y="864000"/>
            <a:ext cx="1745999" cy="2718000"/>
          </a:xfrm>
          <a:prstGeom prst="rect">
            <a:avLst/>
          </a:prstGeom>
          <a:solidFill>
            <a:srgbClr val="FFF7F0"/>
          </a:solidFill>
          <a:ln w="317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196000" y="864000"/>
            <a:ext cx="1745999" cy="39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96000" y="907200"/>
            <a:ext cx="174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MuleSoft  Anypoint Platform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4000" y="1332000"/>
            <a:ext cx="1152000" cy="1512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84000" y="1339200"/>
            <a:ext cx="1152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ORQUESTRADOR CENTRAL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1565999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Normalização de esquemas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1753199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Transformação de dados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19404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Deduplicação de registros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21276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Roteamento por tipo de dado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23148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Error handling &amp; retry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2501999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Auditoria de transações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26892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Rate limiting / throttling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2876400"/>
            <a:ext cx="16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3A00"/>
                </a:solidFill>
              </a:rPr>
              <a:t>▸  Monitoramento (Anypoint)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366000"/>
            <a:ext cx="1565999" cy="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86000" y="3373199"/>
            <a:ext cx="1565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7A00"/>
                </a:solidFill>
              </a:rPr>
              <a:t>Salesforce REST API  ·  Platform Events  ·  Bulk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50000" y="864000"/>
            <a:ext cx="2196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04000" y="907200"/>
            <a:ext cx="20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A3BF"/>
                </a:solidFill>
              </a:rPr>
              <a:t>Flow Builder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4000" y="1080000"/>
            <a:ext cx="20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Jornada anti-inadimplência
D-30/D-15/D-7/D+1/D+15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04000" y="1360800"/>
            <a:ext cx="900000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2A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04000" y="1364400"/>
            <a:ext cx="900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2A3BF"/>
                </a:solidFill>
              </a:rPr>
              <a:t>Automação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50000" y="1710000"/>
            <a:ext cx="2196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04000" y="1753200"/>
            <a:ext cx="20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D2"/>
                </a:solidFill>
              </a:rPr>
              <a:t>Service Cloud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04000" y="1925999"/>
            <a:ext cx="20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Fila unificada de atendimento
e gestão de casos TFF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04000" y="2206800"/>
            <a:ext cx="900000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04000" y="2210400"/>
            <a:ext cx="900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70D2"/>
                </a:solidFill>
              </a:rPr>
              <a:t>Case Mgmt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50000" y="2556000"/>
            <a:ext cx="2196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04000" y="2599200"/>
            <a:ext cx="20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2D82"/>
                </a:solidFill>
              </a:rPr>
              <a:t>Big Objects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04000" y="2771999"/>
            <a:ext cx="208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Retenção imutável de 7 anos
auditável (TCU/compliance)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04000" y="3052800"/>
            <a:ext cx="900000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04000" y="3056400"/>
            <a:ext cx="900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A2D82"/>
                </a:solidFill>
              </a:rPr>
              <a:t>Compliance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3999" y="864000"/>
            <a:ext cx="2682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7999" y="907200"/>
            <a:ext cx="25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44E"/>
                </a:solidFill>
              </a:rPr>
              <a:t>WhatsApp + E-mail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7999" y="1080000"/>
            <a:ext cx="25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Notificações automáticas
da jornada com link de pagamento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7999" y="1360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2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7999" y="1364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E844E"/>
                </a:solidFill>
              </a:rPr>
              <a:t>Omnichannel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3999" y="1710000"/>
            <a:ext cx="2682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7999" y="1753200"/>
            <a:ext cx="25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D2"/>
                </a:solidFill>
              </a:rPr>
              <a:t>Atendimento TFF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7999" y="1925999"/>
            <a:ext cx="25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Servidor com contexto completo
do contribuinte no SF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7999" y="2206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07999" y="2210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70D2"/>
                </a:solidFill>
              </a:rPr>
              <a:t>Service Cloud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53999" y="2556000"/>
            <a:ext cx="2682000" cy="66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7999" y="2599200"/>
            <a:ext cx="25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2D82"/>
                </a:solidFill>
              </a:rPr>
              <a:t>Trilha de Auditoria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7999" y="2771999"/>
            <a:ext cx="259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4657D"/>
                </a:solidFill>
              </a:rPr>
              <a:t>7 anos de histórico imutável
para conformidade e TCU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7999" y="3052800"/>
            <a:ext cx="1007999" cy="1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5A2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7999" y="3056400"/>
            <a:ext cx="1007999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A2D82"/>
                </a:solidFill>
              </a:rPr>
              <a:t>Big Objects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088000" y="1195200"/>
            <a:ext cx="108000" cy="0"/>
          </a:xfrm>
          <a:prstGeom prst="line">
            <a:avLst/>
          </a:prstGeom>
          <a:ln w="22860">
            <a:solidFill>
              <a:srgbClr val="FF7A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088000" y="1969200"/>
            <a:ext cx="108000" cy="0"/>
          </a:xfrm>
          <a:prstGeom prst="line">
            <a:avLst/>
          </a:prstGeom>
          <a:ln w="22860">
            <a:solidFill>
              <a:srgbClr val="FF7A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88000" y="2743200"/>
            <a:ext cx="108000" cy="0"/>
          </a:xfrm>
          <a:prstGeom prst="line">
            <a:avLst/>
          </a:prstGeom>
          <a:ln w="22860">
            <a:solidFill>
              <a:srgbClr val="FF7A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941999" y="1195200"/>
            <a:ext cx="108001" cy="0"/>
          </a:xfrm>
          <a:prstGeom prst="line">
            <a:avLst/>
          </a:prstGeom>
          <a:ln w="22860">
            <a:solidFill>
              <a:srgbClr val="0070D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941999" y="2041200"/>
            <a:ext cx="108001" cy="0"/>
          </a:xfrm>
          <a:prstGeom prst="line">
            <a:avLst/>
          </a:prstGeom>
          <a:ln w="22860">
            <a:solidFill>
              <a:srgbClr val="0070D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941999" y="2887200"/>
            <a:ext cx="108001" cy="0"/>
          </a:xfrm>
          <a:prstGeom prst="line">
            <a:avLst/>
          </a:prstGeom>
          <a:ln w="22860">
            <a:solidFill>
              <a:srgbClr val="0070D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246000" y="1195200"/>
            <a:ext cx="107999" cy="0"/>
          </a:xfrm>
          <a:prstGeom prst="line">
            <a:avLst/>
          </a:prstGeom>
          <a:ln w="22860">
            <a:solidFill>
              <a:srgbClr val="5A2D8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246000" y="2041200"/>
            <a:ext cx="107999" cy="0"/>
          </a:xfrm>
          <a:prstGeom prst="line">
            <a:avLst/>
          </a:prstGeom>
          <a:ln w="22860">
            <a:solidFill>
              <a:srgbClr val="5A2D8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246000" y="2887200"/>
            <a:ext cx="107999" cy="0"/>
          </a:xfrm>
          <a:prstGeom prst="line">
            <a:avLst/>
          </a:prstGeom>
          <a:ln w="22860">
            <a:solidFill>
              <a:srgbClr val="5A2D8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0" y="4662000"/>
            <a:ext cx="9144000" cy="4824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0000" y="4705200"/>
            <a:ext cx="5580000" cy="396000"/>
          </a:xfrm>
          <a:prstGeom prst="rect">
            <a:avLst/>
          </a:prstGeom>
          <a:solidFill>
            <a:srgbClr val="FFF3CD"/>
          </a:solidFill>
          <a:ln w="19050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44000" y="4716000"/>
            <a:ext cx="21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7A00"/>
                </a:solidFill>
              </a:rPr>
              <a:t>⚠  Prazo Regulatório Crítico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4000" y="4878000"/>
            <a:ext cx="54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4F00"/>
                </a:solidFill>
              </a:rPr>
              <a:t>Go-live planejado para início de março/2027 — margem de 4 semanas antes do prazo de 31/03/2027 para geração de boletos TFF.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32000" y="4770000"/>
            <a:ext cx="251999" cy="9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20000" y="4752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4657D"/>
                </a:solidFill>
              </a:rPr>
              <a:t>Ingestão — MuleSoft Connectors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52000" y="4770000"/>
            <a:ext cx="251999" cy="90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740000" y="4752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4657D"/>
                </a:solidFill>
              </a:rPr>
              <a:t>Distribuição — Salesforce APIs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52000" y="4770000"/>
            <a:ext cx="251999" cy="90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740000" y="4752000"/>
            <a:ext cx="162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4657D"/>
                </a:solidFill>
              </a:rPr>
              <a:t>Entrega ao usuário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Macintosh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Stebulaitis Filho</cp:lastModifiedBy>
  <cp:revision>1</cp:revision>
  <dcterms:created xsi:type="dcterms:W3CDTF">2013-01-27T09:14:16Z</dcterms:created>
  <dcterms:modified xsi:type="dcterms:W3CDTF">2026-05-31T19:23:24Z</dcterms:modified>
  <cp:category/>
</cp:coreProperties>
</file>