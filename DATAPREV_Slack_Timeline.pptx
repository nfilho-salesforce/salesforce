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-457200"/>
            <a:ext cx="4572000" cy="4572000"/>
          </a:xfrm>
          <a:prstGeom prst="rect">
            <a:avLst/>
          </a:prstGeom>
          <a:solidFill>
            <a:srgbClr val="3A0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3657600"/>
            <a:ext cx="3657600" cy="3657600"/>
          </a:xfrm>
          <a:prstGeom prst="rect">
            <a:avLst/>
          </a:prstGeom>
          <a:solidFill>
            <a:srgbClr val="2A0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120640"/>
            <a:ext cx="384048" cy="384048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5120640"/>
            <a:ext cx="384048" cy="384048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5120640"/>
            <a:ext cx="384048" cy="384048"/>
          </a:xfrm>
          <a:prstGeom prst="rect">
            <a:avLst/>
          </a:prstGeom>
          <a:solidFill>
            <a:srgbClr val="E01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520" y="5120640"/>
            <a:ext cx="384048" cy="384048"/>
          </a:xfrm>
          <a:prstGeom prst="rect">
            <a:avLst/>
          </a:prstGeom>
          <a:solidFill>
            <a:srgbClr val="36C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6B8C"/>
                </a:solidFill>
              </a:rPr>
              <a:t>DATAPREV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Implantação do Slack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Governança Agentes Serviço na Ponta · Bolsão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186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AACC"/>
                </a:solidFill>
              </a:rPr>
              <a:t>Timeline, Atividades e Premissas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4114800" cy="36576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776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AABB"/>
                </a:solidFill>
              </a:rPr>
              <a:t>Salesforce Professional Services — LATAM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8899"/>
                </a:solidFill>
              </a:rPr>
              <a:t>Junho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Dataprev · Governança Agentes · Bolsão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Timeline de Implantação — 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95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8–10 dias de trabalho técnico · 4 fases sequenciais · 2 workshops de adoção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0" y="201168"/>
            <a:ext cx="502920" cy="502920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2651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476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Salesforce Professional Services — LATAM  |  Uso Interno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2 de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15568"/>
            <a:ext cx="12188952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170432"/>
            <a:ext cx="3200400" cy="3474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118872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16161"/>
                </a:solidFill>
              </a:rPr>
              <a:t>Sem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170432"/>
            <a:ext cx="3200400" cy="3474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18872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16161"/>
                </a:solidFill>
              </a:rPr>
              <a:t>Sem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170432"/>
            <a:ext cx="3200400" cy="3474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18872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16161"/>
                </a:solidFill>
              </a:rPr>
              <a:t>Sem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1627632"/>
            <a:ext cx="1234440" cy="749808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" y="1673352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Fase 1 · Setup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2542032"/>
            <a:ext cx="1234440" cy="74980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" y="2587751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Fase 2 · Integração SF→Slack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3456432"/>
            <a:ext cx="1234440" cy="749808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502151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Fase 3 · Automações &amp; RAID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4370832"/>
            <a:ext cx="1234440" cy="749808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4416552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Fase 4 · Treinamento &amp; Handoff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81328" y="1719072"/>
            <a:ext cx="3154680" cy="566927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1810512"/>
            <a:ext cx="3008376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Workspace · canais · permissões · estrutura por agente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81328" y="2633472"/>
            <a:ext cx="5029200" cy="566927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2724912"/>
            <a:ext cx="4882896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Flows SF → Slack · thresholds DAF · alertas por canal · testes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27448" y="3547872"/>
            <a:ext cx="4572000" cy="566927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3639312"/>
            <a:ext cx="4425696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RAID Log (Listas Slack) · Status Report automático · validação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73568" y="4462272"/>
            <a:ext cx="3154680" cy="566927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4553712"/>
            <a:ext cx="3008376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Workshop 1 (técnico 4h) · Workshop 2 (gestores 4h) · Handoff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1170432"/>
            <a:ext cx="27432" cy="4023360"/>
          </a:xfrm>
          <a:prstGeom prst="rect">
            <a:avLst/>
          </a:prstGeom>
          <a:solidFill>
            <a:srgbClr val="E01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11155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1E5A"/>
                </a:solidFill>
              </a:rPr>
              <a:t>▼ Kick-off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230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16161"/>
                </a:solidFill>
              </a:rPr>
              <a:t>Duração total estimada: 8–10 dias de trabalho técnico  |  Workshops: 2 × 4h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Dataprev · Governança Agentes · Bolsão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Fases 1 e 2 — Setup e Integração Salesforce → Slack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95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Semana 1 · Arquiteto Técnico · 4–6 dias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0" y="201168"/>
            <a:ext cx="502920" cy="502920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2651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476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Salesforce Professional Services — LATAM  |  Uso Interno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3 de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15568"/>
            <a:ext cx="12188952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234440"/>
            <a:ext cx="557784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1234440"/>
            <a:ext cx="5577840" cy="384048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2618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FASE 1 — Setup do Workspace  |  2–3 dias  |  Arquiteto Técnico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737360"/>
            <a:ext cx="5440680" cy="713232"/>
          </a:xfrm>
          <a:prstGeom prst="rect">
            <a:avLst/>
          </a:prstGeom>
          <a:solidFill>
            <a:srgbClr val="F5EEF5"/>
          </a:solidFill>
          <a:ln w="6350">
            <a:solidFill>
              <a:srgbClr val="4A1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1737360"/>
            <a:ext cx="73152" cy="713232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7739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Criação/configuração do workspace Slack da Dataprev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0391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Greenfield ou aproveitamento de workspace existente — confirmar na Semana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542032"/>
            <a:ext cx="5440680" cy="713232"/>
          </a:xfrm>
          <a:prstGeom prst="rect">
            <a:avLst/>
          </a:prstGeom>
          <a:solidFill>
            <a:srgbClr val="F5EEF5"/>
          </a:solidFill>
          <a:ln w="6350">
            <a:solidFill>
              <a:srgbClr val="4A1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2542032"/>
            <a:ext cx="73152" cy="713232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5786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Estrutura de canais por agente, pilar e papel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8437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7 canais estruturais + 1 canal por agente em produção (mín. 5 canais de agente)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3346704"/>
            <a:ext cx="5440680" cy="713232"/>
          </a:xfrm>
          <a:prstGeom prst="rect">
            <a:avLst/>
          </a:prstGeom>
          <a:solidFill>
            <a:srgbClr val="F5EEF5"/>
          </a:solidFill>
          <a:ln w="6350">
            <a:solidFill>
              <a:srgbClr val="4A1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3346704"/>
            <a:ext cx="73152" cy="713232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3832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Configuração de permissões e perfis de acesso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6484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Quem vê o quê — ministérios não veem canais de outros ministérios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4151376"/>
            <a:ext cx="5440680" cy="713232"/>
          </a:xfrm>
          <a:prstGeom prst="rect">
            <a:avLst/>
          </a:prstGeom>
          <a:solidFill>
            <a:srgbClr val="F5EEF5"/>
          </a:solidFill>
          <a:ln w="6350">
            <a:solidFill>
              <a:srgbClr val="4A1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4151376"/>
            <a:ext cx="73152" cy="713232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1879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Canais privados para war room e comitê de governança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4531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#war-room-incidentes e #governanca-dataprev com acesso restrito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4956048"/>
            <a:ext cx="5440680" cy="713232"/>
          </a:xfrm>
          <a:prstGeom prst="rect">
            <a:avLst/>
          </a:prstGeom>
          <a:solidFill>
            <a:srgbClr val="F5EEF5"/>
          </a:solidFill>
          <a:ln w="6350">
            <a:solidFill>
              <a:srgbClr val="4A1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4956048"/>
            <a:ext cx="73152" cy="713232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9926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Nomenclatura padrão aprovada com o cliente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257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Definir no kick-off — renomeações posteriores quebram automações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234440"/>
            <a:ext cx="57607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1234440"/>
            <a:ext cx="5760720" cy="38404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12618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FASE 2 — Integração SF → Slack  |  2–3 dias  |  Arquiteto Técnico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1072" y="1737360"/>
            <a:ext cx="5623560" cy="713232"/>
          </a:xfrm>
          <a:prstGeom prst="rect">
            <a:avLst/>
          </a:prstGeom>
          <a:solidFill>
            <a:srgbClr val="EEF5FF"/>
          </a:solidFill>
          <a:ln w="63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91072" y="1737360"/>
            <a:ext cx="73152" cy="71323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177393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Instalar e configurar app Slack for Salesforce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20391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Via AppExchange — requer permissão de System Admin no org SF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2542032"/>
            <a:ext cx="5623560" cy="713232"/>
          </a:xfrm>
          <a:prstGeom prst="rect">
            <a:avLst/>
          </a:prstGeom>
          <a:solidFill>
            <a:srgbClr val="EEF5FF"/>
          </a:solidFill>
          <a:ln w="63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91072" y="2542032"/>
            <a:ext cx="73152" cy="71323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57860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Mapear KPIs e thresholds do DAF Health 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284378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Definir com Dataprev quais valores disparam alerta leve, crítico e war room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91072" y="3346704"/>
            <a:ext cx="5623560" cy="713232"/>
          </a:xfrm>
          <a:prstGeom prst="rect">
            <a:avLst/>
          </a:prstGeom>
          <a:solidFill>
            <a:srgbClr val="EEF5FF"/>
          </a:solidFill>
          <a:ln w="63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91072" y="3346704"/>
            <a:ext cx="73152" cy="71323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33832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Configurar Flows no Salesforce para disparar notificações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3648456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Record-triggered flows com action 'Send Slack Message' por canal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1072" y="4151376"/>
            <a:ext cx="5623560" cy="713232"/>
          </a:xfrm>
          <a:prstGeom prst="rect">
            <a:avLst/>
          </a:prstGeom>
          <a:solidFill>
            <a:srgbClr val="EEF5FF"/>
          </a:solidFill>
          <a:ln w="63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4151376"/>
            <a:ext cx="73152" cy="71323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418795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Validar alertas por canal (agente · executivo · war room)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445312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Teste com dados reais de 1 agente antes de expandir para todos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91072" y="4956048"/>
            <a:ext cx="5623560" cy="713232"/>
          </a:xfrm>
          <a:prstGeom prst="rect">
            <a:avLst/>
          </a:prstGeom>
          <a:solidFill>
            <a:srgbClr val="EEF5FF"/>
          </a:solidFill>
          <a:ln w="63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91072" y="4956048"/>
            <a:ext cx="73152" cy="71323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99262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Documentar thresholds acordados e lógica dos alertas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52578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Runbook de alertas — quem recebe, o que fazer, em quanto tempo responder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Dataprev · Governança Agentes · Bolsão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Fases 3 e 4 — Automações, Treinamento e Handoff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95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Semanas 2–3 · GP + Consultor CM + Arquiteto Técnico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0" y="201168"/>
            <a:ext cx="502920" cy="502920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2651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476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Salesforce Professional Services — LATAM  |  Uso Interno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4 de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15568"/>
            <a:ext cx="12188952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234440"/>
            <a:ext cx="557784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1234440"/>
            <a:ext cx="5577840" cy="384048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2618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FASE 3 — Automações e RAID Log  |  2 dias  |  GP + Arquiteto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737360"/>
            <a:ext cx="5440680" cy="713232"/>
          </a:xfrm>
          <a:prstGeom prst="rect">
            <a:avLst/>
          </a:prstGeom>
          <a:solidFill>
            <a:srgbClr val="EEF8F2"/>
          </a:solidFill>
          <a:ln w="6350">
            <a:solidFill>
              <a:srgbClr val="2E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1737360"/>
            <a:ext cx="73152" cy="713232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7739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Configurar Listas do Slack para RAID Log dinâmico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0391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Colunas: Tipo · Descrição · Responsável · Prazo · Status · Agente afetado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542032"/>
            <a:ext cx="5440680" cy="713232"/>
          </a:xfrm>
          <a:prstGeom prst="rect">
            <a:avLst/>
          </a:prstGeom>
          <a:solidFill>
            <a:srgbClr val="EEF8F2"/>
          </a:solidFill>
          <a:ln w="6350">
            <a:solidFill>
              <a:srgbClr val="2E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2542032"/>
            <a:ext cx="73152" cy="713232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5786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Definir fluxo de criação e atualização de itens do RAID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8437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Quem cria · quem atribui · quem fecha — SLA de atualização por tipo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3346704"/>
            <a:ext cx="5440680" cy="713232"/>
          </a:xfrm>
          <a:prstGeom prst="rect">
            <a:avLst/>
          </a:prstGeom>
          <a:solidFill>
            <a:srgbClr val="EEF8F2"/>
          </a:solidFill>
          <a:ln w="6350">
            <a:solidFill>
              <a:srgbClr val="2E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3346704"/>
            <a:ext cx="73152" cy="713232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3832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Configurar automação do Status Report semanal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6484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Template narrativo postado automaticamente toda segunda-feira no canal executivo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4151376"/>
            <a:ext cx="5440680" cy="713232"/>
          </a:xfrm>
          <a:prstGeom prst="rect">
            <a:avLst/>
          </a:prstGeom>
          <a:solidFill>
            <a:srgbClr val="EEF8F2"/>
          </a:solidFill>
          <a:ln w="6350">
            <a:solidFill>
              <a:srgbClr val="2E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4151376"/>
            <a:ext cx="73152" cy="713232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1879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Validar primeiro ciclo de Status Report com a Dataprev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4531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Aprovação do formato antes de automatizar — ajuste de tom e métricas exibidas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4956048"/>
            <a:ext cx="5440680" cy="713232"/>
          </a:xfrm>
          <a:prstGeom prst="rect">
            <a:avLst/>
          </a:prstGeom>
          <a:solidFill>
            <a:srgbClr val="EEF8F2"/>
          </a:solidFill>
          <a:ln w="6350">
            <a:solidFill>
              <a:srgbClr val="2E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4956048"/>
            <a:ext cx="73152" cy="713232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9926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Configurar Slackbot para resumo de threads longas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257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Canal #war-room-incidentes e #comite-governanca — resumo automático para novos membros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234440"/>
            <a:ext cx="57607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1234440"/>
            <a:ext cx="5760720" cy="384048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12618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D21"/>
                </a:solidFill>
              </a:rPr>
              <a:t>FASE 4 — Treinamento e Handoff  |  3 dias  |  Consultor CM + GP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1072" y="1737360"/>
            <a:ext cx="5623560" cy="713232"/>
          </a:xfrm>
          <a:prstGeom prst="rect">
            <a:avLst/>
          </a:prstGeom>
          <a:solidFill>
            <a:srgbClr val="FFFBEE"/>
          </a:solidFill>
          <a:ln w="6350">
            <a:solidFill>
              <a:srgbClr val="EC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91072" y="1737360"/>
            <a:ext cx="73152" cy="713232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177393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Workshop 1 — Equipe Técnica Dataprev (4h)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20391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Estrutura de canais · alertas · RAID Log · resposta a incidentes via Slack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2542032"/>
            <a:ext cx="5623560" cy="713232"/>
          </a:xfrm>
          <a:prstGeom prst="rect">
            <a:avLst/>
          </a:prstGeom>
          <a:solidFill>
            <a:srgbClr val="FFFBEE"/>
          </a:solidFill>
          <a:ln w="6350">
            <a:solidFill>
              <a:srgbClr val="EC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91072" y="2542032"/>
            <a:ext cx="73152" cy="713232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57860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Workshop 2 — Gestores e Stakeholders Ministérios (4h)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284378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Leitura de canais · protocolo de crise · uso do war room · Status Reports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91072" y="3346704"/>
            <a:ext cx="5623560" cy="713232"/>
          </a:xfrm>
          <a:prstGeom prst="rect">
            <a:avLst/>
          </a:prstGeom>
          <a:solidFill>
            <a:srgbClr val="FFFBEE"/>
          </a:solidFill>
          <a:ln w="6350">
            <a:solidFill>
              <a:srgbClr val="EC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91072" y="3346704"/>
            <a:ext cx="73152" cy="713232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33832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Entrega dos guias de uso rápido por papel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3648456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1 página por perfil: Gestor · Técnico · Representante de Ministério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1072" y="4151376"/>
            <a:ext cx="5623560" cy="713232"/>
          </a:xfrm>
          <a:prstGeom prst="rect">
            <a:avLst/>
          </a:prstGeom>
          <a:solidFill>
            <a:srgbClr val="FFFBEE"/>
          </a:solidFill>
          <a:ln w="6350">
            <a:solidFill>
              <a:srgbClr val="EC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4151376"/>
            <a:ext cx="73152" cy="713232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418795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Documentação da arquitetura do workspace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445312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Canais · permissões · integrações · thresholds — versionado no canal #aprendizado-agentes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91072" y="4956048"/>
            <a:ext cx="5623560" cy="713232"/>
          </a:xfrm>
          <a:prstGeom prst="rect">
            <a:avLst/>
          </a:prstGeom>
          <a:solidFill>
            <a:srgbClr val="FFFBEE"/>
          </a:solidFill>
          <a:ln w="6350">
            <a:solidFill>
              <a:srgbClr val="EC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91072" y="4956048"/>
            <a:ext cx="73152" cy="713232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99262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Handoff formal ProServ → CSM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52578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Contexto completo preservado nos canais Slack — não depende de memória pessoal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Dataprev · Governança Agentes · Bolsão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Premissas Críticas da Implantação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95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Itens que devem ser confirmados antes ou no kick-off — impacto direto no prazo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0" y="201168"/>
            <a:ext cx="502920" cy="502920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2651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476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Salesforce Professional Services — LATAM  |  Uso Interno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5 de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15568"/>
            <a:ext cx="12188952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1298448"/>
            <a:ext cx="5806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1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1298448"/>
            <a:ext cx="91440" cy="841248"/>
          </a:xfrm>
          <a:prstGeom prst="rect">
            <a:avLst/>
          </a:prstGeom>
          <a:solidFill>
            <a:srgbClr val="E01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01767" y="1362456"/>
            <a:ext cx="914400" cy="201168"/>
          </a:xfrm>
          <a:prstGeom prst="rect">
            <a:avLst/>
          </a:prstGeom>
          <a:solidFill>
            <a:srgbClr val="E01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7" y="1371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BLOQUEANTE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353312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Licença Slack adquirida antes do kick-off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645919"/>
            <a:ext cx="55504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Sem licença, nenhuma atividade do Pilar 6 pode começar. Plano mínimo: Slack Pro.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231136"/>
            <a:ext cx="5806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1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231136"/>
            <a:ext cx="91440" cy="841248"/>
          </a:xfrm>
          <a:prstGeom prst="rect">
            <a:avLst/>
          </a:prstGeom>
          <a:solidFill>
            <a:srgbClr val="E01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7" y="2295144"/>
            <a:ext cx="914400" cy="201168"/>
          </a:xfrm>
          <a:prstGeom prst="rect">
            <a:avLst/>
          </a:prstGeom>
          <a:solidFill>
            <a:srgbClr val="E01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1767" y="23042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BLOQUEANTE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286000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Licença inclui Listas, Workflows e integração via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578608"/>
            <a:ext cx="55504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Slack Free não suporta automações. Necessário Slack Pro ou superior.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163824"/>
            <a:ext cx="5806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1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1168" y="3163824"/>
            <a:ext cx="91440" cy="841248"/>
          </a:xfrm>
          <a:prstGeom prst="rect">
            <a:avLst/>
          </a:prstGeom>
          <a:solidFill>
            <a:srgbClr val="E01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01767" y="3227832"/>
            <a:ext cx="914400" cy="201168"/>
          </a:xfrm>
          <a:prstGeom prst="rect">
            <a:avLst/>
          </a:prstGeom>
          <a:solidFill>
            <a:srgbClr val="E01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01767" y="32369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BLOQUEANTE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218688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Administrador Slack designado na Dataprev com acesso de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11296"/>
            <a:ext cx="55504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Sem Owner, PS não consegue configurar canais privados e permissões.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" y="4096512"/>
            <a:ext cx="5806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C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1168" y="4096512"/>
            <a:ext cx="91440" cy="841248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01767" y="4160520"/>
            <a:ext cx="914400" cy="201168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1767" y="41696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D21"/>
                </a:solidFill>
              </a:rPr>
              <a:t>CRÍTICA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151376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App 'Slack for Salesforce' instalável no org SF (AppExchange)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443984"/>
            <a:ext cx="55504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Ambientes com restrição de AppExchange exigem aprovação prévia de TI — iniciar na Semana 0.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" y="5029200"/>
            <a:ext cx="5806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C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1168" y="5029200"/>
            <a:ext cx="91440" cy="841248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01767" y="5093208"/>
            <a:ext cx="914400" cy="201168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01767" y="51023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D21"/>
                </a:solidFill>
              </a:rPr>
              <a:t>CRÍTICA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084064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Thresholds do DAF Health Score definidos até o Dia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376672"/>
            <a:ext cx="55504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Sem thresholds acordados, os alertas automáticos não podem ser configurados.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1298448"/>
            <a:ext cx="5806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C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9632" y="1298448"/>
            <a:ext cx="91440" cy="841248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000232" y="1362456"/>
            <a:ext cx="914400" cy="201168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00232" y="1371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D21"/>
                </a:solidFill>
              </a:rPr>
              <a:t>CRÍTICA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4224" y="1353312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Sponsor executivo aprova Slack como canal oficial antes do kick-off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1645919"/>
            <a:ext cx="55504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Sem adesão dos ministérios, o Pilar 3 opera em modo degradado.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9632" y="2231136"/>
            <a:ext cx="5806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9632" y="2231136"/>
            <a:ext cx="91440" cy="841248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000232" y="2295144"/>
            <a:ext cx="914400" cy="201168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00232" y="23042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IMPORTANTE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4224" y="2286000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Mapeamento de usuários (perfis + ministérios) entregue na Semana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2578608"/>
            <a:ext cx="55504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Atraso impacta configuração de canais privados e permissões.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99632" y="3163824"/>
            <a:ext cx="5806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99632" y="3163824"/>
            <a:ext cx="91440" cy="841248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000232" y="3227832"/>
            <a:ext cx="914400" cy="201168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000232" y="32369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IMPORTANTE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64224" y="3218688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Nomenclatura de canais definida no kick-off e não alterada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64224" y="3511296"/>
            <a:ext cx="55504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Renomeações posteriores quebram automações e links nos runbooks.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99632" y="4096512"/>
            <a:ext cx="5806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99632" y="4096512"/>
            <a:ext cx="91440" cy="841248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000232" y="4160520"/>
            <a:ext cx="914400" cy="201168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00232" y="41696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IMPORTANTE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64224" y="4151376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Plano com retenção de mensagens ativada para auditoria TCU/CGU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64224" y="4443984"/>
            <a:ext cx="55504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Slack Business+ ou Enterprise Grid — retenção ilimitada para eDiscovery.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99632" y="5029200"/>
            <a:ext cx="5806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99632" y="5029200"/>
            <a:ext cx="91440" cy="841248"/>
          </a:xfrm>
          <a:prstGeom prst="rect">
            <a:avLst/>
          </a:prstGeom>
          <a:solidFill>
            <a:srgbClr val="36C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000232" y="5093208"/>
            <a:ext cx="914400" cy="201168"/>
          </a:xfrm>
          <a:prstGeom prst="rect">
            <a:avLst/>
          </a:prstGeom>
          <a:solidFill>
            <a:srgbClr val="36C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000232" y="51023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ASSUMIDA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64224" y="5084064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D21"/>
                </a:solidFill>
              </a:rPr>
              <a:t>Ambiente SF estável e APIs disponíveis durante a implantação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64224" y="5376672"/>
            <a:ext cx="55504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Restrições de firewall ou whitelist podem adicionar 3–5 dias ao esforço técnico.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Dataprev · Governança Agentes · Bolsão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Estrutura de Canais Sugerida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95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7 canais estruturais + 1 canal por agente · nomenclatura padrão a aprovar no kick-off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0" y="201168"/>
            <a:ext cx="502920" cy="502920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2651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476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Salesforce Professional Services — LATAM  |  Uso Interno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6 de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15568"/>
            <a:ext cx="12188952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1261872"/>
            <a:ext cx="34747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1261872"/>
            <a:ext cx="3474720" cy="347472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130759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#governanca-dataprev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261872"/>
            <a:ext cx="1188720" cy="347472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1664207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154B"/>
                </a:solidFill>
              </a:rPr>
              <a:t>Pilar 4 — Governança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1865376"/>
            <a:ext cx="3291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16161"/>
                </a:solidFill>
              </a:rPr>
              <a:t>Comitê periódico · atas · decisões · follow-ups · acesso restrito a liderança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58768" y="1261872"/>
            <a:ext cx="34747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1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58768" y="1261872"/>
            <a:ext cx="3474720" cy="347472"/>
          </a:xfrm>
          <a:prstGeom prst="rect">
            <a:avLst/>
          </a:prstGeom>
          <a:solidFill>
            <a:srgbClr val="E01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0207" y="130759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#war-room-incidentes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261872"/>
            <a:ext cx="1188720" cy="347472"/>
          </a:xfrm>
          <a:prstGeom prst="rect">
            <a:avLst/>
          </a:prstGeom>
          <a:solidFill>
            <a:srgbClr val="E01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0207" y="1664207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1E5A"/>
                </a:solidFill>
              </a:rPr>
              <a:t>Pilar 2 — Crise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7" y="1865376"/>
            <a:ext cx="3291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16161"/>
                </a:solidFill>
              </a:rPr>
              <a:t>Canal de acionamento imediato · protocolo pré-definido · todos os perfis técnicos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16368" y="1261872"/>
            <a:ext cx="34747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16368" y="1261872"/>
            <a:ext cx="3474720" cy="34747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7808" y="130759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#monitoramento-operacional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02367" y="1261872"/>
            <a:ext cx="1188720" cy="34747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07808" y="1664207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D2"/>
                </a:solidFill>
              </a:rPr>
              <a:t>Pilar 1 — Monitoramento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1865376"/>
            <a:ext cx="3291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16161"/>
                </a:solidFill>
              </a:rPr>
              <a:t>Dashboards diários · alertas automáticos DAF · uptime · fallbacks · override patterns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" y="2697480"/>
            <a:ext cx="34747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CB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1168" y="2697480"/>
            <a:ext cx="3474720" cy="347472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" y="27432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#raid-log-riscos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87168" y="2697480"/>
            <a:ext cx="1188720" cy="347472"/>
          </a:xfrm>
          <a:prstGeom prst="rect">
            <a:avLst/>
          </a:prstGeom>
          <a:solidFill>
            <a:srgbClr val="EC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" y="309981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CB22E"/>
                </a:solidFill>
              </a:rPr>
              <a:t>Pilar 2 — RAID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" y="3300984"/>
            <a:ext cx="3291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16161"/>
                </a:solidFill>
              </a:rPr>
              <a:t>Listas Slack · riscos e issues em tempo real · responsável + prazo por item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58768" y="2697480"/>
            <a:ext cx="34747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58768" y="2697480"/>
            <a:ext cx="3474720" cy="347472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50207" y="27432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#status-reports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2697480"/>
            <a:ext cx="1188720" cy="347472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50207" y="309981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B67D"/>
                </a:solidFill>
              </a:rPr>
              <a:t>Pilar 3 — Comunicação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7" y="3300984"/>
            <a:ext cx="3291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16161"/>
                </a:solidFill>
              </a:rPr>
              <a:t>Reports semanais automáticos · narrativa executiva · toda segunda-feira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16368" y="2697480"/>
            <a:ext cx="34747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26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16368" y="2697480"/>
            <a:ext cx="3474720" cy="347472"/>
          </a:xfrm>
          <a:prstGeom prst="rect">
            <a:avLst/>
          </a:prstGeom>
          <a:solidFill>
            <a:srgbClr val="626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07808" y="27432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#aprendizado-agentes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02367" y="2697480"/>
            <a:ext cx="1188720" cy="347472"/>
          </a:xfrm>
          <a:prstGeom prst="rect">
            <a:avLst/>
          </a:prstGeom>
          <a:solidFill>
            <a:srgbClr val="626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07808" y="309981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2646A"/>
                </a:solidFill>
              </a:rPr>
              <a:t>Pilar 5 — Transferência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07808" y="3300984"/>
            <a:ext cx="3291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16161"/>
                </a:solidFill>
              </a:rPr>
              <a:t>Runbooks · guias de dashboards · protocolos de crise · memória institucional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29968" y="4133087"/>
            <a:ext cx="34747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29968" y="4133087"/>
            <a:ext cx="3474720" cy="347472"/>
          </a:xfrm>
          <a:prstGeom prst="rect">
            <a:avLst/>
          </a:prstGeom>
          <a:solidFill>
            <a:srgbClr val="36C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21408" y="4178807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#agente-[nome] (1 por agente)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15968" y="4133087"/>
            <a:ext cx="1188720" cy="347472"/>
          </a:xfrm>
          <a:prstGeom prst="rect">
            <a:avLst/>
          </a:prstGeom>
          <a:solidFill>
            <a:srgbClr val="36C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21408" y="4535424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6C5F0"/>
                </a:solidFill>
              </a:rPr>
              <a:t>Pilares 1–2 — Por Agente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21408" y="4736592"/>
            <a:ext cx="3291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16161"/>
                </a:solidFill>
              </a:rPr>
              <a:t>Ex: #agente-bolsa-familia · #agente-inss-pericias · alertas e decisões por agente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1168" y="553212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Nota: canais de agente são criados conforme agentes entram em produção — não todos de uma vez.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