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0" r:id="rId21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320040" cy="6638544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SISDIP / DFT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4EEFF"/>
                </a:solidFill>
              </a:rPr>
              <a:t>Sistema de Dimensionamento da Força de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6FF"/>
                </a:solidFill>
              </a:rPr>
              <a:t>Proposta Técnica — Salesforce Professional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91840"/>
            <a:ext cx="50292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EEFF"/>
                </a:solidFill>
              </a:rPr>
              <a:t>Cliente: DATAPREV / MGI — Ministério da Gestão e Inovação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Julho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Confidencial — uso exclusivo DATAPREV / MGI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O que vamos abordar nesta proposta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252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188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Contexto e Desafio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4904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Situação atual do SISDIP e oportunidade de melhoria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029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252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1887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Solução Proposta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4904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Arquitetura Salesforce end-to-end para o DFT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4140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3774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Integrações e Ecossistema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6791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Conexão com 8 sistemas federais prioritários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377440"/>
            <a:ext cx="5029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4140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3774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Mapeamento de Requisitos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6791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20 requisitos × produto Salesforce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5029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6027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566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Arquitetura de Agentes 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8679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Agentforce — automação inteligente do DFT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566160"/>
            <a:ext cx="5029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6027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5661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Abordagem de Entrega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8679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Metodologia PS Salesforce — fases e governança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54880"/>
            <a:ext cx="5029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7914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7548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Por que Salesforce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0566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Diferenciais vs. abordagem alternativa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754880"/>
            <a:ext cx="5029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7914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7548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Próximos Passos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0566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</a:rPr>
              <a:t>Alinhamentos necessários para avançar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Contexto e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Situação atual do SISDIP e a oportunidade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  Situação Atual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Dados de força de trabalho fragmentados em 8+ plataformas federais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591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SISDIP opera de forma isolada, sem integração em tempo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2666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Processos manuais: análise de perfis, mapeamento de cargos, movimentação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9417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Alta latência decisória: consolidar informações leva horas ou dias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616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Risco de inconsistência e retrabalho entre sistemas (PGD, SEI, Recruta, PEI…)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29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Sem rastreabilidade integrada das decisões de dimensionamento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4300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✔  Oportunidade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691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Centralizar orquestração do DFT no SISDIP via Salesforce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5915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Integrar PGD, SEI, PEI, Recruta e outros em tempo real via MuleSoft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2666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Automatizar análise de perfil × entrega com Agentforce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9417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Oferecer painéis executivos unificados com Tableau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3616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Garantir LGPD, soberania de dados e rastreabilidade com Shield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292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•  Escalar para múltiplos órgãos sem replicação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Solução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SISDIP como nó central do ecossistema DFT — powered by 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11430000" cy="86868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Experiência &amp; Colaboração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EFF"/>
                </a:solidFill>
              </a:rPr>
              <a:t>Experience Cloud  ·  Interface analista/gestor  ·  Slack (notificações e aprovações)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11430000" cy="8686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488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Inteligência &amp; Automação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146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EFF"/>
                </a:solidFill>
              </a:rPr>
              <a:t>Agentforce (2 agentes)  ·  Einstein AI  ·  Flow Orchestration  ·  Einstein Trust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11430000" cy="868680"/>
          </a:xfrm>
          <a:prstGeom prst="rect">
            <a:avLst/>
          </a:prstGeom>
          <a:solidFill>
            <a:srgbClr val="006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Plataforma &amp;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747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EFF"/>
                </a:solidFill>
              </a:rPr>
              <a:t>Service Cloud  ·  Data Cloud (multi-órgão)  ·  Salesforce Shield  ·  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11430000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690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Integração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EFF"/>
                </a:solidFill>
              </a:rPr>
              <a:t>MuleSoft Anypoint Platform  ·  APIs somente-leitura SISDIP  ·  Conectores PGD / SEI / Recruta / PEI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11430000" cy="868680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292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Análise &amp; Relatórios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9496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EFF"/>
                </a:solidFill>
              </a:rPr>
              <a:t>Tableau  ·  Painéis gerenciais  ·  Relatórios exportáveis  ·  Rastreabilidade DFT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Integrações e Ecossistema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8 sistemas federais conectados via MuleSoft Anypoint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651760"/>
            <a:ext cx="2651760" cy="9144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6700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SISDIP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EEFF"/>
                </a:solidFill>
              </a:rPr>
              <a:t>Salesforce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00584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005840"/>
            <a:ext cx="256032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0149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1298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PGD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15727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Entregas e planos
de trabalho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017520"/>
            <a:ext cx="256032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026663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33101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SEI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358444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Portarias e processos
administrativos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93776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937760"/>
            <a:ext cx="256032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9469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5230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PEI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5504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Planejamento
estratégico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100584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1005840"/>
            <a:ext cx="256032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10149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3552" y="1298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Power 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3552" y="15727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Painéis analíticos
existentes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100584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1005840"/>
            <a:ext cx="256032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10149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12984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Carreiras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15727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Compatíveis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01752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0" y="3017520"/>
            <a:ext cx="256032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026663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31012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Perfil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358444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Profissiográfico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93776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12480" y="4937760"/>
            <a:ext cx="256032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49469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5230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Recruta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5504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Movimentação
de servidores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493776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0" y="4937760"/>
            <a:ext cx="256032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46120" y="494690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73552" y="52303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Observatório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73552" y="5504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de Pessoal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32D60"/>
                </a:solidFill>
              </a:rPr>
              <a:t>★  Carta de Serviços (Portal)
Front-end interativo — coleta estruturada de entregas dos gestores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Mapeamento de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20 requisitos mapeados para produtos 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594360" cy="34747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1556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097280"/>
            <a:ext cx="4389120" cy="34747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11556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Necessidade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0680" y="1097280"/>
            <a:ext cx="3383280" cy="34747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1155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Produto Salesforce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097280"/>
            <a:ext cx="2286000" cy="34747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1155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Observação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481328"/>
            <a:ext cx="11475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1499616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1499616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Acesso federado SISDIP sem replicação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49961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MuleSoft Anypoint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4996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Contratado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737360"/>
            <a:ext cx="114757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1755648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1755648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Catálogo de cargos por órgão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175564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Salesforce Platform / App 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75564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Licença padrão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993392"/>
            <a:ext cx="11475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01168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201168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Registro e gestão de resultados com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01168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Service Cloud – Agentforce 1 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01168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Contratado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249424"/>
            <a:ext cx="114757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267712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226771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Acionamento automático nova entrega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26771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Flow Orchestration (nativo)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22677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Incluso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505456"/>
            <a:ext cx="11475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2523744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523744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IA analisa entrega → sugere cargo + justif.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252374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Agentforce – Einstein 1 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252374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⚠ Verificar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761488"/>
            <a:ext cx="114757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2779776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2779776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Refinamento iterativo sugestão 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277977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Agentforce (mesmo agente)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277977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⚠ Verificar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017520"/>
            <a:ext cx="11475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3035808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3035808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Gestão de status do processo de análise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303580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Service Cloud – Cases / Flows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303580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Contratado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273552"/>
            <a:ext cx="114757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329184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329184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Interface revisão e aprovação do analista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0" y="329184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Experience Cloud / Lightning App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400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⚠ Verificar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3529584"/>
            <a:ext cx="11475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3547872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" y="354787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Resumo executivo por órgão sob demanda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0" y="354787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Agentforce (2º agente)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15400" y="354787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⚠ Verificar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785616"/>
            <a:ext cx="114757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3803904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560" y="3803904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Painel gerencial em tempo real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380390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Tableau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15400" y="380390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Contratado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041648"/>
            <a:ext cx="11475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4059935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" y="4059935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Relatórios exportáveis (Excel/PDF)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4059935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Tableau / Reports &amp; Dashboards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15400" y="4059935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Contratado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297680"/>
            <a:ext cx="114757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4315968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15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1560" y="4315968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Análise em até 60 segundos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0" y="431596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Agentforce + Flow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15400" y="431596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Incluso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553712"/>
            <a:ext cx="11475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457200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" y="4572000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Processamento simultâneo múltiplos órgãos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457200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Data Cloud + Flow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15400" y="457200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⚠ Verificar qtd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" y="4809744"/>
            <a:ext cx="114757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1480" y="4828032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17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" y="4828032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Rastreabilidade e versionamento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828032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Salesforce Shield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15400" y="482803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Contratado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065776"/>
            <a:ext cx="11475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" y="5084064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18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1560" y="5084064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Controle de acesso por perfis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86400" y="508406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Shield + Permission Sets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15400" y="50840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Contratado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5321808"/>
            <a:ext cx="1147572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1480" y="5340096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19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60" y="5340096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LGPD + soberania de dados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0" y="5340096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Einstein Trust Layer + Data Cloud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15400" y="534009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Incluso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577840"/>
            <a:ext cx="114757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1480" y="5596128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96FF"/>
                </a:solidFill>
              </a:rPr>
              <a:t>20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1560" y="5596128"/>
            <a:ext cx="4297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Acesso SISDIP somente leitura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0" y="5596128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23E48"/>
                </a:solidFill>
              </a:rPr>
              <a:t>MuleSoft (read-only API)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15400" y="559612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7D32"/>
                </a:solidFill>
              </a:rPr>
              <a:t>✅ Contratado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Arquitetura de Agentes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Agentforce — 2 agentes para automatizar o ciclo DFT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612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Agente 1 — Análise de Cargo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37360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78308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1783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Nova entrega registrada no SISDIP via Flow Orchestration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359152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404872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4048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Dados da entrega + Perfil profissiográfico + Catálogo de cargos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80944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026663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Processamento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026663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Einstein AI analisa entrega e correlaciona com cargos compatíveis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02736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648456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64845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Sugestão de cargo + justificativa fundamentada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224528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27024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Refinamento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2702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Analista revisa, ajusta e aprova via Experience Cloud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846320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89204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Rastreabilidade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892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Decisão versionada com Shield; auditável por órgão/servidor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468112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5513832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SLA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51383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Análise entregue em até 60 segundos (Agentforce + Flow)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14300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16128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Agente 2 — Resumo Executivo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1737360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178308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Trigger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1783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Solicitação do gestor (sob demanda) ou schedule automático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2359152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2404872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Escopo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4048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Consolidação por órgão: totais, perfis faltantes, gaps críticos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980944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3026663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Fonte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026663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Data Cloud agrega dados de múltiplos órgãos sem replicação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3602736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3648456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64845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Relatório executivo pronto para envio a dirigentes do MGI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4224528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82512" y="4270248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Canal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42702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Slack: notificação automática para gestores e tomadores de decisão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4846320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82512" y="4892040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Formato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48920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Exportável em PDF/Excel via Tableau Reports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5468112"/>
            <a:ext cx="1188720" cy="457200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2512" y="5513832"/>
            <a:ext cx="1115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Governança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551383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Einstein Trust Layer garante LGPD em todo processamento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Governança, Segurança e LGPD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Conformidade nativa — nenhum dado sensível sai do ambiente controlado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164592" cy="1600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2527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Einstein Trust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61848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Camada de governança nativa do Agentforce. Todo prompt e resposta de IA passa por filtros de privacidade, mascaramento de dados sensíveis e auditoria antes de qualquer ação.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4300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43000"/>
            <a:ext cx="164592" cy="1600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2527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FF"/>
                </a:solidFill>
              </a:rPr>
              <a:t>Salesforce Shield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61848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Criptografia de campo (Field Audit Trail), rastreabilidade de acesso e monitoramento de eventos. Atende LGPD Art. 46-49: medidas técnicas para proteção de dados pessoais.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926080"/>
            <a:ext cx="164592" cy="1600200"/>
          </a:xfrm>
          <a:prstGeom prst="rect">
            <a:avLst/>
          </a:prstGeom>
          <a:solidFill>
            <a:srgbClr val="006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035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D9A"/>
                </a:solidFill>
              </a:rPr>
              <a:t>Data Cloud — Zero Copy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40156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Dados do SISDIP e sistemas federais são consultados in-loco via MuleSoft, sem replicação nem armazenamento redundante. Soberania de dados preservada nos sistemas de origem.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2608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926080"/>
            <a:ext cx="164592" cy="1600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035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Controle de Acesso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40156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Permission Sets granulares por perfil (analista, gestor, dirigente, TI). Integração com identidade federal via SSO. Acesso mínimo necessário por papel e órgão.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709160"/>
            <a:ext cx="164592" cy="1600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818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Auditoria e Rastreabilidade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18464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Cada decisão de dimensionamento é versionada, com registro de quem fez, quando, com qual dado e qual resultado. Histórico completo para prestação de contas ao TCU/CGU.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0916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09160"/>
            <a:ext cx="164592" cy="1600200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818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23E48"/>
                </a:solidFill>
              </a:rPr>
              <a:t>Conformidade Contratual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518464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Salesforce mantém certificações ISO 27001, SOC 2 Type II e FedRAMP-equivalente. Contrato DTP já vigente garante SLA e responsabilidades de tratamento de 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Abordagem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Metodologia Salesforce PS — entrega iterativa e incremental em 5 fases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2148840" cy="5486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6128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161288"/>
            <a:ext cx="1417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Descoberta
e Alinhamento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19072"/>
            <a:ext cx="214884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828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Workshops de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Mapeamento de integrações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88950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Definição de MVP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41985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Kick-off com stakeholders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1143000"/>
            <a:ext cx="2148840" cy="548640"/>
          </a:xfrm>
          <a:prstGeom prst="rect">
            <a:avLst/>
          </a:prstGeom>
          <a:solidFill>
            <a:srgbClr val="006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79" y="116128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1161288"/>
            <a:ext cx="1417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Arquitetura
e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1719072"/>
            <a:ext cx="214884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1828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Design da solução SISDIP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Protótipo Agentforce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288950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Definição MuleSoft 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341985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Aprovação arquitetura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1143000"/>
            <a:ext cx="2148840" cy="54864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116128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1161288"/>
            <a:ext cx="1417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Construção
Core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1719072"/>
            <a:ext cx="214884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1828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Impl. Service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Agentes Agentforce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288950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Integrações MuleSoft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341985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Experience Cloud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1143000"/>
            <a:ext cx="214884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116128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1161288"/>
            <a:ext cx="1417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Dados &amp;
Inteligência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23760" y="1719072"/>
            <a:ext cx="214884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33488" y="1828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Data Cloud multi-órgão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Tableau dashboards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33488" y="288950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Refinamento 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341985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Shield &amp; LGPD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1143000"/>
            <a:ext cx="2148840" cy="548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1161288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F5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1161288"/>
            <a:ext cx="1417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Testes,
Go-Live &amp; UAT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09760" y="1719072"/>
            <a:ext cx="214884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19488" y="182880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QA / Testes integração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235915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UAT com DATAPREV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9488" y="288950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Treinamento usuários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19488" y="341985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• Handover &amp; suporte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12801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12801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12801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12801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F8C8D"/>
                </a:solidFill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F8C8D"/>
                </a:solidFill>
              </a:rPr>
              <a:t>★  Metodologia Salesforce PS Delivery Framework — com Quality Gates ao final de cada fase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Produtos e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Portfólio Salesforce utilizado na solução SISDIP / DFT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26060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Service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39903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EFF"/>
                </a:solidFill>
              </a:rPr>
              <a:t>Agentforce 1 Edition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Gestão de casos e processos do DFT. Base operacional do SISDIP. Workflows, aprovações e automações nativas.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14300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0" y="1143000"/>
            <a:ext cx="2606040" cy="457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18872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Agentforce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39903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EFF"/>
                </a:solidFill>
              </a:rPr>
              <a:t>Einstein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169164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Motor de inteligência. Agente de Análise de Cargo e Agente de Resumo Executivo. Einstein Trust Layer para LGPD.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4300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143000"/>
            <a:ext cx="2606040" cy="457200"/>
          </a:xfrm>
          <a:prstGeom prst="rect">
            <a:avLst/>
          </a:prstGeom>
          <a:solidFill>
            <a:srgbClr val="006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18872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MuleSoft Anypoint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39903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EFF"/>
                </a:solidFill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69164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Camada de integração. Conecta SISDIP a PGD, SEI, PEI, Recruta e outros sistemas legados. Acesso read-only sem replicação.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14300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1143000"/>
            <a:ext cx="260604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118872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169164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Consolidação de dados de múltiplos órgãos sem copiar. Habilita análises cross-órgão e segmentação por carreira/perfil.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118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11880"/>
            <a:ext cx="2606040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5760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Experience 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6052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Portal do analista e do gestor. Interface de revisão, aprovação e acompanhamento do processo de dimensionamento.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6118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0" y="3611880"/>
            <a:ext cx="2606040" cy="457200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365760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Tableau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16052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Painéis gerenciais e relatórios executivos. Indicadores de força de trabalho por órgão, carreira e perfil profissiográfico.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6118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3611880"/>
            <a:ext cx="26060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65760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Salesforce Shield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16052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Criptografia, auditoria de campo e monitoramento de eventos. Rastreabilidade para CGU/TCU. Conformidade LGPD nativa.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36118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69680" y="3611880"/>
            <a:ext cx="2606040" cy="457200"/>
          </a:xfrm>
          <a:prstGeom prst="rect">
            <a:avLst/>
          </a:prstGeom>
          <a:solidFill>
            <a:srgbClr val="006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0" y="365760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160520"/>
            <a:ext cx="2423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Canal de notificação e colaboração. Alertas de análise concluída, aprovações pendentes e resumos executivos para gestores.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Por que Salesforce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Plataforma unificada com infraestrutura já contratada pela DATAPREV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457200" cy="1600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9164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52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Plataforma já contratada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618488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Service Cloud, Tableau, MuleSoft e Shield estão no contrato DTP vigente. Menor risco, menor tempo de procurement e aceleração de entrega.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14300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457200" cy="1600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69164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252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Agentforce — IA governada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18488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Únicos a oferecer agentes de IA com controle determinístico, rastreabilidade nativa e Einstein Trust Layer para LGPD — sem expor dados em modelos públicos.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2608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457200" cy="1600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47472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0358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Zero Copy para dados federais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01568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Data Cloud acessa dados do SISDIP, PGD, SEI e outros sem replicar ou mover. Soberania de dados nos sistemas de origem — requisito crítico para o setor público.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92608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926080"/>
            <a:ext cx="457200" cy="1600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47472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03580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Ecossistema integrado nativo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401568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Uma única plataforma para CRM, integração (MuleSoft), IA (Agentforce), dados (Data Cloud), analytics (Tableau) e colaboração (Slack). Sem pontos de falha entre sistemas.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0916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709160"/>
            <a:ext cx="457200" cy="1600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25780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188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Entrega incremental com 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84648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Time Salesforce Professional Services entrega em fases com Quality Gates. Conhecimento do produto e do cliente em um único time — sem intermediários.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709160"/>
            <a:ext cx="5577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709160"/>
            <a:ext cx="457200" cy="1600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525780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8188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2D60"/>
                </a:solidFill>
              </a:rPr>
              <a:t>Escalabilidade multi-órgão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184648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Arquitetura desenhada desde o início para operar com múltiplos ministérios simultaneamente, com isolamento de dados por órgão e governança centralizada.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Premissas e Dependências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Itens necessários para garantir o sucesso da entrega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61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Premissas do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DATAPREV indica Product Owner dedicado (mín. 50% do tempo)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Ambientes Salesforce (sandbox + produção) disponíveis no início da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Confirmação de licenças: Agentforce Builder, Experience Cloud e Data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37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APIs dos sistemas legados (PGD, SEI, Recruta) documentadas e disponíveis em sandbox até F2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Aprovação de arquitetura técnica ao final da F2 antes de iniciar construção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34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Janelas de change freeze informadas com antecedência mínima de 4 semanas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8347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Time cliente disponível para UAT na F5 (mín. 3 semanas, 50% capacidade)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32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Acesso ao ambiente de testes dos sistemas legados para validação das integrações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4300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143000"/>
            <a:ext cx="539496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161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Dependências Externas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691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PGD — API de consulta de planos e entregas de trabalho (leitura)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240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SEI — Webservice de portarias e processos administrativos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889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PEI — Endpoint de metas e objetivos estratégicos por órgão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337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Recruta — API de movimentação e redistribuição de servidores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886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Perfil Profissiográfico — Base de competências e perfis técnicos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34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Carreiras Compatíveis — Tabela de equivalência de cargos (SIAPE-integrado)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98347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Observatório de Pessoal — Indicadores macro (leitura periódica/batch)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532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23E48"/>
                </a:solidFill>
              </a:rPr>
              <a:t>•  SSO corporativo DATAPREV — Federação de identidade para acesso ao portal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Alinhamentos necessários para avançar à proposta formal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02920" cy="914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344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21615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Confirmar licenças no contrato DTP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52704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AE Fernanda confirma disponibilidade de Agentforce Builder, Experience Cloud e Data Cloud no contrato vigente.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216152"/>
            <a:ext cx="1828800" cy="347472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2344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Fernanda Rodrigues (AE)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40" y="1216152"/>
            <a:ext cx="1783080" cy="34747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23444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Imediato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4884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148840"/>
            <a:ext cx="502920" cy="914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350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22199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Validar disponibilidade de APIs legadas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53288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DATAPREV confirma documentação e sandbox de PGD, SEI, PEI e Recruta.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221992"/>
            <a:ext cx="1828800" cy="347472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DATAPREV / TI MGI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2221992"/>
            <a:ext cx="1783080" cy="34747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2402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Semana 1–2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5468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154680"/>
            <a:ext cx="502920" cy="914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355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22783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Alinhar janelas de change freeze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5387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Identificar períodos de bloqueio nos próximos 4–6 meses para planejamento do cronograma.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3227832"/>
            <a:ext cx="1828800" cy="347472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32461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DATAPREV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3227832"/>
            <a:ext cx="1783080" cy="34747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2461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Semana 1–2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16052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4160520"/>
            <a:ext cx="502920" cy="914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361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23367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Definir Product Owner do cliente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45445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DATAPREV indica representante técnico dedicado para participar ativamente das fases de discovery e UAT.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233672"/>
            <a:ext cx="1828800" cy="347472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4251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DATAPREV / MGI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4233672"/>
            <a:ext cx="1783080" cy="34747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4251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Semana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16636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5166360"/>
            <a:ext cx="502920" cy="914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53675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23951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2D60"/>
                </a:solidFill>
              </a:rPr>
              <a:t>Workshop de Discovery — Kick-off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55040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Sessão presencial ou remota com stakeholders para detalhar requisitos, priorizar integrações e confirmar arquitetura.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01000" y="5239512"/>
            <a:ext cx="1828800" cy="347472"/>
          </a:xfrm>
          <a:prstGeom prst="rect">
            <a:avLst/>
          </a:prstGeom>
          <a:solidFill>
            <a:srgbClr val="D4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5257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32D60"/>
                </a:solidFill>
              </a:rPr>
              <a:t>Salesforce PS + DATAPREV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21240" y="5239512"/>
            <a:ext cx="1783080" cy="34747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66960" y="52578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Semana 2–3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10058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F8C8D"/>
                </a:solidFill>
              </a:rPr>
              <a:t>Responsável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21240" y="1005840"/>
            <a:ext cx="1783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F8C8D"/>
                </a:solidFill>
              </a:rPr>
              <a:t>Prazo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9728"/>
            <a:ext cx="320040" cy="6638544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D4EEFF"/>
                </a:solidFill>
              </a:rPr>
              <a:t>Transformando o DFT 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Inteligência e Integração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6FF"/>
                </a:solidFill>
              </a:rPr>
              <a:t>Salesforce Professional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3240"/>
            <a:ext cx="41148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Plataforma já contratada — menor risco e menor custo de implantação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216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Agentforce como diferencial: IA governada, auditável e compatível com LGPD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9709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Integração nativa com os 8 sistemas federais via MuleSoft já vigente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72583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Entrega incremental com Quality Gates — visibilidade total do progresso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FF"/>
                </a:solidFill>
              </a:rPr>
              <a:t>Próximo passo: Workshop de Discovery — DATAPREV + Salesforce 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F8C8D"/>
                </a:solidFill>
              </a:rPr>
              <a:t>salesforce.com  |  Salesforce Professional Services LATAM  |  Julho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Resumo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SISDIP / DFT — Dimensionamento da Força de Trabalho  ·  DATAPREV / MGI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DATAPREV  |  SISDIP / DFT  |  Proposta Técnica — Salesforce Professional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78992"/>
            <a:ext cx="7406640" cy="38404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CONTEXTO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81328"/>
            <a:ext cx="740664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36192"/>
            <a:ext cx="7132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23E48"/>
                </a:solidFill>
              </a:rPr>
              <a:t>A DATAPREV opera o SISDIP como nó central do ecossistema de Dimensionamento da Força de Trabalho (DFT) do governo federal. Hoje, dados críticos de servidores estão fragmentados em 8+ plataformas (PGD, SEI, PEI, Recruta, entre outros), tornando a análise de cargos, perfis e movimentações um processo lento, manual e suscetível a erros. O MGI precisa de decisões rápidas e embasadas sobre força de trabalho — e o SISDIP precisa evoluir para suportar essa demanda.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7406640" cy="38404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9864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SOLUÇÃO PROPOSTA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82696"/>
            <a:ext cx="74066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37560"/>
            <a:ext cx="91440" cy="38404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Integração unificada via MuleSoft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557015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Conecta SISDIP a PGD, SEI, PEI, Recruta e outros em tempo real, sem replicar dados.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886200"/>
            <a:ext cx="91440" cy="38404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8620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Agentforce — 2 agentes de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105656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Agente de Análise de Cargo (sugere cargo por entrega em ≤60s) e Agente de Resumo Executivo (consolida DFT por órgão sob demanda).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34840"/>
            <a:ext cx="91440" cy="38404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3484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Experiência do analista e do gestor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54296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Experience Cloud para revisão/aprovação de perfis. Tableau para painéis executivos. Slack para alertas e colaboração.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983479"/>
            <a:ext cx="91440" cy="38404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983479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Governança e LGPD nativos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202936"/>
            <a:ext cx="6949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Shield, Einstein Trust Layer e Zero Copy garantem rastreabilidade, soberania de dados e conformidade sem esforço adicional.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1078992"/>
            <a:ext cx="3886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1078992"/>
            <a:ext cx="164592" cy="12344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11704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FF"/>
                </a:solidFill>
              </a:rPr>
              <a:t>Plataforma já contratada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1490472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Service Cloud, MuleSoft, Tableau e Shield estão no contrato DTP vigente — sem novo procurement.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2450591"/>
            <a:ext cx="3886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79" y="2450591"/>
            <a:ext cx="164592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25420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Entrega incremental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2862072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5 fases com Quality Gates. Valor visível desde a Fase 1, com MVP funcional ao final da Fase 3.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822191"/>
            <a:ext cx="3886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55279" y="3822191"/>
            <a:ext cx="164592" cy="12344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3913631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00"/>
                </a:solidFill>
              </a:rPr>
              <a:t>IA governada e auditável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4233672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Agentforce com Einstein Trust Layer: nenhum dado sensível trafega fora do ambiente controlado.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5193792"/>
            <a:ext cx="3886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79" y="5193792"/>
            <a:ext cx="164592" cy="123444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1312" y="5285231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32D60"/>
                </a:solidFill>
              </a:rPr>
              <a:t>Escalável para todo o governo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5605272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23E48"/>
                </a:solidFill>
              </a:rPr>
              <a:t>Arquitetura multi-órgão: mesma plataforma expande para novos ministérios sem retrabalho.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715000"/>
            <a:ext cx="11457432" cy="53035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Próximo passo recomendado:  Workshop de Discovery com DATAPREV + MGI  para confirmar licenças, mapear APIs e definir cronograma de entrega.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