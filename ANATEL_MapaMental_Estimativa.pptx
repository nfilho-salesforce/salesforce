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0000"/>
            <a:ext cx="9144000" cy="64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792000"/>
            <a:ext cx="86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ANATEL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440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B0C4DE"/>
                </a:solidFill>
              </a:rPr>
              <a:t>Inovação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944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A3CC"/>
                </a:solidFill>
              </a:rPr>
              <a:t>ROM Ballpark  ·  Mapa Mental de Escopo  ·  Estimativa de Horas e Recursos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2592000"/>
            <a:ext cx="1260000" cy="180000"/>
          </a:xfrm>
          <a:prstGeom prst="rect">
            <a:avLst/>
          </a:prstGeom>
          <a:solidFill>
            <a:srgbClr val="051A35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2592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0D2"/>
                </a:solidFill>
              </a:rPr>
              <a:t>Agentforce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0" y="2592000"/>
            <a:ext cx="1260000" cy="180000"/>
          </a:xfrm>
          <a:prstGeom prst="rect">
            <a:avLst/>
          </a:prstGeom>
          <a:solidFill>
            <a:srgbClr val="051A35"/>
          </a:solidFill>
          <a:ln w="12700">
            <a:solidFill>
              <a:srgbClr val="5A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2592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A2D82"/>
                </a:solidFill>
              </a:rPr>
              <a:t>CLM / Contracts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0000" y="2592000"/>
            <a:ext cx="1260000" cy="180000"/>
          </a:xfrm>
          <a:prstGeom prst="rect">
            <a:avLst/>
          </a:prstGeom>
          <a:solidFill>
            <a:srgbClr val="051A35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0000" y="2592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7A00"/>
                </a:solidFill>
              </a:rPr>
              <a:t>Marketing 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2000" y="2592000"/>
            <a:ext cx="1260000" cy="180000"/>
          </a:xfrm>
          <a:prstGeom prst="rect">
            <a:avLst/>
          </a:prstGeom>
          <a:solidFill>
            <a:srgbClr val="051A35"/>
          </a:solidFill>
          <a:ln w="1270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2000" y="2592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A3BF"/>
                </a:solidFill>
              </a:rPr>
              <a:t>Tableau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8000" y="2592000"/>
            <a:ext cx="1260000" cy="180000"/>
          </a:xfrm>
          <a:prstGeom prst="rect">
            <a:avLst/>
          </a:prstGeom>
          <a:solidFill>
            <a:srgbClr val="051A35"/>
          </a:solidFill>
          <a:ln w="1270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8000" y="2592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44E"/>
                </a:solidFill>
              </a:rPr>
              <a:t>MuleSoft Atend.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0000" y="2592000"/>
            <a:ext cx="1260000" cy="180000"/>
          </a:xfrm>
          <a:prstGeom prst="rect">
            <a:avLst/>
          </a:prstGeom>
          <a:solidFill>
            <a:srgbClr val="051A35"/>
          </a:solidFill>
          <a:ln w="12700">
            <a:solidFill>
              <a:srgbClr val="C2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000" y="2592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23234"/>
                </a:solidFill>
              </a:rPr>
              <a:t>MuleSoft TFF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" y="4788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Nelson Stebulaitis Filho  |  Salesforce PS LATAM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6000"/>
            <a:ext cx="9144000" cy="3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36000"/>
            <a:ext cx="7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Mapa Mental — Linha de Raciocínio para Estimativa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06000"/>
            <a:ext cx="720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C4DE"/>
                </a:solidFill>
              </a:rPr>
              <a:t>Lógica de construção: Escopo → Premissas → Riscos → Perfis → 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44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C4DE"/>
                </a:solidFill>
              </a:rPr>
              <a:t>ANATEL  |  ROM Ballpark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0000" y="1980000"/>
            <a:ext cx="1584000" cy="540000"/>
          </a:xfrm>
          <a:prstGeom prst="rect">
            <a:avLst/>
          </a:prstGeom>
          <a:solidFill>
            <a:srgbClr val="032D60"/>
          </a:solidFill>
          <a:ln w="254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0000" y="1980000"/>
            <a:ext cx="158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ANATEL
ROM Ballpark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" y="648000"/>
            <a:ext cx="1728000" cy="432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1200" y="691200"/>
            <a:ext cx="165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D2"/>
                </a:solidFill>
              </a:rPr>
              <a:t>① Agentforce
3 Agentes + Orquestrador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" y="1260000"/>
            <a:ext cx="1728000" cy="432000"/>
          </a:xfrm>
          <a:prstGeom prst="rect">
            <a:avLst/>
          </a:prstGeom>
          <a:solidFill>
            <a:srgbClr val="F4F6F9"/>
          </a:solidFill>
          <a:ln w="19050">
            <a:solidFill>
              <a:srgbClr val="5A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200" y="1303200"/>
            <a:ext cx="165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A2D82"/>
                </a:solidFill>
              </a:rPr>
              <a:t>② CLM
Contratos OOTB 5 etapas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000" y="1872000"/>
            <a:ext cx="1728000" cy="432000"/>
          </a:xfrm>
          <a:prstGeom prst="rect">
            <a:avLst/>
          </a:prstGeom>
          <a:solidFill>
            <a:srgbClr val="F4F6F9"/>
          </a:solidFill>
          <a:ln w="1905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1200" y="1915200"/>
            <a:ext cx="165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A00"/>
                </a:solidFill>
              </a:rPr>
              <a:t>③ Marketing Cloud
3 Jornadas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" y="2484000"/>
            <a:ext cx="1728000" cy="432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200" y="2527200"/>
            <a:ext cx="165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A3BF"/>
                </a:solidFill>
              </a:rPr>
              <a:t>④ Tableau
5 Painéis / 10 KPIs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0000" y="648000"/>
            <a:ext cx="2988000" cy="4320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3200" y="691200"/>
            <a:ext cx="29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44E"/>
                </a:solidFill>
              </a:rPr>
              <a:t>⑤ MuleSoft Atendimento
7 endpoints / 15–20 APIs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0000" y="1260000"/>
            <a:ext cx="2988000" cy="432000"/>
          </a:xfrm>
          <a:prstGeom prst="rect">
            <a:avLst/>
          </a:prstGeom>
          <a:solidFill>
            <a:srgbClr val="F4F6F9"/>
          </a:solidFill>
          <a:ln w="19050">
            <a:solidFill>
              <a:srgbClr val="C2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3200" y="1303200"/>
            <a:ext cx="29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23234"/>
                </a:solidFill>
              </a:rPr>
              <a:t>⑥ MuleSoft TFF
4 fontes / batch / ~10M registros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0000" y="1872000"/>
            <a:ext cx="2988000" cy="432000"/>
          </a:xfrm>
          <a:prstGeom prst="rect">
            <a:avLst/>
          </a:prstGeom>
          <a:solidFill>
            <a:srgbClr val="F4F6F9"/>
          </a:solidFill>
          <a:ln w="19050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3200" y="1915200"/>
            <a:ext cx="29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A00"/>
                </a:solidFill>
              </a:rPr>
              <a:t>⑦ Premissas Críticas
GOV.BR · MOSAICO · sem SWAG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0000" y="2484000"/>
            <a:ext cx="2988000" cy="432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3200" y="2527200"/>
            <a:ext cx="29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</a:rPr>
              <a:t>⑧ Estimativa Consolidada
Perfis · Horas · Riscos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000" y="3276000"/>
            <a:ext cx="8928000" cy="102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3311999"/>
            <a:ext cx="86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</a:rPr>
              <a:t>Linha de Raciocínio para Construção da Estimativa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000" y="3491999"/>
            <a:ext cx="1404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6000" y="3528000"/>
            <a:ext cx="13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0D2"/>
                </a:solidFill>
              </a:rPr>
              <a:t>1. Síntese de Escopo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6000" y="37008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Consolidar os 6 módulos e seus entregáveis confirmados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55999" y="3491999"/>
            <a:ext cx="1404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999" y="3528000"/>
            <a:ext cx="13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0D2"/>
                </a:solidFill>
              </a:rPr>
              <a:t>2. Premissas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999" y="37008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Documentar o que precisa ser verdade para a estimativa ser válida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1999" y="3491999"/>
            <a:ext cx="1404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67999" y="3528000"/>
            <a:ext cx="13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0D2"/>
                </a:solidFill>
              </a:rPr>
              <a:t>3. Riscos e Incertezas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67999" y="37008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Identificar o que NÃO sabemos e como isso impacta horas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8000" y="3491999"/>
            <a:ext cx="1404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3999" y="3528000"/>
            <a:ext cx="13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0D2"/>
                </a:solidFill>
              </a:rPr>
              <a:t>4. Perfis e Atividades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3999" y="37008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Mapear quais skills são necessários em cada módulo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3999" y="3491999"/>
            <a:ext cx="1404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0000" y="3528000"/>
            <a:ext cx="13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0D2"/>
                </a:solidFill>
              </a:rPr>
              <a:t>5. Estimativa em Faixas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0000" y="37008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Definir min/mid/max por módulo dado o nível de risco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60000" y="3491999"/>
            <a:ext cx="1404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96000" y="3528000"/>
            <a:ext cx="13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0D2"/>
                </a:solidFill>
              </a:rPr>
              <a:t>6. Ballpark ROM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96000" y="37008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Consolidar em uma proposta premissada e comunicável ao cliente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6000"/>
            <a:ext cx="9144000" cy="3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36000"/>
            <a:ext cx="7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Agentforce — 3 Agentes Especializados + Orquestrador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06000"/>
            <a:ext cx="720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C4DE"/>
                </a:solidFill>
              </a:rPr>
              <a:t>Atendimento autônomo com autenticação GOV.BR e integração MOSAICO via MuleSoft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44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C4DE"/>
                </a:solidFill>
              </a:rPr>
              <a:t>ANATEL  |  ROM Ballpark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" y="666000"/>
            <a:ext cx="2106000" cy="2015999"/>
          </a:xfrm>
          <a:prstGeom prst="rect">
            <a:avLst/>
          </a:prstGeom>
          <a:solidFill>
            <a:srgbClr val="F4F6F9"/>
          </a:solidFill>
          <a:ln w="254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00" y="666000"/>
            <a:ext cx="2106000" cy="288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" y="673200"/>
            <a:ext cx="21060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Agente 1
FAQ Geral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99" y="990000"/>
            <a:ext cx="1998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Atendimento padrão.
Base de conhecimento
do legado.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0000" y="666000"/>
            <a:ext cx="2106000" cy="2015999"/>
          </a:xfrm>
          <a:prstGeom prst="rect">
            <a:avLst/>
          </a:prstGeom>
          <a:solidFill>
            <a:srgbClr val="F4F6F9"/>
          </a:solidFill>
          <a:ln w="2540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000" y="666000"/>
            <a:ext cx="2106000" cy="288000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000" y="673200"/>
            <a:ext cx="21060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Agente 2
Requisições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4000" y="990000"/>
            <a:ext cx="1998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Requisições padrão.
Consultas e status
no legado.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666000"/>
            <a:ext cx="2106000" cy="2015999"/>
          </a:xfrm>
          <a:prstGeom prst="rect">
            <a:avLst/>
          </a:prstGeom>
          <a:solidFill>
            <a:srgbClr val="F4F6F9"/>
          </a:solidFill>
          <a:ln w="25400">
            <a:solidFill>
              <a:srgbClr val="5A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666000"/>
            <a:ext cx="2106000" cy="2880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673200"/>
            <a:ext cx="21060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Agente 3
Outorga/MOSAICO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000" y="990000"/>
            <a:ext cx="1998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Especializado.
Registra pedido de
concessão e outorga
no MOSAICO.
Autentica GOV.BR.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03999" y="666000"/>
            <a:ext cx="2106000" cy="2015999"/>
          </a:xfrm>
          <a:prstGeom prst="rect">
            <a:avLst/>
          </a:prstGeom>
          <a:solidFill>
            <a:srgbClr val="F4F6F9"/>
          </a:solidFill>
          <a:ln w="25400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03999" y="666000"/>
            <a:ext cx="2106000" cy="288000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999" y="673200"/>
            <a:ext cx="21060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Agente 4
(Orquestrador)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990000"/>
            <a:ext cx="1998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CONDICIONAL:
apenas se canal
for único.
Roteamento entre
os 3 agentes.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000" y="2772000"/>
            <a:ext cx="8928000" cy="251999"/>
          </a:xfrm>
          <a:prstGeom prst="rect">
            <a:avLst/>
          </a:prstGeom>
          <a:solidFill>
            <a:srgbClr val="FFF0E0"/>
          </a:solidFill>
          <a:ln w="1905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0000" y="2790000"/>
            <a:ext cx="86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A00"/>
                </a:solidFill>
              </a:rPr>
              <a:t>MuleSoft  ·  4 plataformas legado integradas  ·  APIs/Métodos não documentados → RISCO ALTO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000" y="3078000"/>
            <a:ext cx="4320000" cy="1620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1200" y="3114000"/>
            <a:ext cx="42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0D2"/>
                </a:solidFill>
              </a:rPr>
              <a:t>Premissas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" y="32652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Catálogo de serviços e regras disponível (ausência eleva risco crítico)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200" y="34164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GOV.BR autenticação disponível (padrão Prodesp/Dataprev)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200" y="35676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Legados acessíveis via MuleSoft com APIs documentadas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200" y="37188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Reusable asset para 3 agentes base (reduz esforço de dev)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0000" y="3078000"/>
            <a:ext cx="4536000" cy="1620000"/>
          </a:xfrm>
          <a:prstGeom prst="rect">
            <a:avLst/>
          </a:prstGeom>
          <a:solidFill>
            <a:srgbClr val="FFEDED"/>
          </a:solidFill>
          <a:ln w="19050">
            <a:solidFill>
              <a:srgbClr val="C2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3200" y="3114000"/>
            <a:ext cx="44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23234"/>
                </a:solidFill>
              </a:rPr>
              <a:t>Riscos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3200" y="3265200"/>
            <a:ext cx="44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🔴 ALTO: Sem catálogo → toda regra de negócio no agente (erro arquitetural)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3200" y="3416400"/>
            <a:ext cx="44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🔴 ALTO: 4 plataformas sem visibilidade de APIs/métodos → estimativa frágil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3200" y="3567600"/>
            <a:ext cx="44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🟡 MED: Canal único não confirmado → Agente 4 pode ser necessário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3200" y="3718800"/>
            <a:ext cx="44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🟡 MED: Processo de outorga MOSAICO pouco documentado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000" y="4410000"/>
            <a:ext cx="8928000" cy="64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32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000" y="4428000"/>
            <a:ext cx="86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2D60"/>
                </a:solidFill>
              </a:rPr>
              <a:t>Perfis Necessários  ·  Agentforce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000" y="459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Agentforce Specialist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0000" y="473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0D2"/>
                </a:solidFill>
              </a:rPr>
              <a:t>400–600h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44000" y="459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MuleSoft Integration Dev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44000" y="473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0D2"/>
                </a:solidFill>
              </a:rPr>
              <a:t>200–350h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8000" y="459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Solution Architect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8000" y="473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0D2"/>
                </a:solidFill>
              </a:rPr>
              <a:t>120–180h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72000" y="459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QA Engineer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2000" y="473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0D2"/>
                </a:solidFill>
              </a:rPr>
              <a:t>80–120h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6000" y="459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Project Manager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6000" y="473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0D2"/>
                </a:solidFill>
              </a:rPr>
              <a:t>60–80h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6000"/>
            <a:ext cx="9144000" cy="3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36000"/>
            <a:ext cx="7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CLM — Gestão de Contratos OOTB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06000"/>
            <a:ext cx="720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C4DE"/>
                </a:solidFill>
              </a:rPr>
              <a:t>Fluxo em 5 etapas · Benchmark setor público · Integração MOSAICO + MuleSoft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44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C4DE"/>
                </a:solidFill>
              </a:rPr>
              <a:t>ANATEL  |  ROM Ballpark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666000"/>
            <a:ext cx="1584000" cy="792000"/>
          </a:xfrm>
          <a:prstGeom prst="rect">
            <a:avLst/>
          </a:prstGeom>
          <a:solidFill>
            <a:srgbClr val="F4F6F9"/>
          </a:solidFill>
          <a:ln w="254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4000" y="666000"/>
            <a:ext cx="1584000" cy="234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000" y="673200"/>
            <a:ext cx="158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Etapa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" y="928800"/>
            <a:ext cx="151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57D"/>
                </a:solidFill>
              </a:rPr>
              <a:t>Fase 1
Solicitação
e Triagem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8000" y="97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8DFE6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0800" y="666000"/>
            <a:ext cx="1584000" cy="792000"/>
          </a:xfrm>
          <a:prstGeom prst="rect">
            <a:avLst/>
          </a:prstGeom>
          <a:solidFill>
            <a:srgbClr val="F4F6F9"/>
          </a:solidFill>
          <a:ln w="2540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00800" y="666000"/>
            <a:ext cx="1584000" cy="234000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0800" y="673200"/>
            <a:ext cx="158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Etapa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6800" y="928800"/>
            <a:ext cx="151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57D"/>
                </a:solidFill>
              </a:rPr>
              <a:t>Fase 2
Análise
Jurídica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4800" y="97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8DFE6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666000"/>
            <a:ext cx="1584000" cy="792000"/>
          </a:xfrm>
          <a:prstGeom prst="rect">
            <a:avLst/>
          </a:prstGeom>
          <a:solidFill>
            <a:srgbClr val="F4F6F9"/>
          </a:solidFill>
          <a:ln w="25400">
            <a:solidFill>
              <a:srgbClr val="5A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666000"/>
            <a:ext cx="1584000" cy="2340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673200"/>
            <a:ext cx="158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Etapa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3600" y="928800"/>
            <a:ext cx="151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57D"/>
                </a:solidFill>
              </a:rPr>
              <a:t>Fase 3
Negociação
e Aprovação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1600" y="97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8DFE6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4400" y="666000"/>
            <a:ext cx="1584000" cy="792000"/>
          </a:xfrm>
          <a:prstGeom prst="rect">
            <a:avLst/>
          </a:prstGeom>
          <a:solidFill>
            <a:srgbClr val="F4F6F9"/>
          </a:solidFill>
          <a:ln w="254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14400" y="666000"/>
            <a:ext cx="1584000" cy="234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4400" y="673200"/>
            <a:ext cx="158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Etapa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0400" y="928800"/>
            <a:ext cx="151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57D"/>
                </a:solidFill>
              </a:rPr>
              <a:t>Fase 4
Execução
e Vigência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8399" y="97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8DFE6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1199" y="666000"/>
            <a:ext cx="1584000" cy="792000"/>
          </a:xfrm>
          <a:prstGeom prst="rect">
            <a:avLst/>
          </a:prstGeom>
          <a:solidFill>
            <a:srgbClr val="F4F6F9"/>
          </a:solidFill>
          <a:ln w="2540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71199" y="666000"/>
            <a:ext cx="1584000" cy="234000"/>
          </a:xfrm>
          <a:prstGeom prst="rect">
            <a:avLst/>
          </a:prstGeom>
          <a:solidFill>
            <a:srgbClr val="2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1199" y="673200"/>
            <a:ext cx="158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Etapa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7200" y="928800"/>
            <a:ext cx="151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57D"/>
                </a:solidFill>
              </a:rPr>
              <a:t>Fase 5
Renovação e
Encerramento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4000" y="1548000"/>
            <a:ext cx="4392000" cy="1980000"/>
          </a:xfrm>
          <a:prstGeom prst="rect">
            <a:avLst/>
          </a:prstGeom>
          <a:solidFill>
            <a:srgbClr val="F4F6F9"/>
          </a:solidFill>
          <a:ln w="19050">
            <a:solidFill>
              <a:srgbClr val="5A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200" y="1583999"/>
            <a:ext cx="43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A2D82"/>
                </a:solidFill>
              </a:rPr>
              <a:t>Capacidades Confirmadas — Premissas ROM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200" y="17352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5 templates dinâmicos com cláusulas variáveis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200" y="18864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Versionamento nativo Salesforce (sem redline/track changes)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200" y="20376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2 fluxos de aprovação multi-nível (gerente + jurídico + diretoria)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200" y="21888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Alertas automáticos D-90/D-60/D-30 para renovação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200" y="23400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Fluxo automático de renovação ou encerramento (Fase 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200" y="24912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Integração MOSAICO via MuleSoft (2 APIs)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200" y="26424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Retenção 7 anos via Salesforce Shield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00" y="27936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Relatórios básicos OOTB (status, vencimento, volume)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08000" y="1548000"/>
            <a:ext cx="4392000" cy="1980000"/>
          </a:xfrm>
          <a:prstGeom prst="rect">
            <a:avLst/>
          </a:prstGeom>
          <a:solidFill>
            <a:srgbClr val="FFEDED"/>
          </a:solidFill>
          <a:ln w="19050">
            <a:solidFill>
              <a:srgbClr val="C2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51200" y="1583999"/>
            <a:ext cx="43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23234"/>
                </a:solidFill>
              </a:rPr>
              <a:t>Limite de Alcance (FORA do escopo)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1200" y="17352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✖ Assinatura digital ICP-Brasil ou DocuSign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1200" y="18864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✖ Track changes / redline com contraparte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51200" y="20376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✖ Negociação de cláusulas com participação externa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51200" y="21888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✖ Mais de 2 fluxos ou 5 templates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51200" y="23400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✖ Integração com SEI, SIAFI ou outros além de MOSAICO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51200" y="2491200"/>
            <a:ext cx="43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🟡 Risco residual: tipos de contrato ainda não confirmados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4000" y="3581999"/>
            <a:ext cx="8928000" cy="64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32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6000" y="3600000"/>
            <a:ext cx="86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2D60"/>
                </a:solidFill>
              </a:rPr>
              <a:t>Perfis Necessários  ·  CLM  (revisado)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0000" y="3761999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CLM Consultant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000" y="390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2D82"/>
                </a:solidFill>
              </a:rPr>
              <a:t>320–440h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4000" y="3761999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MuleSoft Dev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44000" y="390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2D82"/>
                </a:solidFill>
              </a:rPr>
              <a:t>80–120h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08000" y="3761999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Solution Architect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08000" y="390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2D82"/>
                </a:solidFill>
              </a:rPr>
              <a:t>90–110h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2000" y="3761999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QA Engineer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72000" y="390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2D82"/>
                </a:solidFill>
              </a:rPr>
              <a:t>85–110h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6000" y="3761999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6000" y="390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2D82"/>
                </a:solidFill>
              </a:rPr>
              <a:t>55–70h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6000"/>
            <a:ext cx="9144000" cy="3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36000"/>
            <a:ext cx="7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Marketing Cloud — 3 Jornadas Automatizadas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06000"/>
            <a:ext cx="720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C4DE"/>
                </a:solidFill>
              </a:rPr>
              <a:t>Setup · Segmentação · Jornadas de Renovação, Adimplência e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44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C4DE"/>
                </a:solidFill>
              </a:rPr>
              <a:t>ANATEL  |  ROM Ballpark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666000"/>
            <a:ext cx="2808000" cy="2700000"/>
          </a:xfrm>
          <a:prstGeom prst="rect">
            <a:avLst/>
          </a:prstGeom>
          <a:solidFill>
            <a:srgbClr val="F4F6F9"/>
          </a:solidFill>
          <a:ln w="254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4000" y="666000"/>
            <a:ext cx="2808000" cy="270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000" y="673200"/>
            <a:ext cx="28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Jornada 1
Renovação de Outorga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" y="990000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Segmento: Contratos por prazo
de vencimento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" y="1249200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Trigger: D-90/D-60/D-30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" y="1508399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Canal: E-mail + 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000" y="1767599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Ação: Link de renovação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2000" y="666000"/>
            <a:ext cx="2808000" cy="2700000"/>
          </a:xfrm>
          <a:prstGeom prst="rect">
            <a:avLst/>
          </a:prstGeom>
          <a:solidFill>
            <a:srgbClr val="F4F6F9"/>
          </a:solidFill>
          <a:ln w="254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000" y="666000"/>
            <a:ext cx="2808000" cy="27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2000" y="673200"/>
            <a:ext cx="28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Jornada 2
Adimplência TFF/TFI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4000" y="990000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Segmento: TFF por vencimento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4000" y="1249200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Trigger: D-30/D-15/D-7/D+1/D+15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4000" y="1508399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Canal: E-mail + WhatsApp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4000" y="1767599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Ação: 2ª via de boleto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0000" y="666000"/>
            <a:ext cx="2808000" cy="2700000"/>
          </a:xfrm>
          <a:prstGeom prst="rect">
            <a:avLst/>
          </a:prstGeom>
          <a:solidFill>
            <a:srgbClr val="F4F6F9"/>
          </a:solidFill>
          <a:ln w="2540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0000" y="666000"/>
            <a:ext cx="2808000" cy="270000"/>
          </a:xfrm>
          <a:prstGeom prst="rect">
            <a:avLst/>
          </a:prstGeom>
          <a:solidFill>
            <a:srgbClr val="2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0" y="673200"/>
            <a:ext cx="280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Jornada 3
Onboarding Novo Licenciado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2000" y="990000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Segmento: Novos contratos
por emissão de outorga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2000" y="1249200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Trigger: Aprovação outorga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2000" y="1508399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Canal: E-mail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2000" y="1767599"/>
            <a:ext cx="26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57D"/>
                </a:solidFill>
              </a:rPr>
              <a:t>▸  Ação: Welcome + tutorial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" y="3438000"/>
            <a:ext cx="8928000" cy="251999"/>
          </a:xfrm>
          <a:prstGeom prst="rect">
            <a:avLst/>
          </a:prstGeom>
          <a:solidFill>
            <a:srgbClr val="E8F4FF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6000" y="3456000"/>
            <a:ext cx="86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0D2"/>
                </a:solidFill>
              </a:rPr>
              <a:t>Setup incluído:  Conexão de canais (E-mail + WhatsApp)  ·  Configuração da conta MC  ·  Data Extension básica  ·  Integração com Core SF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4000" y="3744000"/>
            <a:ext cx="8928000" cy="64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32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000" y="3761999"/>
            <a:ext cx="86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2D60"/>
                </a:solidFill>
              </a:rPr>
              <a:t>Perfis Necessários  ·  Marketing 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000" y="392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MC Consultant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00" y="406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A00"/>
                </a:solidFill>
              </a:rPr>
              <a:t>200–300h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4000" y="392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MC Developer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4000" y="406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A00"/>
                </a:solidFill>
              </a:rPr>
              <a:t>120–180h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8000" y="392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Solution Architect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8000" y="406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A00"/>
                </a:solidFill>
              </a:rPr>
              <a:t>60–80h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72000" y="392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QA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2000" y="406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A00"/>
                </a:solidFill>
              </a:rPr>
              <a:t>40–60h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6000" y="392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PM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6000" y="406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A00"/>
                </a:solidFill>
              </a:rPr>
              <a:t>30–50h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6000"/>
            <a:ext cx="9144000" cy="3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36000"/>
            <a:ext cx="7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Tableau — 5 Painéis de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06000"/>
            <a:ext cx="720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C4DE"/>
                </a:solidFill>
              </a:rPr>
              <a:t>Ambiente Greenfield Cloud · Dados do Core SF ou Data Cloud · Fórmulas conhecidas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44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C4DE"/>
                </a:solidFill>
              </a:rPr>
              <a:t>ANATEL  |  ROM Ballpark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" y="666000"/>
            <a:ext cx="1692000" cy="280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00" y="666000"/>
            <a:ext cx="1692000" cy="251999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" y="673200"/>
            <a:ext cx="1692000" cy="24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Painel 1
Licenciamento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" y="9540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2A3BF"/>
                </a:solidFill>
              </a:rPr>
              <a:t>até 10 métricas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99" y="11160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Status de outorgas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999" y="12852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Tempo de aprovação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999" y="14544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Volume por tipo de estação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999" y="16236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Pendências MMAR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2000" y="666000"/>
            <a:ext cx="1692000" cy="280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72000" y="666000"/>
            <a:ext cx="1692000" cy="251999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2000" y="673200"/>
            <a:ext cx="1692000" cy="24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Painel 2
Arrecadação TFF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8000" y="9540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2A3BF"/>
                </a:solidFill>
              </a:rPr>
              <a:t>até 10 métricas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6000" y="11160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Taxa de inadimplência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6000" y="12852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Arrecadação x meta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6000" y="14544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Volume por categoria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6000" y="16236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Aging de débitos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6000" y="666000"/>
            <a:ext cx="1692000" cy="280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36000" y="666000"/>
            <a:ext cx="1692000" cy="251999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6000" y="673200"/>
            <a:ext cx="1692000" cy="24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Painel 3
Atendimento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2000" y="9540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2A3BF"/>
                </a:solidFill>
              </a:rPr>
              <a:t>até 10 métricas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0000" y="11160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Volume de chamados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0000" y="12852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SLA de resolução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0000" y="14544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Satisfação do cidadão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0000" y="16236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Top motivos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0000" y="666000"/>
            <a:ext cx="1692000" cy="280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00000" y="666000"/>
            <a:ext cx="1692000" cy="251999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0000" y="673200"/>
            <a:ext cx="1692000" cy="24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Painel 4
Contratos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6000" y="9540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2A3BF"/>
                </a:solidFill>
              </a:rPr>
              <a:t>até 10 métricas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4000" y="11160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Contratos vencendo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4000" y="12852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Status por etapa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4000" y="14544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Tempo médio de ciclo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4000" y="16236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Renovações x novos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4000" y="666000"/>
            <a:ext cx="1692000" cy="280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64000" y="666000"/>
            <a:ext cx="1692000" cy="251999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64000" y="673200"/>
            <a:ext cx="1692000" cy="24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Painel 5
Regulação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0000" y="9540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2A3BF"/>
                </a:solidFill>
              </a:rPr>
              <a:t>até 10 métricas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18000" y="11160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Cobertura regulatória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18000" y="12852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Fiscalizações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8000" y="14544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Infrações por região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18000" y="1623600"/>
            <a:ext cx="158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▸  Conformidade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000" y="3546000"/>
            <a:ext cx="8928000" cy="234000"/>
          </a:xfrm>
          <a:prstGeom prst="rect">
            <a:avLst/>
          </a:prstGeom>
          <a:solidFill>
            <a:srgbClr val="E6F5EC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0000" y="3564000"/>
            <a:ext cx="8640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44E"/>
                </a:solidFill>
              </a:rPr>
              <a:t>Premissas: Greenfield cloud (sem on-premise) · Fórmulas listadas e conhecidas · P&amp;D apenas para refinamento · Dados disponíveis no Core SF / Data Cloud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000" y="3834000"/>
            <a:ext cx="8928000" cy="64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32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0000" y="3851999"/>
            <a:ext cx="86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2D60"/>
                </a:solidFill>
              </a:rPr>
              <a:t>Perfis Necessários  ·  Tableau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0000" y="401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Tableau Developer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000" y="415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A3BF"/>
                </a:solidFill>
              </a:rPr>
              <a:t>150–220h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4000" y="401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Data Analyst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44000" y="415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A3BF"/>
                </a:solidFill>
              </a:rPr>
              <a:t>100–150h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08000" y="401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Solution Architect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08000" y="415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A3BF"/>
                </a:solidFill>
              </a:rPr>
              <a:t>40–60h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2000" y="401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QA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72000" y="415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A3BF"/>
                </a:solidFill>
              </a:rPr>
              <a:t>30–50h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6000" y="401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6000" y="415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A3BF"/>
                </a:solidFill>
              </a:rPr>
              <a:t>25–40h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6000"/>
            <a:ext cx="9144000" cy="3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36000"/>
            <a:ext cx="7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⑤ MuleSoft Atendimento — Integração Agentforce + Legados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06000"/>
            <a:ext cx="720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C4DE"/>
                </a:solidFill>
              </a:rPr>
              <a:t>Setup Greenfield Cloud · 7 endpoints · 15–20 APIs estimadas · Sem SWAGGER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44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C4DE"/>
                </a:solidFill>
              </a:rPr>
              <a:t>ANATEL  |  ROM Ballpark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" y="666000"/>
            <a:ext cx="8928000" cy="540000"/>
          </a:xfrm>
          <a:prstGeom prst="rect">
            <a:avLst/>
          </a:prstGeom>
          <a:solidFill>
            <a:srgbClr val="F0FFF4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792000"/>
            <a:ext cx="86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E844E"/>
                </a:solidFill>
              </a:rPr>
              <a:t>Setup (Greenfield Cloud)  →  Autenticação (GOV.BR / SSO)  →  Conectores Legado  →  APIs Agentforce  →  Monitoramento Anypoint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1296000"/>
            <a:ext cx="1188000" cy="57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" y="1332000"/>
            <a:ext cx="11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44E"/>
                </a:solidFill>
              </a:rPr>
              <a:t>Agente 1
FAQ Geral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2000" y="1494000"/>
            <a:ext cx="1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DFE6"/>
                </a:solidFill>
              </a:rPr>
              <a:t>|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22000" y="1296000"/>
            <a:ext cx="1188000" cy="57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58000" y="1332000"/>
            <a:ext cx="11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44E"/>
                </a:solidFill>
              </a:rPr>
              <a:t>Agente 2
Requisições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0000" y="1494000"/>
            <a:ext cx="1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DFE6"/>
                </a:solidFill>
              </a:rPr>
              <a:t>|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0000" y="1296000"/>
            <a:ext cx="1188000" cy="57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36000" y="1332000"/>
            <a:ext cx="11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844E"/>
                </a:solidFill>
              </a:rPr>
              <a:t>Agente 3
Outorga
MOSAICO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8000" y="1494000"/>
            <a:ext cx="1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DFE6"/>
                </a:solidFill>
              </a:rPr>
              <a:t>|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8000" y="1296000"/>
            <a:ext cx="1188000" cy="57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546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14000" y="1332000"/>
            <a:ext cx="11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4657D"/>
                </a:solidFill>
              </a:rPr>
              <a:t>Legado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000" y="1494000"/>
            <a:ext cx="1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DFE6"/>
                </a:solidFill>
              </a:rPr>
              <a:t>|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6000" y="1296000"/>
            <a:ext cx="1188000" cy="57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546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92000" y="1332000"/>
            <a:ext cx="11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4657D"/>
                </a:solidFill>
              </a:rPr>
              <a:t>Legado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1494000"/>
            <a:ext cx="1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DFE6"/>
                </a:solidFill>
              </a:rPr>
              <a:t>|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4000" y="1296000"/>
            <a:ext cx="1188000" cy="57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546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0000" y="1332000"/>
            <a:ext cx="11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4657D"/>
                </a:solidFill>
              </a:rPr>
              <a:t>Legado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2000" y="1494000"/>
            <a:ext cx="1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DFE6"/>
                </a:solidFill>
              </a:rPr>
              <a:t>|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2000" y="1296000"/>
            <a:ext cx="1188000" cy="57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546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8000" y="1332000"/>
            <a:ext cx="11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4657D"/>
                </a:solidFill>
              </a:rPr>
              <a:t>Legado 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4000" y="1962000"/>
            <a:ext cx="4320000" cy="19800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200" y="1998000"/>
            <a:ext cx="42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44E"/>
                </a:solidFill>
              </a:rPr>
              <a:t>Capacidades MuleSoft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200" y="21492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Setup Greenfield Cloud (sem on-premise)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200" y="23004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Autenticação e segurança (OAuth2, GOV.BR)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200" y="24516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Transformação e normalização entre legados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200" y="26028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Error handling e retry automático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200" y="27540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Auditoria de chamadas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200" y="29052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Monitoramento via Anypoint Platform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36000" y="1962000"/>
            <a:ext cx="4500000" cy="1980000"/>
          </a:xfrm>
          <a:prstGeom prst="rect">
            <a:avLst/>
          </a:prstGeom>
          <a:solidFill>
            <a:srgbClr val="FFEDED"/>
          </a:solidFill>
          <a:ln w="19050">
            <a:solidFill>
              <a:srgbClr val="C2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9200" y="1998000"/>
            <a:ext cx="44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23234"/>
                </a:solidFill>
              </a:rPr>
              <a:t>Riscos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9200" y="21492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🔴 ALTO: 4 plataformas legado sem documentação de APIs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9200" y="23004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🔴 ALTO: Sem SWAGGER → estimativa de 15–20 contratos como premissa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9200" y="24516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🔴 ALTO: Volume real de APIs/métodos desconhecido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9200" y="26028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🟡 MED: SIT/UAT disponíveis para as integrações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9200" y="27540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🟡 MED: Contrato de assinatura conhecido e disponível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" y="3996000"/>
            <a:ext cx="8928000" cy="64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32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6000" y="4014000"/>
            <a:ext cx="86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2D60"/>
                </a:solidFill>
              </a:rPr>
              <a:t>Perfis Necessários  ·  MuleSoft Atendimento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000" y="417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MuleSoft Integration Architect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0000" y="432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44E"/>
                </a:solidFill>
              </a:rPr>
              <a:t>120–180h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44000" y="417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MuleSoft Developer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4000" y="432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44E"/>
                </a:solidFill>
              </a:rPr>
              <a:t>300–480h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08000" y="417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Solution Architect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8000" y="432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44E"/>
                </a:solidFill>
              </a:rPr>
              <a:t>80–100h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72000" y="417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QA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72000" y="432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44E"/>
                </a:solidFill>
              </a:rPr>
              <a:t>80–120h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6000" y="417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32D60"/>
                </a:solidFill>
              </a:rPr>
              <a:t>PM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36000" y="432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844E"/>
                </a:solidFill>
              </a:rPr>
              <a:t>40–60h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6000"/>
            <a:ext cx="9144000" cy="3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36000"/>
            <a:ext cx="7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⑥ MuleSoft TFF — Consolidação de Arrecadação (~10M Registros)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06000"/>
            <a:ext cx="720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C4DE"/>
                </a:solidFill>
              </a:rPr>
              <a:t>Processo Batch · 4 Fontes · 5 Etapas de Consolidação · Prazo regulatório 31/03/2027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44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C4DE"/>
                </a:solidFill>
              </a:rPr>
              <a:t>ANATEL  |  ROM Ballpark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" y="666000"/>
            <a:ext cx="1980000" cy="540000"/>
          </a:xfrm>
          <a:prstGeom prst="rect">
            <a:avLst/>
          </a:prstGeom>
          <a:solidFill>
            <a:srgbClr val="F4F6F9"/>
          </a:solidFill>
          <a:ln w="1905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00" y="720000"/>
            <a:ext cx="190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</a:rPr>
              <a:t>MOSAICO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" y="917999"/>
            <a:ext cx="19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Legacy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0000" y="666000"/>
            <a:ext cx="1980000" cy="540000"/>
          </a:xfrm>
          <a:prstGeom prst="rect">
            <a:avLst/>
          </a:prstGeom>
          <a:solidFill>
            <a:srgbClr val="F4F6F9"/>
          </a:solidFill>
          <a:ln w="1905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6000" y="720000"/>
            <a:ext cx="190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</a:rPr>
              <a:t>SITARWEB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6000" y="917999"/>
            <a:ext cx="19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Legacy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2000" y="666000"/>
            <a:ext cx="1980000" cy="540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8000" y="720000"/>
            <a:ext cx="190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D2"/>
                </a:solidFill>
              </a:rPr>
              <a:t>DB_TELECOM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8000" y="917999"/>
            <a:ext cx="19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SQL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666000"/>
            <a:ext cx="1980000" cy="5400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000" y="720000"/>
            <a:ext cx="190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44E"/>
                </a:solidFill>
              </a:rPr>
              <a:t>SMS/FISTEL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917999"/>
            <a:ext cx="19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827999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0D2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00" y="1296000"/>
            <a:ext cx="8928000" cy="1152000"/>
          </a:xfrm>
          <a:prstGeom prst="rect">
            <a:avLst/>
          </a:prstGeom>
          <a:solidFill>
            <a:srgbClr val="FFF7F0"/>
          </a:solidFill>
          <a:ln w="254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000" y="1296000"/>
            <a:ext cx="8928000" cy="19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000" y="1306800"/>
            <a:ext cx="86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MuleSoft Anypoint  ·  Orquestrador do Processo Batch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0000" y="1548000"/>
            <a:ext cx="1638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6000" y="1602000"/>
            <a:ext cx="156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A00"/>
                </a:solidFill>
              </a:rPr>
              <a:t>1. Normalização
de esquemas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8000" y="183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98000" y="1548000"/>
            <a:ext cx="1638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33999" y="1602000"/>
            <a:ext cx="156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A00"/>
                </a:solidFill>
              </a:rPr>
              <a:t>2. Transformação
de dados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6000" y="183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16000" y="1548000"/>
            <a:ext cx="1638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51999" y="1602000"/>
            <a:ext cx="156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A00"/>
                </a:solidFill>
              </a:rPr>
              <a:t>3. Deduplicação
e identidade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3999" y="183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33999" y="1548000"/>
            <a:ext cx="1638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999" y="1602000"/>
            <a:ext cx="156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A00"/>
                </a:solidFill>
              </a:rPr>
              <a:t>4. Roteamento
e validação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2000" y="183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000" y="1548000"/>
            <a:ext cx="1638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88000" y="1602000"/>
            <a:ext cx="156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A00"/>
                </a:solidFill>
              </a:rPr>
              <a:t>5. Entrega no
SQL Arrecadação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000" y="2538000"/>
            <a:ext cx="8928000" cy="216000"/>
          </a:xfrm>
          <a:prstGeom prst="rect">
            <a:avLst/>
          </a:prstGeom>
          <a:solidFill>
            <a:srgbClr val="E6F5EC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000" y="2556000"/>
            <a:ext cx="86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844E"/>
                </a:solidFill>
              </a:rPr>
              <a:t>Destino: SQL Server de Arrecadação  ·  Dados consolidados prontos para motor de cálculo externo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000" y="2826000"/>
            <a:ext cx="4320000" cy="17280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1200" y="2861999"/>
            <a:ext cx="42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44E"/>
                </a:solidFill>
              </a:rPr>
              <a:t>Premissas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1200" y="3013199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Nova instância MuleSoft Cloud (Greenfield)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1200" y="3164399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Motor de cálculo fiscal permanece externo (fora do escopo)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200" y="3315599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Bases TFF acessíveis antes do kick-off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200" y="3466799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Regras de cálculo documentadas antes do início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1200" y="3617999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Processo batch executado algumas vezes por mês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0000" y="2826000"/>
            <a:ext cx="4536000" cy="1728000"/>
          </a:xfrm>
          <a:prstGeom prst="rect">
            <a:avLst/>
          </a:prstGeom>
          <a:solidFill>
            <a:srgbClr val="FFEDED"/>
          </a:solidFill>
          <a:ln w="19050">
            <a:solidFill>
              <a:srgbClr val="C2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43200" y="2861999"/>
            <a:ext cx="44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23234"/>
                </a:solidFill>
              </a:rPr>
              <a:t>Riscos &amp; Alertas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43200" y="3013199"/>
            <a:ext cx="44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🔴 CRÍTICO: Prazo regulatório 31/03/2027 não negociável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43200" y="3164399"/>
            <a:ext cx="44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🔴 ALTO: ~10M registros com identidade fragmentada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43200" y="3315599"/>
            <a:ext cx="44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🟡 MED: Variabilidade nas regras TFF não mapeada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43200" y="3466799"/>
            <a:ext cx="44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🟡 MED: SIAFI, contestação e histórico fora do escopo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43200" y="3617999"/>
            <a:ext cx="4464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⚡ MOSAICO adicionado como 4ª fonte (diferente do slide TFF anterior)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8000" y="4615200"/>
            <a:ext cx="8928000" cy="48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32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0000" y="4633200"/>
            <a:ext cx="86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32D60"/>
                </a:solidFill>
              </a:rPr>
              <a:t>Perfis  ·  MuleSoft TFF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0000" y="47808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32D60"/>
                </a:solidFill>
              </a:rPr>
              <a:t>MuleSoft Integration Architect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0000" y="49068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23234"/>
                </a:solidFill>
              </a:rPr>
              <a:t>120–160h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44000" y="47808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32D60"/>
                </a:solidFill>
              </a:rPr>
              <a:t>MuleSoft Developer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44000" y="49068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23234"/>
                </a:solidFill>
              </a:rPr>
              <a:t>280–400h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08000" y="47808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32D60"/>
                </a:solidFill>
              </a:rPr>
              <a:t>Data Engineer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08000" y="49068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23234"/>
                </a:solidFill>
              </a:rPr>
              <a:t>120–180h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72000" y="47808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32D60"/>
                </a:solidFill>
              </a:rPr>
              <a:t>QA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72000" y="49068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23234"/>
                </a:solidFill>
              </a:rPr>
              <a:t>80–100h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36000" y="47808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32D60"/>
                </a:solidFill>
              </a:rPr>
              <a:t>PM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36000" y="49068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23234"/>
                </a:solidFill>
              </a:rPr>
              <a:t>40–60h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6000"/>
            <a:ext cx="9144000" cy="3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36000"/>
            <a:ext cx="7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Estimativa Consolidada — Horas e Perfis por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06000"/>
            <a:ext cx="720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C4DE"/>
                </a:solidFill>
              </a:rPr>
              <a:t>ROM Ballpark · Faixas Min–Mid–Max · Premissado e revalidar com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44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C4DE"/>
                </a:solidFill>
              </a:rPr>
              <a:t>ANATEL  |  ROM Ballpark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" y="594000"/>
            <a:ext cx="1980000" cy="19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999" y="601200"/>
            <a:ext cx="19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Módulo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8000" y="594000"/>
            <a:ext cx="756000" cy="19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6000" y="6012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Mín (h)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4000" y="594000"/>
            <a:ext cx="756000" cy="19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00" y="6012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Mid (h)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0" y="594000"/>
            <a:ext cx="756000" cy="19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8000" y="6012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Máx (h)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6000" y="594000"/>
            <a:ext cx="1440000" cy="19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4000" y="601200"/>
            <a:ext cx="14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Risco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96000" y="594000"/>
            <a:ext cx="3096000" cy="19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4000" y="601200"/>
            <a:ext cx="30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Perfis Chave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" y="792000"/>
            <a:ext cx="1980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6800" y="806400"/>
            <a:ext cx="193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1C28"/>
                </a:solidFill>
              </a:rPr>
              <a:t>① Agentforce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8000" y="7920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16800" y="8064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860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44000" y="7920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2800" y="8064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1.080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0" y="7920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8800" y="8064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1.330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56000" y="792000"/>
            <a:ext cx="1440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4800" y="806400"/>
            <a:ext cx="139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23234"/>
                </a:solidFill>
              </a:rPr>
              <a:t>🔴 ALTO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96000" y="792000"/>
            <a:ext cx="309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24800" y="806400"/>
            <a:ext cx="305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61C28"/>
                </a:solidFill>
              </a:rPr>
              <a:t>Agentforce Spec · MuleSoft Dev · 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000" y="1072800"/>
            <a:ext cx="19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6800" y="1087200"/>
            <a:ext cx="193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1C28"/>
                </a:solidFill>
              </a:rPr>
              <a:t>② CLM Contratos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88000" y="1072800"/>
            <a:ext cx="7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6800" y="10872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650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44000" y="1072800"/>
            <a:ext cx="7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72800" y="10872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780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00000" y="1072800"/>
            <a:ext cx="7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8800" y="10872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910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56000" y="1072800"/>
            <a:ext cx="144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4800" y="1087200"/>
            <a:ext cx="139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7A00"/>
                </a:solidFill>
              </a:rPr>
              <a:t>🟡 MED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96000" y="1072800"/>
            <a:ext cx="309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24800" y="1087200"/>
            <a:ext cx="305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61C28"/>
                </a:solidFill>
              </a:rPr>
              <a:t>CLM Consultant · MuleSoft Dev · SA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000" y="1353600"/>
            <a:ext cx="1980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6800" y="1368000"/>
            <a:ext cx="193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1C28"/>
                </a:solidFill>
              </a:rPr>
              <a:t>③ Marketing Cloud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88000" y="13536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16800" y="13680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450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44000" y="13536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72800" y="13680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570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0" y="13536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28800" y="13680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670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56000" y="1353600"/>
            <a:ext cx="1440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4800" y="1368000"/>
            <a:ext cx="139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7A00"/>
                </a:solidFill>
              </a:rPr>
              <a:t>🟡 MED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96000" y="1353600"/>
            <a:ext cx="309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24800" y="1368000"/>
            <a:ext cx="305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61C28"/>
                </a:solidFill>
              </a:rPr>
              <a:t>MC Consultant · MC Developer · 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8000" y="1634400"/>
            <a:ext cx="19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6800" y="1648800"/>
            <a:ext cx="193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1C28"/>
                </a:solidFill>
              </a:rPr>
              <a:t>④ Tableau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88000" y="1634400"/>
            <a:ext cx="7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16800" y="16488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345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44000" y="1634400"/>
            <a:ext cx="7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72800" y="16488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460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00000" y="1634400"/>
            <a:ext cx="7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28800" y="16488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520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6000" y="1634400"/>
            <a:ext cx="144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4800" y="1648800"/>
            <a:ext cx="139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844E"/>
                </a:solidFill>
              </a:rPr>
              <a:t>🟢 BAIXO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96000" y="1634400"/>
            <a:ext cx="309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24800" y="1648800"/>
            <a:ext cx="305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61C28"/>
                </a:solidFill>
              </a:rPr>
              <a:t>Tableau Dev · Data Analyst · SA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8000" y="1915200"/>
            <a:ext cx="1980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6800" y="1929600"/>
            <a:ext cx="193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1C28"/>
                </a:solidFill>
              </a:rPr>
              <a:t>⑤ MuleSoft Atend.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88000" y="19152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16800" y="19296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620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44000" y="19152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72800" y="19296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830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00000" y="19152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28800" y="19296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1.040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56000" y="1915200"/>
            <a:ext cx="1440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84800" y="1929600"/>
            <a:ext cx="139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23234"/>
                </a:solidFill>
              </a:rPr>
              <a:t>🔴 ALTO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96000" y="1915200"/>
            <a:ext cx="309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824800" y="1929600"/>
            <a:ext cx="305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61C28"/>
                </a:solidFill>
              </a:rPr>
              <a:t>Mule Arch · Mule Dev · QA · SA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8000" y="2196000"/>
            <a:ext cx="19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6800" y="2210400"/>
            <a:ext cx="193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1C28"/>
                </a:solidFill>
              </a:rPr>
              <a:t>⑥ MuleSoft TFF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88000" y="2196000"/>
            <a:ext cx="7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116800" y="22104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640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844000" y="2196000"/>
            <a:ext cx="7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72800" y="22104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800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00000" y="2196000"/>
            <a:ext cx="75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28800" y="22104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900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56000" y="2196000"/>
            <a:ext cx="144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384800" y="2210400"/>
            <a:ext cx="139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23234"/>
                </a:solidFill>
              </a:rPr>
              <a:t>🔴 CRÍTICO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96000" y="2196000"/>
            <a:ext cx="309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24800" y="2210400"/>
            <a:ext cx="305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61C28"/>
                </a:solidFill>
              </a:rPr>
              <a:t>Mule Arch · Data Eng · Mule Dev · 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8000" y="2476800"/>
            <a:ext cx="1980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6800" y="2491200"/>
            <a:ext cx="193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1C28"/>
                </a:solidFill>
              </a:rPr>
              <a:t>PM &amp; Arquitetura
(transversal)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88000" y="24768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16800" y="24912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240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844000" y="24768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72800" y="24912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300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00000" y="2476800"/>
            <a:ext cx="75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28800" y="2491200"/>
            <a:ext cx="71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1C28"/>
                </a:solidFill>
              </a:rPr>
              <a:t>360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56000" y="2476800"/>
            <a:ext cx="1440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384800" y="2491200"/>
            <a:ext cx="1396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57D"/>
                </a:solidFill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796000" y="2476800"/>
            <a:ext cx="3096000" cy="2808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824800" y="2491200"/>
            <a:ext cx="30528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61C28"/>
                </a:solidFill>
              </a:rPr>
              <a:t>PM · Solution Architect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8000" y="2757600"/>
            <a:ext cx="1980000" cy="259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5999" y="2772000"/>
            <a:ext cx="1944000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88000" y="2757600"/>
            <a:ext cx="756000" cy="259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106000" y="2772000"/>
            <a:ext cx="720000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3.805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844000" y="2757600"/>
            <a:ext cx="756000" cy="259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862000" y="2772000"/>
            <a:ext cx="720000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4.820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00000" y="2757600"/>
            <a:ext cx="756000" cy="259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618000" y="2772000"/>
            <a:ext cx="720000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5.730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356000" y="2757600"/>
            <a:ext cx="1440000" cy="259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374000" y="2772000"/>
            <a:ext cx="1404000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96000" y="2757600"/>
            <a:ext cx="3096000" cy="259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14000" y="2772000"/>
            <a:ext cx="3060000" cy="2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8000" y="3045600"/>
            <a:ext cx="8928000" cy="413999"/>
          </a:xfrm>
          <a:prstGeom prst="rect">
            <a:avLst/>
          </a:prstGeom>
          <a:solidFill>
            <a:srgbClr val="FFF3CD"/>
          </a:solidFill>
          <a:ln w="19050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80000" y="3074400"/>
            <a:ext cx="86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7A00"/>
                </a:solidFill>
              </a:rPr>
              <a:t>⚠  Estimativa em nível ROM Ballpark — faixas amplas refletem riscos de discovery. Recomendado revalidar com Delivery antes da entrega ao cliente.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000" y="3254400"/>
            <a:ext cx="86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4F00"/>
                </a:solidFill>
              </a:rPr>
              <a:t>Premissa: reusable assets para Agentforce reduzem risco. Módulos MuleSoft com maior incerteza por falta de documentação de APIs.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6000"/>
            <a:ext cx="9144000" cy="3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36000"/>
            <a:ext cx="7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Premissas Críticas &amp;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06000"/>
            <a:ext cx="720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C4DE"/>
                </a:solidFill>
              </a:rPr>
              <a:t>Condições para validade do ROM · Ações para refinar a proposta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44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C4DE"/>
                </a:solidFill>
              </a:rPr>
              <a:t>ANATEL  |  ROM Ballpark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666000"/>
            <a:ext cx="4320000" cy="2808000"/>
          </a:xfrm>
          <a:prstGeom prst="rect">
            <a:avLst/>
          </a:prstGeom>
          <a:solidFill>
            <a:srgbClr val="E6F5EC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200" y="702000"/>
            <a:ext cx="42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44E"/>
                </a:solidFill>
              </a:rPr>
              <a:t>Premissas que tornam o ROM válido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200" y="8532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Reusable assets disponíveis para os 3 agentes Agentforce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200" y="10044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GOV.BR autenticação padrão Prodesp/Dataprev replicável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200" y="11556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MuleSoft Cloud Greenfield (sem on-premise) — ambos módulos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200" y="13068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APIs legado disponíveis em SIT/UAT com contratos conhecidos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200" y="14580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Motor de cálculo TFF permanece externo (não estimado)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200" y="16092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Fórmulas Tableau conhecidas — P&amp;D apenas para refinamento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200" y="17604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CLM Greenfield · 5 templates dinâmicos · 2 fluxos aprovação multi-nível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200" y="1911599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CLM sem redline/track changes · versionamento nativo apenas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200" y="2062799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Assinatura digital ICP-Brasil fora do escopo CLM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200" y="22140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Retenção 7 anos via Shield (CLM Fase 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200" y="2365200"/>
            <a:ext cx="42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PO ANATEL dedicado com poder de decisão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6000" y="666000"/>
            <a:ext cx="4500000" cy="2808000"/>
          </a:xfrm>
          <a:prstGeom prst="rect">
            <a:avLst/>
          </a:prstGeom>
          <a:solidFill>
            <a:srgbClr val="FFEDED"/>
          </a:solidFill>
          <a:ln w="19050">
            <a:solidFill>
              <a:srgbClr val="C2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9200" y="702000"/>
            <a:ext cx="44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23234"/>
                </a:solidFill>
              </a:rPr>
              <a:t>O que aumentaria o escopo (não precificado)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9200" y="8532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Catálogo de serviços ausente → regras no agente (risco arquitetural)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9200" y="10044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Mais de 20 contratos MuleSoft descobertos no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9200" y="11556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Integração Marinha do Brasil / DECEA / ANAC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9200" y="13068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Assinatura digital ICP-Brasil ou DocuSign no CLM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9200" y="14580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Transbordo humano (Service Console) no Agentforce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9200" y="16092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Histórico de cálculos TFF anteriores a migrar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9200" y="1760400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Data Cloud para resolução de identidade TFF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9200" y="1911599"/>
            <a:ext cx="442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▸  Canal único confirmado → Agente Orquestrador (4º agente)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4000" y="3546000"/>
            <a:ext cx="8928000" cy="180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000" y="3556800"/>
            <a:ext cx="8640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" y="3780000"/>
            <a:ext cx="1710000" cy="917999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4000" y="3780000"/>
            <a:ext cx="1710000" cy="180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000" y="3787200"/>
            <a:ext cx="1710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Imediato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200" y="4003199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Validar ROM com Rogerio, Rodolpho e delivery antes de enviar à DTP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36800" y="3780000"/>
            <a:ext cx="1710000" cy="917999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36800" y="3780000"/>
            <a:ext cx="1710000" cy="180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36800" y="3787200"/>
            <a:ext cx="1710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Curto prazo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80000" y="4003199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Alinhar precisão necessária com Mari/Fernanda para proposta comercial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29600" y="3780000"/>
            <a:ext cx="1710000" cy="917999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29600" y="3780000"/>
            <a:ext cx="1710000" cy="180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9600" y="3787200"/>
            <a:ext cx="1710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72800" y="4003199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Solicitar SWAGGER e documentação de APIs dos 4 legados MuleSoft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400" y="3780000"/>
            <a:ext cx="1710000" cy="917999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400" y="3780000"/>
            <a:ext cx="1710000" cy="180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22400" y="3787200"/>
            <a:ext cx="1710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Catálogo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65600" y="4003199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Confirmar existência de catálogo de serviços para Agentforce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3780000"/>
            <a:ext cx="1710000" cy="917999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0" y="3780000"/>
            <a:ext cx="1710000" cy="180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3787200"/>
            <a:ext cx="1710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Canal único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58400" y="4003199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657D"/>
                </a:solidFill>
              </a:rPr>
              <a:t>Confirmar se canal de atendimento é único → define necessidade do 4º agente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