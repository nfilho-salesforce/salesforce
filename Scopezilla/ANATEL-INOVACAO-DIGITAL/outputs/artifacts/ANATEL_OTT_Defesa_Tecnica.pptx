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-274320"/>
            <a:ext cx="4572000" cy="4572000"/>
          </a:xfrm>
          <a:prstGeom prst="rect">
            <a:avLst/>
          </a:prstGeom>
          <a:solidFill>
            <a:srgbClr val="02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840480"/>
            <a:ext cx="3657600" cy="3657600"/>
          </a:xfrm>
          <a:prstGeom prst="rect">
            <a:avLst/>
          </a:prstGeom>
          <a:solidFill>
            <a:srgbClr val="01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2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914400" cy="29260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937760"/>
            <a:ext cx="914400" cy="292608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SC+AF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937760"/>
            <a:ext cx="914400" cy="292608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DC+MS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937760"/>
            <a:ext cx="914400" cy="29260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RevCloud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937760"/>
            <a:ext cx="914400" cy="292608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937760"/>
            <a:ext cx="914400" cy="29260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9743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99CC"/>
                </a:solidFill>
              </a:rPr>
              <a:t>ANATEL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71907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Inovação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78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EE"/>
                </a:solidFill>
              </a:rPr>
              <a:t>Modernização da Regulação de Telecomunicações via Salesforce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99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99BB"/>
                </a:solidFill>
              </a:rPr>
              <a:t>Defesa Técnica OTT — Proposta de Solução por Cloud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93008"/>
            <a:ext cx="4572000" cy="3657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39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Salesforce Professional Services — LATAM  |  Junho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88AA"/>
                </a:solidFill>
              </a:rPr>
              <a:t>Programa XL · 5 Fases · 18 Meses · Go-live Final Nov/2027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Visão Geral do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5 fases · 18 meses · 8 clouds · Greenfield · Prazo regulatório crítico TFF mar/2027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2 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084831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2084831" cy="420624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2527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261872"/>
            <a:ext cx="1581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Fundação
&amp; Data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55064"/>
            <a:ext cx="2084831" cy="457200"/>
          </a:xfrm>
          <a:prstGeom prst="rect">
            <a:avLst/>
          </a:prstGeom>
          <a:solidFill>
            <a:srgbClr val="05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673352"/>
            <a:ext cx="114665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Abr–Jun
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0977" y="1673352"/>
            <a:ext cx="87562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10 sem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286000"/>
            <a:ext cx="73152" cy="7315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231136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Data model unificado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633472"/>
            <a:ext cx="73152" cy="7315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578608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DEV/QA/PROD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980944"/>
            <a:ext cx="73152" cy="7315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926080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Dashboard 6 gerências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79" y="1234440"/>
            <a:ext cx="2084831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79" y="1234440"/>
            <a:ext cx="2084831" cy="42062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42032" y="12527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1" y="1261872"/>
            <a:ext cx="1581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Omnichannel
Agêntico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79" y="1655064"/>
            <a:ext cx="2084831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1673352"/>
            <a:ext cx="114665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Jun–Out
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5537" y="1673352"/>
            <a:ext cx="87562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16 sem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8608" y="2286000"/>
            <a:ext cx="73152" cy="7315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6624" y="2231136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Service Cloud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8608" y="2633472"/>
            <a:ext cx="73152" cy="7315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6624" y="2578608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Agentforce v1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78608" y="2980944"/>
            <a:ext cx="73152" cy="7315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6624" y="2926080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WhatsApp oficial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234440"/>
            <a:ext cx="2084831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1234440"/>
            <a:ext cx="2084831" cy="420624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12527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1261872"/>
            <a:ext cx="1581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TFF/TFI
Arrecadação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1655064"/>
            <a:ext cx="2084831" cy="457200"/>
          </a:xfrm>
          <a:prstGeom prst="rect">
            <a:avLst/>
          </a:prstGeom>
          <a:solidFill>
            <a:srgbClr val="FF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1673352"/>
            <a:ext cx="114665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Out/26–Mar
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0097" y="1673352"/>
            <a:ext cx="87562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21 sem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3168" y="2286000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3" y="2231136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MuleSoft 4 fontes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73168" y="2633472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01183" y="2578608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Data Cloud 10M reg.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73168" y="2980944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01183" y="2926080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Jornada anti-inadimp.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7999" y="1234440"/>
            <a:ext cx="2084831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7999" y="1234440"/>
            <a:ext cx="2084831" cy="420624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1151" y="12527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6911" y="1261872"/>
            <a:ext cx="1581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MMAR
Licenciamento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7999" y="1655064"/>
            <a:ext cx="2084831" cy="457200"/>
          </a:xfrm>
          <a:prstGeom prst="rect">
            <a:avLst/>
          </a:prstGeom>
          <a:solidFill>
            <a:srgbClr val="45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31151" y="1673352"/>
            <a:ext cx="114665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Jan–Ago
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4657" y="1673352"/>
            <a:ext cx="87562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18 sem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67727" y="2286000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95743" y="2231136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PSS + OmniStudio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67727" y="2633472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3" y="2578608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Agentforce v3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67727" y="2980944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95743" y="2926080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Portal requerente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2560" y="1234440"/>
            <a:ext cx="2084831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52560" y="1234440"/>
            <a:ext cx="2084831" cy="420624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25712" y="12527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1261872"/>
            <a:ext cx="1581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Ouvidoria 360°
&amp; Inteligência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1655064"/>
            <a:ext cx="2084831" cy="457200"/>
          </a:xfrm>
          <a:prstGeom prst="rect">
            <a:avLst/>
          </a:prstGeom>
          <a:solidFill>
            <a:srgbClr val="895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25712" y="1673352"/>
            <a:ext cx="114665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Ago–Nov
2027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9217" y="1673352"/>
            <a:ext cx="87562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13 sem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62288" y="2286000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0304" y="2231136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CRM Analytics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62288" y="2633472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0304" y="2578608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Agentforce avançado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62288" y="2980944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0304" y="2926080"/>
            <a:ext cx="17739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Transparência pública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681728"/>
            <a:ext cx="2084831" cy="36576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7472" y="4754880"/>
            <a:ext cx="59436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" y="477316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Data Cloud
Shield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79" y="4681728"/>
            <a:ext cx="2084831" cy="3657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542032" y="4754880"/>
            <a:ext cx="594360" cy="4572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42032" y="477316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Service Cloud
Agentforce
WhatsApp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4681728"/>
            <a:ext cx="2084831" cy="3657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36592" y="4754880"/>
            <a:ext cx="594360" cy="45720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36592" y="477316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MuleSoft
Data Cloud
Marketing Cloud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57999" y="4681728"/>
            <a:ext cx="2084831" cy="3657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31151" y="4754880"/>
            <a:ext cx="594360" cy="45720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31151" y="477316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PSS
OmniStudio
Revenue Cloud
CLM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4681728"/>
            <a:ext cx="2084831" cy="3657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25712" y="4754880"/>
            <a:ext cx="594360" cy="45720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25712" y="477316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CRM Analytics
Agentforce
Shield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18688" y="5989320"/>
            <a:ext cx="2926080" cy="47548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1840" y="600760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⚠  PRAZO REGULATÓRIO CRÍTICO
TFF go-live: início Mar/2027 · 31/Mar = deadline não negociável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Service Cloud + Agentforce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Fases 1 e 4 · Atendimento omnichannel · Agentes autônomos · Ouvidoria 360°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164592"/>
            <a:ext cx="594360" cy="5943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2468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SC+AF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3 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77724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7772400" cy="2743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5272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CONTEXTO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57276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 ANATEL recebe demandas de cidadãos e entidades reguladas via múltiplos canais sem visão unificada. O atendimento hoje é baseado em chatbots de árvore fixa — sem resolução autônoma, sem contexto do histórico e sem SLA rastreável. 6 gerências operam de forma isolada, gerando retrabalho e baixa satisfação do cidadão. A Ouvidoria processa reclamações manualmente sem dados preditivos.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822960" cy="56692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Tickets/ano sem triagem autônoma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Gerências isoladas sem fila unificada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01952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93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221992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Resolução autônoma atual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01952"/>
            <a:ext cx="822960" cy="56692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293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221992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Sem rastreamento por caso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578608"/>
            <a:ext cx="5394960" cy="3712463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578608"/>
            <a:ext cx="5394960" cy="2743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59689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COMO ATENDEREMOS — SOLUÇÃO SALESFORCE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26080"/>
            <a:ext cx="5248656" cy="585216"/>
          </a:xfrm>
          <a:prstGeom prst="rect">
            <a:avLst/>
          </a:prstGeom>
          <a:solidFill>
            <a:srgbClr val="EBF4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926080"/>
            <a:ext cx="73152" cy="58521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9626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Service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163824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Fila unificada de atendimento para as 6 gerências · Vista 360° do cidadão · SLA automático por tipo de caso · Gestão de casos da Ouvidoria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584448"/>
            <a:ext cx="5248656" cy="585216"/>
          </a:xfrm>
          <a:prstGeom prst="rect">
            <a:avLst/>
          </a:prstGeom>
          <a:solidFill>
            <a:srgbClr val="EBF4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584448"/>
            <a:ext cx="73152" cy="58521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621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Agentforce v1 (Fase 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22191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Triagem autônoma via WhatsApp: status de licença, 2ª via de boleto, prazo de análise · Transbordo humanizado com resumo automático do contexto (Einstein Conversation Insights)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242816"/>
            <a:ext cx="5248656" cy="585216"/>
          </a:xfrm>
          <a:prstGeom prst="rect">
            <a:avLst/>
          </a:prstGeom>
          <a:solidFill>
            <a:srgbClr val="EBF4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242816"/>
            <a:ext cx="73152" cy="58521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42793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Agentforce v2 (Fase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48056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Reemissão autônoma de boleto TFF via agente · Integração com MuleSoft para consulta em tempo real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901184"/>
            <a:ext cx="5248656" cy="585216"/>
          </a:xfrm>
          <a:prstGeom prst="rect">
            <a:avLst/>
          </a:prstGeom>
          <a:solidFill>
            <a:srgbClr val="EBF4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4901184"/>
            <a:ext cx="73152" cy="58521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9377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Agentforce v3 (Fase 3)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5138928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Status e pendências MMAR · Fluxo guiado de solicitação de outorga via WhatsApp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59552"/>
            <a:ext cx="5248656" cy="585216"/>
          </a:xfrm>
          <a:prstGeom prst="rect">
            <a:avLst/>
          </a:prstGeom>
          <a:solidFill>
            <a:srgbClr val="EBF4FF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5559552"/>
            <a:ext cx="73152" cy="58521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55961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Ouvidoria 360° (Fase 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579729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Visão consolidada de todos os módulos · SLA rigoroso · Relatório de transparência pública · Integração com CRM Analytics para análise preditiva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578608"/>
            <a:ext cx="3017520" cy="3712463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2578608"/>
            <a:ext cx="3017520" cy="27432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5968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PRINCIPAIS ENTREGAS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33872" y="2990088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2926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Fila unificada 6 gerências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364992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61888" y="33009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WhatsApp oficial integrado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33872" y="3739896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61888" y="3675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Agentforce v1 → v3 progressivo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3872" y="4114800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1888" y="40507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Transbordo humanizado com resumo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33872" y="4489704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44256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Portal do cidadão (Experience)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33872" y="4864608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800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SLA tracking por caso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33872" y="5239512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61888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Ouvidoria com visão 360°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3872" y="5614416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61888" y="5550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Dashboard executivo tempo real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578608"/>
            <a:ext cx="3044952" cy="3712463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0" y="2578608"/>
            <a:ext cx="3044952" cy="2743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52560" y="259689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299923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29260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CTI / PABX / telefonia legada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4272" y="3438144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62288" y="33649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Integração com SEI / SIPAC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4272" y="3877056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803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Histórico de atendimentos anteriores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2" y="431596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2288" y="42428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Automações financeiras (Fase 1)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34272" y="475488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6817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Criação de conteúdo / scripts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4272" y="519379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62288" y="5120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Treinamento de modelos de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Public Sector Solutions (PSS) — MMAR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Fase 3 · Licenciamento marítimo e aeronáutico · Licensing &amp; Permitting + BRE · OmniStudio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164592"/>
            <a:ext cx="594360" cy="59436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2468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4 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7772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7772400" cy="27432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5272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CONTEXTO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57276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 sistema Mosaico gerencia o licenciamento de estações de rádio para aeronaves e embarcações — processo hoje manual, fragmentado e dependente de análise jurídica humana em todas as etapas. São 6 tipos de estação (Embarcação, Radiobaliza, Costeira, Portuária, Móvel, Aeronave), cada um com dados técnicos específicos (MMSI, frequências, DSC, especificações de antena). Tempo de emissão atual: semanas. Impacto: segurança marítima e aérea comprometida por atrasos burocráticos.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822960" cy="566928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Tipos de estação no escopo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Tempo atual de emissão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822960" cy="56692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Marinha
+ DECEA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Integrações externas críticas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20240"/>
            <a:ext cx="822960" cy="56692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Sizing complexidade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15184"/>
            <a:ext cx="539496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615184"/>
            <a:ext cx="5394960" cy="27432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COMO ATENDEREMOS — SOLUÇÃO SALESFORCE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62656"/>
            <a:ext cx="5248656" cy="585216"/>
          </a:xfrm>
          <a:prstGeom prst="rect">
            <a:avLst/>
          </a:prstGeom>
          <a:solidFill>
            <a:srgbClr val="EDF8F0"/>
          </a:solidFill>
          <a:ln w="63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962656"/>
            <a:ext cx="73152" cy="58521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9992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A"/>
                </a:solidFill>
              </a:rPr>
              <a:t>PSS Licensing &amp; Permitting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20040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Fluxo digital completo de solicitação de outorga · Automação multinível com checkpoints jurídicos e técnicos por tipo de estação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621024"/>
            <a:ext cx="5248656" cy="585216"/>
          </a:xfrm>
          <a:prstGeom prst="rect">
            <a:avLst/>
          </a:prstGeom>
          <a:solidFill>
            <a:srgbClr val="EDF8F0"/>
          </a:solidFill>
          <a:ln w="63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621024"/>
            <a:ext cx="73152" cy="58521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657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A"/>
                </a:solidFill>
              </a:rPr>
              <a:t>Business Rules Engine (BRE)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58768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Tradução das regras de análise legal do Mosaico para motor nativo Salesforce · Dispensa análise humana onde a lei permitir · Trilha de auditoria jurídica completa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279392"/>
            <a:ext cx="5248656" cy="585216"/>
          </a:xfrm>
          <a:prstGeom prst="rect">
            <a:avLst/>
          </a:prstGeom>
          <a:solidFill>
            <a:srgbClr val="EDF8F0"/>
          </a:solidFill>
          <a:ln w="63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279392"/>
            <a:ext cx="73152" cy="58521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4315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A"/>
                </a:solidFill>
              </a:rPr>
              <a:t>OmniStudio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51713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Fluxo guiado de solicitação adaptativo por tipo de estação · Captura de dados técnicos específicos (MMSI, frequências, DSC, antenas)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937760"/>
            <a:ext cx="5248656" cy="585216"/>
          </a:xfrm>
          <a:prstGeom prst="rect">
            <a:avLst/>
          </a:prstGeom>
          <a:solidFill>
            <a:srgbClr val="EDF8F0"/>
          </a:solidFill>
          <a:ln w="63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4937760"/>
            <a:ext cx="73152" cy="58521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974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A"/>
                </a:solidFill>
              </a:rPr>
              <a:t>CLM — Gestão de Contratos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5175504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5 templates dinâmicos de outorga · Aprovação multinível (gerente + jurídico + diretoria) · Histórico de contratos 7 anos via Shield · Vinculado ao Mosaico via MuleSoft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96128"/>
            <a:ext cx="5248656" cy="585216"/>
          </a:xfrm>
          <a:prstGeom prst="rect">
            <a:avLst/>
          </a:prstGeom>
          <a:solidFill>
            <a:srgbClr val="EDF8F0"/>
          </a:solidFill>
          <a:ln w="635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5596128"/>
            <a:ext cx="73152" cy="585216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56327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44A"/>
                </a:solidFill>
              </a:rPr>
              <a:t>MuleSoft — Integração Mosaico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58338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API para Mosaico legado · Integrações bidirecionais com Marinha do Brasil e DECEA · Sincronização de dados técnicos de estações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615184"/>
            <a:ext cx="301752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2615184"/>
            <a:ext cx="3017520" cy="27432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PRINCIPAIS ENTREGAS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33872" y="3026664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29626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Fluxo digital de solicitação MMAR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401568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61888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BRE com regras legais do Mosaico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33872" y="3776472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61888" y="3712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Integração Marinha + DECEA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3872" y="4151376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1888" y="4087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Portal do requerente (Experience)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33872" y="4526280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CLM — 5 templates de outorga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33872" y="4901184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8371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Trilha de auditoria jurídica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33872" y="5276088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61888" y="5212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Agentforce v3 para pendências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3872" y="5650992"/>
            <a:ext cx="73152" cy="73152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61888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Histórico 7 anos (Shield)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615184"/>
            <a:ext cx="3044952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0" y="2615184"/>
            <a:ext cx="3044952" cy="2743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525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303580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2962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Integração ANAC / Receita Federal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4272" y="347472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62288" y="3401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Assinatura digital ICP-Brasil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4272" y="391363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840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Track changes com contrapartes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2" y="4352544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2288" y="42793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Módulo aeronáutico (regras divergentes)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34272" y="4791456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5 templates CLM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4272" y="523036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62288" y="5157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2 fluxos de aprovação CLM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MuleSoft + Data Cloud — TFF/TFI Arrecadação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Fase 2 · 10M registros · 4 fontes legadas · Batch 2x/mês · Prazo regulatório 31/Mar/2027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164592"/>
            <a:ext cx="594360" cy="59436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2468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DC+MS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5 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7772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7772400" cy="27432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5272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CONTEXTO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57276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 ANATEL arrecada anualmente a Taxa de Fiscalização do Funcionamento (TFF) de ~10M de entidades reguladas. Hoje, os dados estão fragmentados em 4 sistemas legados sem chave de identidade unificada, gerando inadimplência por falta de notificação efetiva. O prazo regulatório de 31/março para geração de boletos é não negociável — qualquer atraso no go-live implica em risco jurídico para a ANATEL. Retenção obrigatória de 7 anos para auditoria TCU/CGU.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822960" cy="566928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Registros por batch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Fontes legadas heterogêneas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822960" cy="56692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31/Mar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Deadline regulatório 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20240"/>
            <a:ext cx="822960" cy="56692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 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Retenção auditável TCU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15184"/>
            <a:ext cx="539496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615184"/>
            <a:ext cx="5394960" cy="27432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COMO ATENDEREMOS — SOLUÇÃO SALESFORCE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62656"/>
            <a:ext cx="5248656" cy="585216"/>
          </a:xfrm>
          <a:prstGeom prst="rect">
            <a:avLst/>
          </a:prstGeom>
          <a:solidFill>
            <a:srgbClr val="E4F7FA"/>
          </a:solidFill>
          <a:ln w="635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962656"/>
            <a:ext cx="73152" cy="58521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9992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1E0"/>
                </a:solidFill>
              </a:rPr>
              <a:t>MuleSoft CloudHub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20040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Integração das 4 fontes: SITARWEB (REST), DB_TELECOM (JDBC), SMS/FISTEL (MongoDB), MOSAICO (JDBC legado) · Batch noturno 2x/mês · ~10M registros por execução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621024"/>
            <a:ext cx="5248656" cy="585216"/>
          </a:xfrm>
          <a:prstGeom prst="rect">
            <a:avLst/>
          </a:prstGeom>
          <a:solidFill>
            <a:srgbClr val="E4F7FA"/>
          </a:solidFill>
          <a:ln w="635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621024"/>
            <a:ext cx="73152" cy="58521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657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1E0"/>
                </a:solidFill>
              </a:rPr>
              <a:t>Data Cloud — Identity Resolution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58768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Resolução de identidade entre os 3 sistemas via chave composta · Unified Profile das entidades reguladas · ~10M registros consolidados · Qualidade de dados com regras automáticas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279392"/>
            <a:ext cx="5248656" cy="585216"/>
          </a:xfrm>
          <a:prstGeom prst="rect">
            <a:avLst/>
          </a:prstGeom>
          <a:solidFill>
            <a:srgbClr val="E4F7FA"/>
          </a:solidFill>
          <a:ln w="635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279392"/>
            <a:ext cx="73152" cy="58521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4315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1E0"/>
                </a:solidFill>
              </a:rPr>
              <a:t>Data Cloud — Big Objects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51713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Retenção 7 anos auditável sem degradar performance operacional · Data Spaces para separação lógica dos períodos · Atende TCU/CGU e Lei de Arquivos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937760"/>
            <a:ext cx="5248656" cy="585216"/>
          </a:xfrm>
          <a:prstGeom prst="rect">
            <a:avLst/>
          </a:prstGeom>
          <a:solidFill>
            <a:srgbClr val="E4F7FA"/>
          </a:solidFill>
          <a:ln w="635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4937760"/>
            <a:ext cx="73152" cy="58521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974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1E0"/>
                </a:solidFill>
              </a:rPr>
              <a:t>Marketing Cloud — Jornada Anti-Inadimplência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5175504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Régua D-30/D-15/D-7/D+1/D+15 via WhatsApp+Email · 3 jornadas: Renovação de Outorga, Adimplência TFF, Onboarding novo licenciado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96128"/>
            <a:ext cx="5248656" cy="585216"/>
          </a:xfrm>
          <a:prstGeom prst="rect">
            <a:avLst/>
          </a:prstGeom>
          <a:solidFill>
            <a:srgbClr val="E4F7FA"/>
          </a:solidFill>
          <a:ln w="635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5596128"/>
            <a:ext cx="73152" cy="58521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56327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1E0"/>
                </a:solidFill>
              </a:rPr>
              <a:t>Agentforce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58338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Reemissão autônoma de boleto TFF via WhatsApp · Consulta de débitos em tempo real · Handoff para servidor público se necessário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615184"/>
            <a:ext cx="301752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2615184"/>
            <a:ext cx="3017520" cy="27432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PRINCIPAIS ENTREGAS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33872" y="3026664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29626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MuleSoft: 4 conectores legados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401568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61888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Identity Resolution 10M registros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33872" y="3776472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61888" y="3712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Big Objects retenção 7 anos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3872" y="4151376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1888" y="4087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 jornadas MC (WhatsApp+Email)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33872" y="4526280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Portal do contribuinte TFF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33872" y="4901184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8371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Agentforce v2 reemissão boleto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33872" y="5276088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61888" y="5212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Dashboard inadimplência real-time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3872" y="5650992"/>
            <a:ext cx="73152" cy="7315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61888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Go-live início Mar/2027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615184"/>
            <a:ext cx="3044952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0" y="2615184"/>
            <a:ext cx="3044952" cy="2743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525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303580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2962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Motor de cálculo fiscal (externo)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4272" y="347472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62288" y="3401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SIAFI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4272" y="391363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840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Contestação/recurso de TFF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2" y="4352544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2288" y="42793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Histórico de cálculos anteriores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34272" y="4791456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4 fontes de origem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4272" y="523036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62288" y="5157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3 jornadas MC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34272" y="566928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62288" y="55961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SMS / Push / outros canais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Revenue Cloud + CLM — Arrecadação e Contratos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Fases 2–3 · TFI/TFF · Contratos de Outorga · 5 templates · 7 anos de retenção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164592"/>
            <a:ext cx="594360" cy="59436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2468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RevCloud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6 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7772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7772400" cy="27432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5272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CONTEXTO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57276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 ANATEL gera guias de recolhimento (TFI — Taxa de Fiscalização de Instalação) durante o processo de licenciamento MMAR e gerencia contratos de outorga com ciclo de vida complexo (solicitação → análise jurídica → aprovação multinível → vigência → renovação). Hoje, esses processos são manuais, sem rastreabilidade de versões contratuais e sem alertas automatizados de vencimento — gerando inadimplência e risco jurídico para o órgão.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Templates de outorga no escopo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822960" cy="56692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Níveis de aprovação (ger+jur+dir)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822960" cy="566928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510–760h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Estimativa CLM (ROM)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20240"/>
            <a:ext cx="822960" cy="56692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 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Retenção contratos (Shield)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15184"/>
            <a:ext cx="539496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615184"/>
            <a:ext cx="5394960" cy="27432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COMO ATENDEREMOS — SOLUÇÃO SALESFORCE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62656"/>
            <a:ext cx="5248656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962656"/>
            <a:ext cx="73152" cy="58521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9992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000"/>
                </a:solidFill>
              </a:rPr>
              <a:t>Revenue Cloud — TFI/TFF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20040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Orquestração de geração e conciliação de guias TFI durante o processo MMAR · Integração com boleto bancário (GRU ou SF Billing) · Conciliação automática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621024"/>
            <a:ext cx="5248656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621024"/>
            <a:ext cx="73152" cy="58521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657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000"/>
                </a:solidFill>
              </a:rPr>
              <a:t>CLM — Ciclo de Vida de Contratos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58768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5 etapas: Solicitação → Análise Jurídica → Aprovação → Vigência → Renovação · 5 templates dinâmicos com cláusulas variáveis por tipo de outorga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279392"/>
            <a:ext cx="5248656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279392"/>
            <a:ext cx="73152" cy="58521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4315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000"/>
                </a:solidFill>
              </a:rPr>
              <a:t>Aprovação Multinível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51713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Workflow gerente + jurídico + diretoria · Sem assinatura digital ICP (fora do escopo) · Aprovação eletrônica com trilha de auditoria completa · Versionamento nativo SF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937760"/>
            <a:ext cx="5248656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4937760"/>
            <a:ext cx="73152" cy="58521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974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000"/>
                </a:solidFill>
              </a:rPr>
              <a:t>Alertas de Vencimento e Renovação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5175504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D-90/D-60/D-30 automáticos · Fluxo de renovação ou encerramento · Vinculado ao Mosaico via MuleSoft · Integração com MC para comunicação externa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96128"/>
            <a:ext cx="5248656" cy="585216"/>
          </a:xfrm>
          <a:prstGeom prst="rect">
            <a:avLst/>
          </a:prstGeom>
          <a:solidFill>
            <a:srgbClr val="FFF3E0"/>
          </a:solidFill>
          <a:ln w="635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5596128"/>
            <a:ext cx="73152" cy="58521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56327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000"/>
                </a:solidFill>
              </a:rPr>
              <a:t>Shield — Retenção e Auditoria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58338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Histórico de contratos arquivado por 7 anos · FLS + Audit Trail · Exportação para auditorias TCU/CGU · Event Monitoring para rastreabilidade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615184"/>
            <a:ext cx="301752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2615184"/>
            <a:ext cx="3017520" cy="274320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PRINCIPAIS ENTREGAS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33872" y="3026664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29626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Revenue Cloud — geração de TFI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401568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61888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CLM — 5 templates de outorga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33872" y="3776472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61888" y="3712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Fluxo aprovação 3 níveis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3872" y="4151376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1888" y="4087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Alertas D-90/D-60/D-30 automáticos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33872" y="4526280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Versionamento nativo de contratos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33872" y="4901184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8371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Integração Mosaico via MuleSoft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33872" y="5276088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61888" y="5212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Histórico 7 anos (Shield)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3872" y="5650992"/>
            <a:ext cx="73152" cy="7315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61888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Relatórios OOTB de status e vencimento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615184"/>
            <a:ext cx="3044952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0" y="2615184"/>
            <a:ext cx="3044952" cy="2743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525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303580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2962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Assinatura digital ICP-Brasil / DocuSign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4272" y="347472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62288" y="3401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Redline com contrapartes externas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4272" y="391363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840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2 fluxos de aprovação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2" y="4352544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2288" y="42793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5 templates CLM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34272" y="4791456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KPIs customizados (apenas OOTB)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4272" y="523036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62288" y="5157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Integração SEI / SIAFI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Marketing Cloud — Comunicação Regulatória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Fase 2 · 3 jornadas · ~5M contatos · WhatsApp + E-mail · Adimplência + Renovação +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164592"/>
            <a:ext cx="594360" cy="59436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2468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7 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234440"/>
            <a:ext cx="77724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234440"/>
            <a:ext cx="7772400" cy="27432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25272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CONTEXTO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57276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 ANATEL se comunica com ~5M de entidades reguladas hoje por canais fragmentados, sem jornadas automatizadas e sem personalização por perfil de licenciado. O resultado é inadimplência de TFF por falta de notificação efetiva, baixa taxa de renovação de outorgas dentro do prazo e onboarding manual de novos licenciados. O MC atua como camada de comunicação proativa integrada ao CLM, MuleSoft e Data Cloud.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822960" cy="566928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Contatos / entidades reguladas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822960" cy="56692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618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Jornadas no escopo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822960" cy="566928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WhatsApp
+ E-mail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Canais ativos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20240"/>
            <a:ext cx="822960" cy="56692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947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240280"/>
            <a:ext cx="768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Edição MC Engagement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615184"/>
            <a:ext cx="539496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615184"/>
            <a:ext cx="5394960" cy="27432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COMO ATENDEREMOS — 3 JORNADAS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62656"/>
            <a:ext cx="5248656" cy="585216"/>
          </a:xfrm>
          <a:prstGeom prst="rect">
            <a:avLst/>
          </a:prstGeom>
          <a:solidFill>
            <a:srgbClr val="F3E8FF"/>
          </a:solidFill>
          <a:ln w="63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962656"/>
            <a:ext cx="73152" cy="58521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29992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7BF"/>
                </a:solidFill>
              </a:rPr>
              <a:t>Jornada 1 — Renovação de Outorga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320040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Trigger: D-90/D-60/D-30 do vencimento no CLM · Ação D-0: Journey Builder abre case no CLM via API/Flow · Canal: WhatsApp + E-mail · Dados: CLM → Data Extension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621024"/>
            <a:ext cx="5248656" cy="585216"/>
          </a:xfrm>
          <a:prstGeom prst="rect">
            <a:avLst/>
          </a:prstGeom>
          <a:solidFill>
            <a:srgbClr val="F3E8FF"/>
          </a:solidFill>
          <a:ln w="63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621024"/>
            <a:ext cx="73152" cy="58521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657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7BF"/>
                </a:solidFill>
              </a:rPr>
              <a:t>Jornada 2 — Adimplência TFF/TFI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58768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Régua: D-30/D-15/D-7/D+1/D+15 · Dados de vencimento via MuleSoft TFF → Data Extension · WhatsApp com link de reemissão de boleto via Agentforce v2 · E-mail como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279392"/>
            <a:ext cx="5248656" cy="585216"/>
          </a:xfrm>
          <a:prstGeom prst="rect">
            <a:avLst/>
          </a:prstGeom>
          <a:solidFill>
            <a:srgbClr val="F3E8FF"/>
          </a:solidFill>
          <a:ln w="63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279392"/>
            <a:ext cx="73152" cy="58521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4315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7BF"/>
                </a:solidFill>
              </a:rPr>
              <a:t>Jornada 3 — Onboarding Novo Licenciado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" y="451713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Trigger: evento de aprovação de outorga no CLM · Sequência de boas-vindas + orientações regulatórias · Personalização por tipo de estação / segmento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937760"/>
            <a:ext cx="5248656" cy="585216"/>
          </a:xfrm>
          <a:prstGeom prst="rect">
            <a:avLst/>
          </a:prstGeom>
          <a:solidFill>
            <a:srgbClr val="F3E8FF"/>
          </a:solidFill>
          <a:ln w="63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4937760"/>
            <a:ext cx="73152" cy="58521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4974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7BF"/>
                </a:solidFill>
              </a:rPr>
              <a:t>Infraestrutura de Dados MC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5175504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Data Cloud como camada de unificação · ~5M contatos em Data Extensions · Criativos (templates e-mail + HSMs WhatsApp) fornecidos pela ANATEL — PS faz somente configuração técnica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96128"/>
            <a:ext cx="5248656" cy="585216"/>
          </a:xfrm>
          <a:prstGeom prst="rect">
            <a:avLst/>
          </a:prstGeom>
          <a:solidFill>
            <a:srgbClr val="F3E8FF"/>
          </a:solidFill>
          <a:ln w="635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6032" y="5596128"/>
            <a:ext cx="73152" cy="585216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" y="56327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7BF"/>
                </a:solidFill>
              </a:rPr>
              <a:t>Integração MC ↔ CLM ↔ MuleSoft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58338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Journey Builder → CLM via API/Flow (Jornada 1, ação D-0) · MuleSoft TFF → Data Extension (Jornada 2) · Entrega incremental após CLM e Data Cloud configurados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615184"/>
            <a:ext cx="301752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6B3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60720" y="2615184"/>
            <a:ext cx="3017520" cy="274320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PRINCIPAIS ENTREGAS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33872" y="3026664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29626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 jornadas configuradas e testadas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401568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61888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Integration MC → CLM (ação D-0)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33872" y="3776472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61888" y="3712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Data Extensions ~5M contatos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3872" y="4151376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61888" y="4087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HSMs WhatsApp configurados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33872" y="4526280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Templates e-mail configurados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33872" y="4901184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8371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Régua adimplência 5 pontos de contato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33872" y="5276088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61888" y="5212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Documentação das jornadas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33872" y="5650992"/>
            <a:ext cx="73152" cy="73152"/>
          </a:xfrm>
          <a:prstGeom prst="rect">
            <a:avLst/>
          </a:prstGeom>
          <a:solidFill>
            <a:srgbClr val="6B3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61888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Teste de performance segmentação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615184"/>
            <a:ext cx="3044952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0" y="2615184"/>
            <a:ext cx="3044952" cy="2743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52560" y="263347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303580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2962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Criação de criativos / copywriting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4272" y="3474720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62288" y="3401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Aprovação WABA junto à Meta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4272" y="3913632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62288" y="3840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Mais de 3 jornadas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2" y="4352544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2288" y="42793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SMS / Push / outros canais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34272" y="4791456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6228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Einstein AI além das 3 jornadas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4272" y="5230368"/>
            <a:ext cx="73152" cy="7315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62288" y="5157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Segmentação avançada ML customizado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Premissas Críticas do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Itens que devem ser confirmados antes do kick-off de cada fase — impacto direto em prazo e estimativa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8 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261872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61872"/>
            <a:ext cx="91440" cy="85953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5192" y="1316736"/>
            <a:ext cx="932688" cy="21945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32588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307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MuleSoft licenciado antes do kick-off Fase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609343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Sem MuleSoft, a integração das 4 fontes TFF não pode começar → atraso em cascata até prazo regulatório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212848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2212848"/>
            <a:ext cx="91440" cy="85953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5192" y="2267712"/>
            <a:ext cx="932688" cy="21945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2768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258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Data Cloud licenciado antes do início Fase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560320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Identity Resolution e Big Objects (retenção 7 anos) são pré-requisitos do go-live TFF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163824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3163824"/>
            <a:ext cx="91440" cy="85953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65192" y="3218688"/>
            <a:ext cx="932688" cy="219456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22783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BLOQUEANTE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2095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Acesso às 3 bases TFF (SITARWEB, DB_TELECOM, MongoDB) garantido antes Fase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511296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Sem acesso às fontes, o data profiling e a configuração dos conectores MuleSoft não podem ocorrer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114800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4114800"/>
            <a:ext cx="91440" cy="85953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65192" y="4169663"/>
            <a:ext cx="932688" cy="21945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65192" y="417880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1605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OmniStudio licenciado com aquisição iniciada na Fase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462272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Lead time de licenciamento Industries/Vlocity — se não iniciado na F1, bloqueia a F3 (MMAR)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5065776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5065776"/>
            <a:ext cx="91440" cy="85953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65192" y="5120640"/>
            <a:ext cx="932688" cy="21945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512978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1114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Regras de cálculo TFF documentadas antes do início Fase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5413248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Motor fiscal permanece externo — PS não pode estimar integração sem conhecer o schema de saída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1261872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9632" y="1261872"/>
            <a:ext cx="91440" cy="85953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81943" y="1316736"/>
            <a:ext cx="932688" cy="21945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81943" y="132588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4224" y="1307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API do Mosaico documentada antes do início Fase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1609343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Mosaico via JDBC direto (sem API) — confirmação de acesso e permissões de leitura é pré-requisito hard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2212848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9632" y="2212848"/>
            <a:ext cx="91440" cy="85953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81943" y="2267712"/>
            <a:ext cx="932688" cy="219456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81943" y="2276856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2258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WhatsApp Business API (Meta) aprovado — processo iniciado na Fase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2560320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Aprovação Meta leva 4–8 semanas — e-mail como fallback, mas WhatsApp é o canal primário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3163824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99632" y="3163824"/>
            <a:ext cx="91440" cy="85953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81943" y="3218688"/>
            <a:ext cx="932688" cy="21945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81943" y="3227832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</a:rPr>
              <a:t>IMPORTANTE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4224" y="32095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PO dedicado ANATEL com poder de decisão em todas as fases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4224" y="3511296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Sem PO com autoridade, decisões de escopo ficam represadas e comprometem o prazo regulatório TFF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4114800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4114800"/>
            <a:ext cx="91440" cy="85953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981943" y="4169663"/>
            <a:ext cx="932688" cy="21945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81943" y="4178808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</a:rPr>
              <a:t>IMPORTANTE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41605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Sponsor executivo com autoridade sobre as 6 gerências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4224" y="4462272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Change management de 6 gerências simultâneas exige patrocinador com poder de mobilizar todas elas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99632" y="5065776"/>
            <a:ext cx="5806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99632" y="5065776"/>
            <a:ext cx="91440" cy="85953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81943" y="5120640"/>
            <a:ext cx="932688" cy="219456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81943" y="5129784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</a:rPr>
              <a:t>IMPORTANTE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64224" y="51114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IdP corporativo ANATEL definido (LDAP, Azure AD ou Gov.br) antes Fase 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4224" y="5413248"/>
            <a:ext cx="5550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SSO crítico para acesso unificado — sem IdP definido, o modelo de autenticação do projeto fica em aberto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ANATEL — Inovação Digital · Defesa Técnica 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Riscos do Programa — Matriz de Exposição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9601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CCEE"/>
                </a:solidFill>
              </a:rPr>
              <a:t>7 riscos mapeados · Probabilidade × Impacto · Mitigações definidas por risco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8899"/>
                </a:solidFill>
              </a:rPr>
              <a:t>Salesforce Professional Services — LATAM  |  Uso Interno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78899"/>
                </a:solidFill>
              </a:rPr>
              <a:t>Slide 9 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24712"/>
            <a:ext cx="12188952" cy="5303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261872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61872"/>
            <a:ext cx="91440" cy="80467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1316736"/>
            <a:ext cx="804672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325880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316736"/>
            <a:ext cx="1005840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13258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1572768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Prazo TFF 31/março não respeitado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17739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Qualquer atraso na Fase 2 implica em risco jurídico para a ANATEL — prazo não negociável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517904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5179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3B22"/>
                </a:solidFill>
              </a:rPr>
              <a:t>Mitigação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682495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Go-live Fase 2 planejado para início de março/2027 — 4 semanas de margem. Milestone tracker semanal a partir da Fase 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1261872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1261872"/>
            <a:ext cx="91440" cy="804672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1316736"/>
            <a:ext cx="804672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325880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CRÍTICO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6328" y="1316736"/>
            <a:ext cx="1005840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328" y="13258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Alta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72768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Regras TFF com alta variabilidade não mapeada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17739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Motor fiscal externo recebe dados consolidados — se as regras tiverem exceções não documentadas, o schema de saída muda e impacta o MuleSoft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22408" y="1517904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15179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3B22"/>
                </a:solidFill>
              </a:rPr>
              <a:t>Mitigação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1682495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Discovery dedicado de regras TFF antes da Fase 2. Motor fiscal permanece externo e fora do escopo 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098730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2098730"/>
            <a:ext cx="91440" cy="80467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2153594"/>
            <a:ext cx="804672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162738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2153594"/>
            <a:ext cx="1005840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216273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Alta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" y="2409626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Qualidade dos dados nas 3 fontes TFF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261079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Dados fragmentados sem chave de identidade unificada — registros duplicados ou sem chave válida comprometem a Identity Resolution do Data Cloud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2354762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235476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5000"/>
                </a:solidFill>
              </a:rPr>
              <a:t>Mitigação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251935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Data profiling obrigatório na Fase 0. Regras de qualidade no Data Cloud antes da carga dos 10M registros.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2098730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0488" y="2098730"/>
            <a:ext cx="91440" cy="80467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6792" y="2153594"/>
            <a:ext cx="804672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2162738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96328" y="2153594"/>
            <a:ext cx="1005840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96328" y="216273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Média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2409626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API do Mosaico indisponível ou sem documentação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61079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Mosaico legado via JDBC direto — se o acesso ao banco não for liberado, a integração MMAR (Fase 3) e TFF (Fase 2) ficam bloqueadas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22408" y="2354762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13848" y="235476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5000"/>
                </a:solidFill>
              </a:rPr>
              <a:t>Mitigação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251935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Discovery técnico do Mosaico durante a Fase 2. Confirmar permissões de leitura no kick-off da Fase 0.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2935589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2935589"/>
            <a:ext cx="91440" cy="80467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9184" y="2990453"/>
            <a:ext cx="804672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2999597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88720" y="2990453"/>
            <a:ext cx="1005840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88720" y="299959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Média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3246485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Lead time licenciamento OmniStudio não iniciado a tempo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44765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Industries/Vlocity tem lead time de aquisição — se não iniciado na Fase 1, bloqueia o início da Fase 3 (MMAR)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3191621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319162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5000"/>
                </a:solidFill>
              </a:rPr>
              <a:t>Mitigação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3356213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Aquisição obrigatória durante a Fase 1. Validar status de procurement a cada status report.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2935589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90488" y="2935589"/>
            <a:ext cx="91440" cy="80467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36792" y="2990453"/>
            <a:ext cx="804672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36792" y="2999597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96328" y="2990453"/>
            <a:ext cx="1005840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96328" y="299959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Média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6792" y="3246485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Aprovação Meta WhatsApp Business atrasada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36792" y="344765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Processo de aprovação WABA leva 4–8 semanas — se não iniciado na Fase 0, o canal principal da Fase 1 (Agentforce v1) não está disponível no go-live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22408" y="3191621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13848" y="3191621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5000"/>
                </a:solidFill>
              </a:rPr>
              <a:t>Mitigação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13848" y="3356213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Iniciar processo na Fase 0. E-mail configurado como fallback obrigatório para todos os fluxos de atendimento.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772448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880" y="3772448"/>
            <a:ext cx="91440" cy="804672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9184" y="3827312"/>
            <a:ext cx="804672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3836456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" y="3827312"/>
            <a:ext cx="1005840" cy="201168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88720" y="38364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Alta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9184" y="408334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Resistência ao change management (6 gerências)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" y="428451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Sponsor executivo precisa mobilizar GIDS, GIMR, GIIB, ORLE, ORER e AFO simultaneamente — resistência de qualquer gerência compromete adoção e SLA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0" y="4028480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06240" y="4028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5000"/>
                </a:solidFill>
              </a:rPr>
              <a:t>Mitigação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06240" y="41930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Sponsor executivo com autoridade formal sobre as 6 gerências como premissa hard. UX/HCC Consultant nas Fases 0, 1 e 3.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86684" y="3772448"/>
            <a:ext cx="5824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86684" y="3772448"/>
            <a:ext cx="91440" cy="804672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32988" y="3827312"/>
            <a:ext cx="804672" cy="201168"/>
          </a:xfrm>
          <a:prstGeom prst="rect">
            <a:avLst/>
          </a:prstGeom>
          <a:solidFill>
            <a:srgbClr val="FFC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32988" y="3836456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</a:rPr>
              <a:t>ALTO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92524" y="3827312"/>
            <a:ext cx="1005840" cy="201168"/>
          </a:xfrm>
          <a:prstGeom prst="rect">
            <a:avLst/>
          </a:prstGeom>
          <a:solidFill>
            <a:srgbClr val="E6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92524" y="38364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Prob: Alta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32988" y="4083344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Resistência ao change management (6 gerências)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32988" y="428451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</a:rPr>
              <a:t>Contexto: Sponsor executivo precisa mobilizar GIDS, GIMR, GIIB, ORLE, ORER e AFO simultaneamente — resistência de qualquer gerência compromete adoção e SLA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18604" y="4028480"/>
            <a:ext cx="27432" cy="475488"/>
          </a:xfrm>
          <a:prstGeom prst="rect">
            <a:avLst/>
          </a:prstGeom>
          <a:solidFill>
            <a:srgbClr val="D8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10044" y="40284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849"/>
                </a:solidFill>
              </a:rPr>
              <a:t>Mitigação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10044" y="41930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Sponsor executivo com autoridade formal sobre as 6 gerências como premissa hard. UX/HCC Consultant nas Fases 0, 1 e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