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CLARO Agente PLM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176D3"/>
                </a:solidFill>
                <a:latin typeface="Calibri"/>
              </a:rPr>
              <a:t>Autoria Inteligente de Catálogo com Agentforce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Salesforce Professional Services LATAM  ·  POC  ·  Junho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Confidencial — Salesforce PS LATAM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Problema: O Catálogo Que Não Acompanha o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176D3"/>
                </a:solidFill>
                <a:latin typeface="Calibri"/>
              </a:rPr>
              <a:t>"127 regras. Cada mudança exige um deploy. O mercado não espera."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4864" cy="82296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  <a:latin typeface="Calibri"/>
              </a:rPr>
              <a:t>Pain 1 — Velocidade: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56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1616"/>
                </a:solidFill>
                <a:latin typeface="Calibri"/>
              </a:rPr>
              <a:t>Cada nova oferta, bundle ou ajuste de preço exige um sprint de engenharia e um deploy cross-org — processo de dias a semanas.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4864" cy="82296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  <a:latin typeface="Calibri"/>
              </a:rPr>
              <a:t>Pain 2 — Estabilidade: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1616"/>
                </a:solidFill>
                <a:latin typeface="Calibri"/>
              </a:rPr>
              <a:t>Validações volumosas fazem overflow de CPU e heap — o pipeline falha silenciosamente; erros chegam ao downstream sem ser detectados.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94760"/>
            <a:ext cx="54864" cy="82296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947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2D60"/>
                </a:solidFill>
                <a:latin typeface="Calibri"/>
              </a:rPr>
              <a:t>Pain 3 — Competitividade: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42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1616"/>
                </a:solidFill>
                <a:latin typeface="Calibri"/>
              </a:rPr>
              <a:t>Enquanto Vivo e TIM lançam combos em semanas, Claro aguarda aprovação de TI para alterar uma regra.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Para Fabricio: "O catalogo e o coracao da oferta comercial da Claro. Se o coracao bate devagar, o negocio inteiro desacelera."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Diagnóstico: Onde o Sistema Falha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2926080" cy="45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3619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Processo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63040"/>
            <a:ext cx="2926080" cy="45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3619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4114800" cy="45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36192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Causa raiz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11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Alteração de regra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920240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11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312F"/>
                </a:solidFill>
                <a:latin typeface="Calibri"/>
              </a:rPr>
              <a:t>Dias (sprint + deploy)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20240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BRE acoplado ao pipeline de engenharia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78608"/>
            <a:ext cx="2926080" cy="658368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67004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Validação em lote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578608"/>
            <a:ext cx="2926080" cy="658368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670048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312F"/>
                </a:solidFill>
                <a:latin typeface="Calibri"/>
              </a:rPr>
              <a:t>Falhas silenciosas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578608"/>
            <a:ext cx="4114800" cy="658368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670048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Processamento síncrono — overflow de heap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3697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328416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Diagnóstico de erros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3236976"/>
            <a:ext cx="29260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3328416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312F"/>
                </a:solidFill>
                <a:latin typeface="Calibri"/>
              </a:rPr>
              <a:t>Horas de investigação manual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236976"/>
            <a:ext cx="4114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328416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Sem observabilidade nativa; sem DLQ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95344"/>
            <a:ext cx="2926080" cy="658368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986784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Auditoria LGPD / ANATEL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895344"/>
            <a:ext cx="2926080" cy="658368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3986784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2312F"/>
                </a:solidFill>
                <a:latin typeface="Calibri"/>
              </a:rPr>
              <a:t>Sem rastreabilidade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895344"/>
            <a:ext cx="4114800" cy="658368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986784"/>
            <a:ext cx="3977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1616"/>
                </a:solidFill>
                <a:latin typeface="Calibri"/>
              </a:rPr>
              <a:t>BRE sem lineage de regras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Solução 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176D3"/>
                </a:solidFill>
                <a:latin typeface="Calibri"/>
              </a:rPr>
              <a:t>"Compilação por IA. Execução determinística. Zero redeploy."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5394960" cy="41148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76D3"/>
                </a:solidFill>
                <a:latin typeface="Calibri"/>
              </a:rPr>
              <a:t>AUTORIA — Admin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 Analista escreve regra em português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9008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2. Admin Agent → Einstein LLM compila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3989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3. AST JSON gravado em Plm_Rule_Spec__c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970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4. Regra live em segundos — sem deploy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554480"/>
            <a:ext cx="5394960" cy="411480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OPERAÇÃO — Ops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402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1. Lote CSV enviado via LWC Wizard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990088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2. Ops Agent dispara ingestão assíncrona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39896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3. AST Walker avalia: &lt;50ms/registro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89704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4. Relatório HTML gerado por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943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32D60"/>
                </a:solidFill>
                <a:latin typeface="Calibri"/>
              </a:rPr>
              <a:t>Sem redeploy. Sem desenvolvedor. Sem falhas silenciosas.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Arquitetura de Alto 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176D3"/>
                </a:solidFill>
                <a:latin typeface="Calibri"/>
              </a:rPr>
              <a:t>"Três camadas: experiência, inteligência, motor."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1828800" cy="1417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76D3"/>
                </a:solidFill>
                <a:latin typeface="Calibri"/>
              </a:rPr>
              <a:t>EXPERIENCE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508760"/>
            <a:ext cx="9692640" cy="14173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9326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LWC Upload Wizard  ·  Agentforce Chat Console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35808"/>
            <a:ext cx="1828800" cy="1417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4930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76D3"/>
                </a:solidFill>
                <a:latin typeface="Calibri"/>
              </a:rPr>
              <a:t>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3035808"/>
            <a:ext cx="9692640" cy="1417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3355848"/>
            <a:ext cx="9326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Admin Agent (compile-time)  ·  Ops Agent (runtime)
Atlas Reasoning Engine  ·  Einstein Trust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62856"/>
            <a:ext cx="1828800" cy="1417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502005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176D3"/>
                </a:solidFill>
                <a:latin typeface="Calibri"/>
              </a:rPr>
              <a:t>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4562856"/>
            <a:ext cx="9692640" cy="1417320"/>
          </a:xfrm>
          <a:prstGeom prst="rect">
            <a:avLst/>
          </a:prstGeom>
          <a:solidFill>
            <a:srgbClr val="0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882896"/>
            <a:ext cx="9326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AST Walker (Apex puro, &lt;50ms)  ·  DLQ + Finalizers
Platform Events  ·  Compile Snapshots (LGPD lineage)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943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32D60"/>
                </a:solidFill>
                <a:latin typeface="Calibri"/>
              </a:rPr>
              <a:t>LLM apenas na autoria. Em produção: Apex puro — determinístico, rápido, auditável. Sem IA no caminho crítico.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Os KPIs: O Que Muda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4114800" cy="4389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36192"/>
            <a:ext cx="4005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3200400" cy="4389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536192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63040"/>
            <a:ext cx="4114800" cy="4389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1536192"/>
            <a:ext cx="4005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 Agentforce PLM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01952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97510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Tempo para alterar uma regra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32004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975104"/>
            <a:ext cx="3090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312F"/>
                </a:solidFill>
                <a:latin typeface="Calibri"/>
              </a:rPr>
              <a:t>Dias (sprint + deploy)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901952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197510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44E"/>
                </a:solidFill>
                <a:latin typeface="Calibri"/>
              </a:rPr>
              <a:t>0 minutos — sem redeploy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96312"/>
            <a:ext cx="41148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56946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Tempo de avaliação por registro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496312"/>
            <a:ext cx="32004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2569464"/>
            <a:ext cx="3090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312F"/>
                </a:solidFill>
                <a:latin typeface="Calibri"/>
              </a:rPr>
              <a:t>Minutos (lote síncrono)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2496312"/>
            <a:ext cx="41148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56946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44E"/>
                </a:solidFill>
                <a:latin typeface="Calibri"/>
              </a:rPr>
              <a:t>&lt; 50ms por registro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90672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16382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Capacidade por lote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3090672"/>
            <a:ext cx="32004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3163824"/>
            <a:ext cx="3090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312F"/>
                </a:solidFill>
                <a:latin typeface="Calibri"/>
              </a:rPr>
              <a:t>Instável em volumes altos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3090672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08392" y="316382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44E"/>
                </a:solidFill>
                <a:latin typeface="Calibri"/>
              </a:rPr>
              <a:t>≤ 10.000 linhas — estável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685032"/>
            <a:ext cx="41148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75818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Falhas silenciosas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3685032"/>
            <a:ext cx="32004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3758184"/>
            <a:ext cx="3090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312F"/>
                </a:solidFill>
                <a:latin typeface="Calibri"/>
              </a:rPr>
              <a:t>Sim — não rastreadas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3685032"/>
            <a:ext cx="41148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375818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44E"/>
                </a:solidFill>
                <a:latin typeface="Calibri"/>
              </a:rPr>
              <a:t>Zero — 100% capturado em DLQ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279392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435254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Investigação de erros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4279392"/>
            <a:ext cx="32004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4352544"/>
            <a:ext cx="3090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312F"/>
                </a:solidFill>
                <a:latin typeface="Calibri"/>
              </a:rPr>
              <a:t>Horas (manual)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4279392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08392" y="435254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44E"/>
                </a:solidFill>
                <a:latin typeface="Calibri"/>
              </a:rPr>
              <a:t>Segundos — relatório HTML por 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873752"/>
            <a:ext cx="41148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494690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Auditoria LGPD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4873752"/>
            <a:ext cx="32004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4946904"/>
            <a:ext cx="3090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312F"/>
                </a:solidFill>
                <a:latin typeface="Calibri"/>
              </a:rPr>
              <a:t>Sem rastreabilidade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35240" y="4873752"/>
            <a:ext cx="4114800" cy="59436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08392" y="4946904"/>
            <a:ext cx="40050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44E"/>
                </a:solidFill>
                <a:latin typeface="Calibri"/>
              </a:rPr>
              <a:t>Lineage completo — Spec_Key + Snapshots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Por Que Agora: O POC Como 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176D3"/>
                </a:solidFill>
                <a:latin typeface="Calibri"/>
              </a:rPr>
              <a:t>"O PLM é o primeiro de quatro agentes."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11521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76D3"/>
                </a:solidFill>
                <a:latin typeface="Calibri"/>
              </a:rPr>
              <a:t>Agente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2D60"/>
                </a:solidFill>
                <a:latin typeface="Calibri"/>
              </a:rPr>
              <a:t>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11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Atendimento ao cliente via base de conhecimento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68880"/>
            <a:ext cx="11521440" cy="1005840"/>
          </a:xfrm>
          <a:prstGeom prst="rect">
            <a:avLst/>
          </a:prstGeom>
          <a:solidFill>
            <a:srgbClr val="032D6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76D3"/>
                </a:solidFill>
                <a:latin typeface="Calibri"/>
              </a:rPr>
              <a:t>Agente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PLM — ESTE POC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926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8FF"/>
                </a:solidFill>
                <a:latin typeface="Calibri"/>
              </a:rPr>
              <a:t>Referência arquitetural para todos os outros agentes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73152" cy="100584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66160"/>
            <a:ext cx="11521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76D3"/>
                </a:solidFill>
                <a:latin typeface="Calibri"/>
              </a:rPr>
              <a:t>Agente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2D60"/>
                </a:solidFill>
                <a:latin typeface="Calibri"/>
              </a:rPr>
              <a:t>Next Best Offer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023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Propensão de oferta via sistema NBO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480560"/>
            <a:ext cx="115214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720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76D3"/>
                </a:solidFill>
                <a:latin typeface="Calibri"/>
              </a:rPr>
              <a:t>Agente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32D60"/>
                </a:solidFill>
                <a:latin typeface="Calibri"/>
              </a:rPr>
              <a:t>Lead Qualification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37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Qualificação de leads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5943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32D60"/>
                </a:solidFill>
                <a:latin typeface="Calibri"/>
              </a:rPr>
              <a:t>Aprovando este POC, a Claro aprova a arquitetura da plataforma completa.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Plano de Entrega: 8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0" cy="640080"/>
          </a:xfrm>
          <a:prstGeom prst="rect">
            <a:avLst/>
          </a:prstGeom>
          <a:solidFill>
            <a:srgbClr val="032D6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5448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1463040"/>
            <a:ext cx="3474720" cy="640080"/>
          </a:xfrm>
          <a:prstGeom prst="rect">
            <a:avLst/>
          </a:prstGeom>
          <a:solidFill>
            <a:srgbClr val="032D6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155448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463040"/>
            <a:ext cx="6949440" cy="640080"/>
          </a:xfrm>
          <a:prstGeom prst="rect">
            <a:avLst/>
          </a:prstGeom>
          <a:solidFill>
            <a:srgbClr val="032D6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55448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 Que Acontece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03120"/>
            <a:ext cx="1097280" cy="640080"/>
          </a:xfrm>
          <a:prstGeom prst="rect">
            <a:avLst/>
          </a:prstGeom>
          <a:solidFill>
            <a:srgbClr val="F0F0F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19456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1–2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2103120"/>
            <a:ext cx="3474720" cy="640080"/>
          </a:xfrm>
          <a:prstGeom prst="rect">
            <a:avLst/>
          </a:prstGeom>
          <a:solidFill>
            <a:srgbClr val="F0F0F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2" y="219456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Descoberta &amp; Arquitetura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103120"/>
            <a:ext cx="6949440" cy="640080"/>
          </a:xfrm>
          <a:prstGeom prst="rect">
            <a:avLst/>
          </a:prstGeom>
          <a:solidFill>
            <a:srgbClr val="F0F0F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219456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Alinhamento técnico, dependências confirmadas, registro de testes acordado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743200"/>
            <a:ext cx="1097280" cy="64008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83464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2743200"/>
            <a:ext cx="3474720" cy="64008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0472" y="283464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Sprint 1 — Fundação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743200"/>
            <a:ext cx="6949440" cy="64008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5192" y="283464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Motor de ingestão CSV + segurança e configuração de plataforma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83280"/>
            <a:ext cx="1097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47472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17320" y="3383280"/>
            <a:ext cx="3474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90472" y="347472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Sprint 2 — Motor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33832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65192" y="347472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AST Walker + compilador LLM + observabilidade e DLQ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023360"/>
            <a:ext cx="1097280" cy="64008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411480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17320" y="4023360"/>
            <a:ext cx="3474720" cy="64008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0472" y="411480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Sprint 3 — Inteligência &amp; UX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4023360"/>
            <a:ext cx="6949440" cy="64008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65192" y="411480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Agentes Admin + Ops + narrativa diagnóstica + componentes LWC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63440"/>
            <a:ext cx="1097280" cy="640080"/>
          </a:xfrm>
          <a:prstGeom prst="rect">
            <a:avLst/>
          </a:prstGeom>
          <a:solidFill>
            <a:srgbClr val="F0F0F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475488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6–7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17320" y="4663440"/>
            <a:ext cx="3474720" cy="640080"/>
          </a:xfrm>
          <a:prstGeom prst="rect">
            <a:avLst/>
          </a:prstGeom>
          <a:solidFill>
            <a:srgbClr val="F0F0F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90472" y="475488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UAT &amp; Fine-tuning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4663440"/>
            <a:ext cx="6949440" cy="640080"/>
          </a:xfrm>
          <a:prstGeom prst="rect">
            <a:avLst/>
          </a:prstGeom>
          <a:solidFill>
            <a:srgbClr val="F0F0F0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65192" y="475488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Testes de carga, run paralelo vs. BRE legado, revisão legal LGPD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03520"/>
            <a:ext cx="10972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5394960"/>
            <a:ext cx="987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17320" y="5303520"/>
            <a:ext cx="3474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90472" y="5394960"/>
            <a:ext cx="3364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Go-Live &amp; Hipercuidado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530352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5192" y="5394960"/>
            <a:ext cx="68397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Deploy em produção, transferência de conhecimento, encerramento formal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0807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32D60"/>
                </a:solidFill>
                <a:latin typeface="Calibri"/>
              </a:rPr>
              <a:t>⚠  6 pré-requisitos que a Claro precisa confirmar nas primeiras 2 semanas (sandbox, licenças, artigos de conhecimento, LGPD)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Time Salesforce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176D3"/>
                </a:solidFill>
                <a:latin typeface="Calibri"/>
              </a:rPr>
              <a:t>"A equipe que construiu este padrão."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560320" cy="4389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Papel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463040"/>
            <a:ext cx="2560320" cy="4389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536192"/>
            <a:ext cx="2450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Dedicação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463040"/>
            <a:ext cx="6492240" cy="4389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3832" y="1536192"/>
            <a:ext cx="6382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Responsabilidades-chave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01952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1168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Arquiteto Técnico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901952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01168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8 semanas — integral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80" y="1901952"/>
            <a:ext cx="6492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2" y="2011680"/>
            <a:ext cx="6382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Decisões de arquitetura, Agentforce, Einstein Trust Layer, Knowledge Transfer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07792"/>
            <a:ext cx="2560320" cy="100584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301752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Consultor Técnico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907792"/>
            <a:ext cx="2560320" cy="100584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301752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8 semanas — integral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2907792"/>
            <a:ext cx="6492240" cy="100584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3832" y="3017520"/>
            <a:ext cx="6382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Desenvolvimento Apex, LWC, testes unitários, deploys via Salesforce CLI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913632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402336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Especialista em QA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913632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402336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8 semanas — 1.5x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40680" y="3913632"/>
            <a:ext cx="6492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13832" y="4023360"/>
            <a:ext cx="6382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Estratégia de testes, validação KPIs, testes de carga, UAT facilitado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919472"/>
            <a:ext cx="2560320" cy="100584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" y="502920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Gerente de Projeto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919472"/>
            <a:ext cx="2560320" cy="100584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2" y="5029200"/>
            <a:ext cx="24505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8 semanas — dedicado, faturável*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4919472"/>
            <a:ext cx="6492240" cy="1005840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3832" y="5029200"/>
            <a:ext cx="63825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Rastreamento de milestones, coordenação de dependências, gestão de riscos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0350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* Gerente de Projeto é um recurso PS dedicado, faturável, pago diretamente pela Claro.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Riscos e Mitigações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457200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17904"/>
            <a:ext cx="446227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463040"/>
            <a:ext cx="146304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517904"/>
            <a:ext cx="13533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Probab.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463040"/>
            <a:ext cx="585216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17904"/>
            <a:ext cx="574243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Mitigação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20"/>
            <a:ext cx="4572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965960"/>
            <a:ext cx="44622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Artigos de Conhecimento não prontos na semana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1874520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1965960"/>
            <a:ext cx="13533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312F"/>
                </a:solidFill>
                <a:latin typeface="Calibri"/>
              </a:rPr>
              <a:t>Alta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874520"/>
            <a:ext cx="5852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965960"/>
            <a:ext cx="5742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Gate formal: Sprint 3 não começa sem KB confirmada. PM escalona imediatamente.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97480"/>
            <a:ext cx="4572000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2788920"/>
            <a:ext cx="44622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Licença Agentforce não ativa no sandbox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2697480"/>
            <a:ext cx="1463040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2788920"/>
            <a:ext cx="13533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0"/>
                </a:solidFill>
                <a:latin typeface="Calibri"/>
              </a:rPr>
              <a:t>Média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697480"/>
            <a:ext cx="5852160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788920"/>
            <a:ext cx="5742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PS valida via ConnectApi no fim da semana 2. Blocker escalado ao CSM Salesforce.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4572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611880"/>
            <a:ext cx="44622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Overflow em lotes &gt; 10k linhas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3520440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5192" y="3611880"/>
            <a:ext cx="13533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0"/>
                </a:solidFill>
                <a:latin typeface="Calibri"/>
              </a:rPr>
              <a:t>Média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520440"/>
            <a:ext cx="5852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611880"/>
            <a:ext cx="5742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Arquitetura assíncrona mitiga até 10k. Acima de 50k no backlog pós-POC.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43400"/>
            <a:ext cx="4572000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4434840"/>
            <a:ext cx="44622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LGPD — sign-off jurídico atrasado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4343400"/>
            <a:ext cx="1463040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65192" y="4434840"/>
            <a:ext cx="13533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F00"/>
                </a:solidFill>
                <a:latin typeface="Calibri"/>
              </a:rPr>
              <a:t>Média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343400"/>
            <a:ext cx="5852160" cy="822960"/>
          </a:xfrm>
          <a:prstGeom prst="rect">
            <a:avLst/>
          </a:prstGeom>
          <a:solidFill>
            <a:srgbClr val="F5F5F5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434840"/>
            <a:ext cx="5742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Janela da semana 6 agendada na semana 2. Sem sign-off = sem go-live. Sem exceções.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166360"/>
            <a:ext cx="45720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5257800"/>
            <a:ext cx="44622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Deploy cross-org bloqueado (CannotQuickDeployError)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5166360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65192" y="5257800"/>
            <a:ext cx="13533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2312F"/>
                </a:solidFill>
                <a:latin typeface="Calibri"/>
              </a:rPr>
              <a:t>Confirmado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5166360"/>
            <a:ext cx="5852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5257800"/>
            <a:ext cx="57424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Registro RunSpecifiedTests acordado com DevOps Claro nas semanas 1–2.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Precisamos da Claro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176D3"/>
                </a:solidFill>
                <a:latin typeface="Calibri"/>
              </a:rPr>
              <a:t>"Seis dependências. Todas resolvíveis em duas semanas."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45720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517904"/>
            <a:ext cx="384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463040"/>
            <a:ext cx="502920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1517904"/>
            <a:ext cx="495604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Pré-requisito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463040"/>
            <a:ext cx="292608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1304" y="1517904"/>
            <a:ext cx="285292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Responsável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3108960" cy="4114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7384" y="1517904"/>
            <a:ext cx="3035808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Prazo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874520"/>
            <a:ext cx="457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965960"/>
            <a:ext cx="384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1874520"/>
            <a:ext cx="5029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1965960"/>
            <a:ext cx="4956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Cadeia de sandboxes provisionada (Dev + SIT + Ibuy UAT)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874520"/>
            <a:ext cx="2926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61304" y="1965960"/>
            <a:ext cx="28529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Luciano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1874520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7384" y="1965960"/>
            <a:ext cx="30358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Fim da semana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87752"/>
            <a:ext cx="45720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679192"/>
            <a:ext cx="384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587752"/>
            <a:ext cx="502920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2679192"/>
            <a:ext cx="4956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3–5 CSVs de produção para profiling de volume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587752"/>
            <a:ext cx="292608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61304" y="2679192"/>
            <a:ext cx="28529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Lucas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2587752"/>
            <a:ext cx="310896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7384" y="2679192"/>
            <a:ext cx="30358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Fim da semana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300984"/>
            <a:ext cx="457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" y="3392424"/>
            <a:ext cx="384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300984"/>
            <a:ext cx="5029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3392424"/>
            <a:ext cx="4956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Licença Agentforce Unlimited + créditos Einstein ativos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300984"/>
            <a:ext cx="2926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61304" y="3392424"/>
            <a:ext cx="28529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Luciano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3300984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87384" y="3392424"/>
            <a:ext cx="30358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Fim da semana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014216"/>
            <a:ext cx="45720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" y="4105656"/>
            <a:ext cx="384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014216"/>
            <a:ext cx="502920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" y="4105656"/>
            <a:ext cx="4956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10–15 FAQs com Data Categories no sandbox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4014216"/>
            <a:ext cx="292608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61304" y="4105656"/>
            <a:ext cx="28529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Fabrício / Analistas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4014216"/>
            <a:ext cx="310896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87384" y="4105656"/>
            <a:ext cx="30358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Fim da semana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727448"/>
            <a:ext cx="457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" y="4818888"/>
            <a:ext cx="384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4727448"/>
            <a:ext cx="5029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" y="4818888"/>
            <a:ext cx="4956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Registro RunSpecifiedTests acordado com 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06440" y="4727448"/>
            <a:ext cx="2926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61304" y="4818888"/>
            <a:ext cx="28529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Luciano / DevOps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20" y="4727448"/>
            <a:ext cx="3108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87384" y="4818888"/>
            <a:ext cx="30358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Semanas 1–2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440680"/>
            <a:ext cx="45720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" y="5532120"/>
            <a:ext cx="384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" y="5440680"/>
            <a:ext cx="502920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104" y="5532120"/>
            <a:ext cx="495604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Janela de revisão jurídica LGPD agendada na semana 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5440680"/>
            <a:ext cx="292608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61304" y="5532120"/>
            <a:ext cx="285292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Jurídico Claro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5440680"/>
            <a:ext cx="3108960" cy="713232"/>
          </a:xfrm>
          <a:prstGeom prst="rect">
            <a:avLst/>
          </a:prstGeom>
          <a:solidFill>
            <a:srgbClr val="E8F4FD"/>
          </a:solidFill>
          <a:ln w="9525">
            <a:solidFill>
              <a:srgbClr val="017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87384" y="5532120"/>
            <a:ext cx="303580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1616"/>
                </a:solidFill>
                <a:latin typeface="Calibri"/>
              </a:rPr>
              <a:t>Agendada na semana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60350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32D60"/>
                </a:solidFill>
                <a:latin typeface="Calibri"/>
              </a:rPr>
              <a:t>O PM Salesforce rastreia todas as seis dependências desde o primeiro 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Salesforce Professional Services LATAM ·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176D3"/>
                </a:solidFill>
                <a:latin typeface="Calibri"/>
              </a:rPr>
              <a:t>"Três ações para colocar o relógio em movimento."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731520" cy="100584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Confirmar pré-requisitos de ambiente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FF"/>
                </a:solidFill>
                <a:latin typeface="Calibri"/>
              </a:rPr>
              <a:t>Luciano provisiona sandbox chain na semana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731520" cy="100584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889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Agendar kickoff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461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FF"/>
                </a:solidFill>
                <a:latin typeface="Calibri"/>
              </a:rPr>
              <a:t>TA + Lucas + Luciano para alinhar schema JSON e registro RunSpecifiedTests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731520" cy="1005840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148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Aprovar engajamento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348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D8FF"/>
                </a:solidFill>
                <a:latin typeface="Calibri"/>
              </a:rPr>
              <a:t>Confirmar modelo T&amp;M e equipe PS LATAM alocada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FFFF"/>
                </a:solidFill>
                <a:latin typeface="Calibri"/>
              </a:rPr>
              <a:t>Em 8 semanas, a Claro terá o catálogo que o negócio merece —
governado por analistas, validado em milissegundos, auditável para o LGPD.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