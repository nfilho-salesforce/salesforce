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6803136"/>
          </a:xfrm>
          <a:prstGeom prst="rect">
            <a:avLst/>
          </a:prstGeom>
          <a:gradFill rotWithShape="1">
            <a:gsLst>
              <a:gs pos="0">
                <a:srgbClr val="071D41"/>
              </a:gs>
              <a:gs pos="100000">
                <a:srgbClr val="377EC1"/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77EC1"/>
                </a:solidFill>
              </a:rPr>
              <a:t>DATAPREV · SALESFORCE PROFESSIONAL SERVICES</a:t>
            </a:r>
          </a:p>
          <a:p>
            <a:r>
              <a:rPr sz="4000" b="1">
                <a:solidFill>
                  <a:srgbClr val="FFFFFF"/>
                </a:solidFill>
              </a:rPr>
              <a:t>Data Ágil — ROM de Estimativa</a:t>
            </a:r>
          </a:p>
          <a:p>
            <a:r>
              <a:rPr sz="1800">
                <a:solidFill>
                  <a:srgbClr val="CFE2F5"/>
                </a:solidFill>
              </a:rPr>
              <a:t>Estimativa · Timeline · Perfis &amp; Horas · Comparativo Tradicional × IA-Native</a:t>
            </a:r>
          </a:p>
          <a:p>
            <a:pPr>
              <a:spcBef>
                <a:spcPts val="1800"/>
              </a:spcBef>
            </a:pPr>
            <a:r>
              <a:rPr sz="1100">
                <a:solidFill>
                  <a:srgbClr val="AFC6E0"/>
                </a:solidFill>
              </a:rPr>
              <a:t>Foco: validação de escopo e estimativa de esforço · Decision-support para planejamento — não é compromisso de prazo nem estimativa de preço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7E22CE"/>
                </a:solidFill>
              </a:rPr>
              <a:t>⚖️ Sumário executivo · delta de esforço decomposto</a:t>
            </a:r>
          </a:p>
          <a:p>
            <a:r>
              <a:rPr sz="2200" b="1">
                <a:solidFill>
                  <a:srgbClr val="FFFFFF"/>
                </a:solidFill>
              </a:rPr>
              <a:t>IA-Native entrega o mesmo escopo com ~49% menos horas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~9–14%</a:t>
            </a:r>
          </a:p>
          <a:p>
            <a:r>
              <a:rPr sz="1100" b="1">
                <a:solidFill>
                  <a:srgbClr val="64748B"/>
                </a:solidFill>
              </a:rPr>
              <a:t>mais rápido</a:t>
            </a:r>
          </a:p>
          <a:p>
            <a:r>
              <a:rPr sz="950">
                <a:solidFill>
                  <a:srgbClr val="64748B"/>
                </a:solidFill>
              </a:rPr>
              <a:t>29–54 → 25–49 sem (compressão de eficiência de IA)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47873" cy="914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3673" y="137160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~17–27%</a:t>
            </a:r>
          </a:p>
          <a:p>
            <a:r>
              <a:rPr sz="1100" b="1">
                <a:solidFill>
                  <a:srgbClr val="64748B"/>
                </a:solidFill>
              </a:rPr>
              <a:t>menos pessoas</a:t>
            </a:r>
          </a:p>
          <a:p>
            <a:r>
              <a:rPr sz="950">
                <a:solidFill>
                  <a:srgbClr val="64748B"/>
                </a:solidFill>
              </a:rPr>
              <a:t>12–15 → 10–11 no pico (pod offshore eliminado)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1371600"/>
            <a:ext cx="2647873" cy="91440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146" y="137160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~49%</a:t>
            </a:r>
          </a:p>
          <a:p>
            <a:r>
              <a:rPr sz="1100" b="1">
                <a:solidFill>
                  <a:srgbClr val="64748B"/>
                </a:solidFill>
              </a:rPr>
              <a:t>menos horas</a:t>
            </a:r>
          </a:p>
          <a:p>
            <a:r>
              <a:rPr sz="950">
                <a:solidFill>
                  <a:srgbClr val="64748B"/>
                </a:solidFill>
              </a:rPr>
              <a:t>25.254 h → 12.949 h (esforço total do programa)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6" y="1371600"/>
            <a:ext cx="2647873" cy="9144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86619" y="137160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~47%</a:t>
            </a:r>
          </a:p>
          <a:p>
            <a:r>
              <a:rPr sz="1100" b="1">
                <a:solidFill>
                  <a:srgbClr val="64748B"/>
                </a:solidFill>
              </a:rPr>
              <a:t>menos horas F0+F1</a:t>
            </a:r>
          </a:p>
          <a:p>
            <a:r>
              <a:rPr sz="950">
                <a:solidFill>
                  <a:srgbClr val="64748B"/>
                </a:solidFill>
              </a:rPr>
              <a:t>8.004 h → 4.232 h no bloco de curto prazo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6619" y="1371600"/>
            <a:ext cx="2647873" cy="91440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29184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3017520"/>
                <a:gridCol w="21945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Tradicional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IA-Native / Quantum Leap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71D41"/>
                          </a:solidFill>
                        </a:rPr>
                        <a:t>Timeline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29–54 semanas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25–49 semanas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~9–14% + rápido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71D41"/>
                          </a:solidFill>
                        </a:rPr>
                        <a:t>Equipe no pico (F2)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12–15 pessoas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10–11 pessoas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~17–27% menos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71D41"/>
                          </a:solidFill>
                        </a:rPr>
                        <a:t>Esforço total (working-point)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≈ 25.254 h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≈ 12.949 h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~49% menos horas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71D41"/>
                          </a:solidFill>
                        </a:rPr>
                        <a:t>Esforço bloco F0+F1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8.004 h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4.232 h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</a:rPr>
                        <a:t>~47% menos horas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54864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A vantagem da lane IA-Native não é atalho de escopo — é um modelo de entrega diferente: duração comprimida por IA + build absorvido por agentes sob núcleo sênior (pod offshore eliminado). Menos horas, equipe menor e prazo mais curto para o mesmo resultado. Foco desta leitura: escopo e esforço, não preço.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377EC1"/>
                </a:solidFill>
              </a:rPr>
              <a:t>📊 Estimativa · base compartilhada validada</a:t>
            </a:r>
          </a:p>
          <a:p>
            <a:r>
              <a:rPr sz="2200" b="1">
                <a:solidFill>
                  <a:srgbClr val="FFFFFF"/>
                </a:solidFill>
              </a:rPr>
              <a:t>Dez épicas, um escopo, dois modelos de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10</a:t>
            </a:r>
          </a:p>
          <a:p>
            <a:r>
              <a:rPr sz="1100" b="1">
                <a:solidFill>
                  <a:srgbClr val="64748B"/>
                </a:solidFill>
              </a:rPr>
              <a:t>épicas</a:t>
            </a:r>
          </a:p>
          <a:p>
            <a:r>
              <a:rPr sz="950">
                <a:solidFill>
                  <a:srgbClr val="64748B"/>
                </a:solidFill>
              </a:rPr>
              <a:t>do autoatendimento financeiro à governança (E10)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647873" cy="91440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3673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3</a:t>
            </a:r>
          </a:p>
          <a:p>
            <a:r>
              <a:rPr sz="1100" b="1">
                <a:solidFill>
                  <a:srgbClr val="64748B"/>
                </a:solidFill>
              </a:rPr>
              <a:t>épicas XL</a:t>
            </a:r>
          </a:p>
          <a:p>
            <a:r>
              <a:rPr sz="950">
                <a:solidFill>
                  <a:srgbClr val="64748B"/>
                </a:solidFill>
              </a:rPr>
              <a:t>E08 evolutivas · E09 preditivo · E10 governança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1325880"/>
            <a:ext cx="2647873" cy="9144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146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3·3·1</a:t>
            </a:r>
          </a:p>
          <a:p>
            <a:r>
              <a:rPr sz="1100" b="1">
                <a:solidFill>
                  <a:srgbClr val="64748B"/>
                </a:solidFill>
              </a:rPr>
              <a:t>L · M · S</a:t>
            </a:r>
          </a:p>
          <a:p>
            <a:r>
              <a:rPr sz="950">
                <a:solidFill>
                  <a:srgbClr val="64748B"/>
                </a:solidFill>
              </a:rPr>
              <a:t>predominância L/XL — shape multi-cloud alto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6" y="1325880"/>
            <a:ext cx="2647873" cy="914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86619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1/8/1</a:t>
            </a:r>
          </a:p>
          <a:p>
            <a:r>
              <a:rPr sz="1100" b="1">
                <a:solidFill>
                  <a:srgbClr val="64748B"/>
                </a:solidFill>
              </a:rPr>
              <a:t>Confirm/Assum/Unk</a:t>
            </a:r>
          </a:p>
          <a:p>
            <a:r>
              <a:rPr sz="950">
                <a:solidFill>
                  <a:srgbClr val="64748B"/>
                </a:solidFill>
              </a:rPr>
              <a:t>1º rascunho — Fase 0 resolve 68 gaps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6619" y="1325880"/>
            <a:ext cx="2647873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154680"/>
          <a:ext cx="10789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822960"/>
                <a:gridCol w="1371600"/>
                <a:gridCol w="40233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Épica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Tam.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Confiança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Produto principal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Consultas Financeiras Self-Service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L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 + MuleSoft (Protheus)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E02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Autoatendimento Chamados Técnicos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M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 + Slack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E03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Intelligence Executiva Mobile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M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 + Analytics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E04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Knowledge Base Normativas RH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L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 (RAG)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E05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Agendamento Automatizado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Confirmed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 + Slack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E06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Adoção CRM via Conversação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L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 + CRM Totvs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E07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Abertura de Chamados Assistida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M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E08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Gestão de Demandas Evolutivas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XL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Unknown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Agentforce + MuleSoft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E09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Intelligence Preditiva e Recomendações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XL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Data Cloud + Einstein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71D41"/>
                          </a:solidFill>
                        </a:rPr>
                        <a:t>E10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Governança, Compliance e Change Mgmt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XL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Assumed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</a:rPr>
                        <a:t>Transversal (todas as fases)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4748B"/>
                </a:solidFill>
              </a:rPr>
              <a:t>ⓘ Tamanhos em camisetas expressam complexidade relativa, não esforço — não são hora-conversíveis. Horas derivadas top-down (roster × semanas de fase). Fonte: data/estimates.json.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0E7490"/>
                </a:solidFill>
              </a:rPr>
              <a:t>📅 Fases Propostas · derivada top-down</a:t>
            </a:r>
          </a:p>
          <a:p>
            <a:r>
              <a:rPr sz="2200" b="1">
                <a:solidFill>
                  <a:srgbClr val="FFFFFF"/>
                </a:solidFill>
              </a:rPr>
              <a:t>Faixa benchmark: 29–54 sem (Tradicional) · 25–49 (IA-Native)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29–54</a:t>
            </a:r>
          </a:p>
          <a:p>
            <a:r>
              <a:rPr sz="1100" b="1">
                <a:solidFill>
                  <a:srgbClr val="64748B"/>
                </a:solidFill>
              </a:rPr>
              <a:t>sem · Tradicional</a:t>
            </a:r>
          </a:p>
          <a:p>
            <a:r>
              <a:rPr sz="950">
                <a:solidFill>
                  <a:srgbClr val="64748B"/>
                </a:solidFill>
              </a:rPr>
              <a:t>baseline Multi-Cloud High 26–40 + adders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647873" cy="91440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3673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25–49</a:t>
            </a:r>
          </a:p>
          <a:p>
            <a:r>
              <a:rPr sz="1100" b="1">
                <a:solidFill>
                  <a:srgbClr val="64748B"/>
                </a:solidFill>
              </a:rPr>
              <a:t>sem · IA-Native</a:t>
            </a:r>
          </a:p>
          <a:p>
            <a:r>
              <a:rPr sz="950">
                <a:solidFill>
                  <a:srgbClr val="64748B"/>
                </a:solidFill>
              </a:rPr>
              <a:t>comprimida pela banda de eficiência (Low ~10–14%)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3673" y="1325880"/>
            <a:ext cx="2647873" cy="914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146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+35%</a:t>
            </a:r>
          </a:p>
          <a:p>
            <a:r>
              <a:rPr sz="1100" b="1">
                <a:solidFill>
                  <a:srgbClr val="64748B"/>
                </a:solidFill>
              </a:rPr>
              <a:t>adders de risco</a:t>
            </a:r>
          </a:p>
          <a:p>
            <a:r>
              <a:rPr sz="950">
                <a:solidFill>
                  <a:srgbClr val="64748B"/>
                </a:solidFill>
              </a:rPr>
              <a:t>+15% regulado · +10% cliente novo · +10% confiança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6" y="1325880"/>
            <a:ext cx="2647873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86619" y="1325880"/>
            <a:ext cx="2647873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01168"/>
          <a:lstStyle/>
          <a:p>
            <a:pPr algn="ctr"/>
            <a:r>
              <a:rPr sz="2600" b="1">
                <a:solidFill>
                  <a:srgbClr val="071D41"/>
                </a:solidFill>
              </a:rPr>
              <a:t>4</a:t>
            </a:r>
          </a:p>
          <a:p>
            <a:r>
              <a:rPr sz="1100" b="1">
                <a:solidFill>
                  <a:srgbClr val="64748B"/>
                </a:solidFill>
              </a:rPr>
              <a:t>fases</a:t>
            </a:r>
          </a:p>
          <a:p>
            <a:r>
              <a:rPr sz="950">
                <a:solidFill>
                  <a:srgbClr val="64748B"/>
                </a:solidFill>
              </a:rPr>
              <a:t>F0 → F1 → F2 → F3 (working-point Trad. 40 sem)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6619" y="1325880"/>
            <a:ext cx="2647873" cy="9144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 rIns="109728"/>
          <a:lstStyle/>
          <a:p>
            <a:pPr algn="ctr"/>
            <a:r>
              <a:rPr sz="1100" b="1">
                <a:solidFill>
                  <a:srgbClr val="377EC1"/>
                </a:solidFill>
              </a:rPr>
              <a:t>F0 · 6 sem</a:t>
            </a:r>
          </a:p>
          <a:p>
            <a:r>
              <a:rPr sz="1300" b="1">
                <a:solidFill>
                  <a:srgbClr val="071D41"/>
                </a:solidFill>
              </a:rPr>
              <a:t>Discovery &amp; Architecture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</a:rPr>
              <a:t>Resolução G1002 (Protheus TI+Jur+DPO); auditoria de volumetrias; validação API Clarity; RACI + charter. Aceite: bloqueadores resolvidos, arquitetura assinada, confiança ≥70%.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2697480" cy="91440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32004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 rIns="109728"/>
          <a:lstStyle/>
          <a:p>
            <a:pPr algn="ctr"/>
            <a:r>
              <a:rPr sz="1100" b="1">
                <a:solidFill>
                  <a:srgbClr val="0E7490"/>
                </a:solidFill>
              </a:rPr>
              <a:t>F1 · 10 sem</a:t>
            </a:r>
          </a:p>
          <a:p>
            <a:r>
              <a:rPr sz="1300" b="1">
                <a:solidFill>
                  <a:srgbClr val="071D41"/>
                </a:solidFill>
              </a:rPr>
              <a:t>Foundation / Quick Wins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</a:rPr>
              <a:t>E01–E05, E10 (read-only); 5 agentes de Fase 1 (J1, J2, J5, J7, J8); piloto 20–50 early adopters. Aceite: jornadas read-only em produção, piloto validado.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200400"/>
            <a:ext cx="2697480" cy="914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 rIns="109728"/>
          <a:lstStyle/>
          <a:p>
            <a:pPr algn="ctr"/>
            <a:r>
              <a:rPr sz="1100" b="1">
                <a:solidFill>
                  <a:srgbClr val="C2410C"/>
                </a:solidFill>
              </a:rPr>
              <a:t>F2 · 14 sem · pico</a:t>
            </a:r>
          </a:p>
          <a:p>
            <a:r>
              <a:rPr sz="1300" b="1">
                <a:solidFill>
                  <a:srgbClr val="071D41"/>
                </a:solidFill>
              </a:rPr>
              <a:t>Expansion / Controlled Writes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</a:rPr>
              <a:t>E06, E07, E10; escritas controladas; conectores MuleSoft dos 6 legados; CRM Totvs; hardening. Aceite: escritas governadas em produção.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00400"/>
            <a:ext cx="2697480" cy="91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32004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 rIns="109728"/>
          <a:lstStyle/>
          <a:p>
            <a:pPr algn="ctr"/>
            <a:r>
              <a:rPr sz="1100" b="1">
                <a:solidFill>
                  <a:srgbClr val="7E22CE"/>
                </a:solidFill>
              </a:rPr>
              <a:t>F3 · 10 sem</a:t>
            </a:r>
          </a:p>
          <a:p>
            <a:r>
              <a:rPr sz="1300" b="1">
                <a:solidFill>
                  <a:srgbClr val="071D41"/>
                </a:solidFill>
              </a:rPr>
              <a:t>Proactive Intelligence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</a:rPr>
              <a:t>E08, E09, E10; Data Cloud (Pronto! + CRM CDC); modelos Einstein (SLA, churn); hypercare. Aceite: camada preditiva ativa, handoff.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200400"/>
            <a:ext cx="2697480" cy="9144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4748B"/>
                </a:solidFill>
              </a:rPr>
              <a:t>ⓘ Derivada top-down do shape do engajamento (classificação paramétrica de benchmark), não soma bottom-up. Disclaimer de Benchmark aplica. Working-points são pontos representativos, não compromissos de prazo.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377EC1"/>
                </a:solidFill>
              </a:rPr>
              <a:t>🗓️ Timeline Fase 1 · macro atividades &amp; entregas</a:t>
            </a:r>
          </a:p>
          <a:p>
            <a:r>
              <a:rPr sz="2200" b="1">
                <a:solidFill>
                  <a:srgbClr val="FFFFFF"/>
                </a:solidFill>
              </a:rPr>
              <a:t>Timeline gráfica das 16 primeiras semanas (F0=6 + F1=10) · macro entregas e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417320"/>
            <a:ext cx="3303155" cy="310896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FASE 0 · Discovery &amp; Architecture (6 sem)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0675" y="1417320"/>
            <a:ext cx="5505259" cy="31089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FASE 1 · Foundation / Quick Wins (10 sem)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Governança &amp; bloqueadores (G1002)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83664"/>
            <a:ext cx="2202103" cy="256032"/>
          </a:xfrm>
          <a:prstGeom prst="round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Tri-party TI+Jur+DPO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Auditoria de volumetrias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267712"/>
            <a:ext cx="2752629" cy="256032"/>
          </a:xfrm>
          <a:prstGeom prst="round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G0102/0201/0302/0701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96896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Setup Workspace Slack / 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8045" y="2651760"/>
            <a:ext cx="2752629" cy="256032"/>
          </a:xfrm>
          <a:prstGeom prst="round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Segregação G0101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80944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Desenho de arquitetura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8571" y="3035808"/>
            <a:ext cx="2202103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Arquitetura + API Clarity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364992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APIs read-only (MuleSoft)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0675" y="3419856"/>
            <a:ext cx="2752629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6 legados · 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49040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Agentes Agentforce (F1: J1,J2,J5,J7,J8)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0675" y="3803904"/>
            <a:ext cx="3853681" cy="25603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E01–E05 · 5 agentes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33088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RAG base normativa (E04)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1201" y="4187952"/>
            <a:ext cx="2752629" cy="256032"/>
          </a:xfrm>
          <a:prstGeom prst="round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Knowledge RH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17136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Piloto + usability (20–50)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3305" y="4572000"/>
            <a:ext cx="2752629" cy="256032"/>
          </a:xfrm>
          <a:prstGeom prst="round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Early adopters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1184"/>
            <a:ext cx="2560320" cy="384048"/>
          </a:xfrm>
          <a:prstGeom prst="rect">
            <a:avLst/>
          </a:prstGeom>
          <a:noFill/>
        </p:spPr>
        <p:txBody>
          <a:bodyPr wrap="square" tIns="25400">
            <a:spAutoFit/>
          </a:bodyPr>
          <a:lstStyle/>
          <a:p>
            <a:r>
              <a:rPr sz="950" b="1">
                <a:solidFill>
                  <a:srgbClr val="071D41"/>
                </a:solidFill>
              </a:rPr>
              <a:t>Change Mgmt / treinamento (E10)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1727" y="4956048"/>
            <a:ext cx="4404207" cy="25603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Comunicação + adoção</a:t>
            </a:r>
          </a:p>
        </p:txBody>
      </p:sp>
      <p:sp>
        <p:nvSpPr>
          <p:cNvPr id="26" name="Diamond 25"/>
          <p:cNvSpPr/>
          <p:nvPr/>
        </p:nvSpPr>
        <p:spPr>
          <a:xfrm>
            <a:off x="6220091" y="5303520"/>
            <a:ext cx="201168" cy="201168"/>
          </a:xfrm>
          <a:prstGeom prst="diamond">
            <a:avLst/>
          </a:prstGeom>
          <a:solidFill>
            <a:srgbClr val="FFCD07"/>
          </a:solidFill>
          <a:ln w="19050">
            <a:solidFill>
              <a:srgbClr val="071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6275" y="5559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71D41"/>
                </a:solidFill>
              </a:rPr>
              <a:t>M0 · fim F0
arquitetura assinada (≥70%)</a:t>
            </a:r>
          </a:p>
        </p:txBody>
      </p:sp>
      <p:sp>
        <p:nvSpPr>
          <p:cNvPr id="28" name="Diamond 27"/>
          <p:cNvSpPr/>
          <p:nvPr/>
        </p:nvSpPr>
        <p:spPr>
          <a:xfrm>
            <a:off x="11725351" y="5303520"/>
            <a:ext cx="201168" cy="201168"/>
          </a:xfrm>
          <a:prstGeom prst="diamond">
            <a:avLst/>
          </a:prstGeom>
          <a:solidFill>
            <a:srgbClr val="FFCD07"/>
          </a:solidFill>
          <a:ln w="19050">
            <a:solidFill>
              <a:srgbClr val="071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11535" y="55595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71D41"/>
                </a:solidFill>
              </a:rPr>
              <a:t>M1 · fim F1
piloto validado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28523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</a:rPr>
              <a:t>🎯 Milestones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4748B"/>
                </a:solidFill>
              </a:rPr>
              <a:t>ⓘ Escala em semanas de calendário (working-point Tradicional, 16 sem). Barras = janelas indicativas, não datas. Losango = milestone com critério de aceite. Lane IA-Native comprime para 14 sem (F0=5 + F1=9). Fonte: rom-estimativa-dual-track.md.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0E7490"/>
                </a:solidFill>
              </a:rPr>
              <a:t>🗓️ Fases 0 e 1 · macro atividades, entregáveis e milestones</a:t>
            </a:r>
          </a:p>
          <a:p>
            <a:r>
              <a:rPr sz="2200" b="1">
                <a:solidFill>
                  <a:srgbClr val="FFFFFF"/>
                </a:solidFill>
              </a:rPr>
              <a:t>Nível L1/L2 — não backlog granular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37160"/>
          <a:lstStyle/>
          <a:p>
            <a:pPr algn="ctr"/>
            <a:r>
              <a:rPr b="1" sz="1200">
                <a:solidFill>
                  <a:srgbClr val="377EC1"/>
                </a:solidFill>
              </a:rPr>
              <a:t>F0 · Macro atividades</a:t>
            </a:r>
          </a:p>
          <a:p>
            <a:r>
              <a:rPr sz="850">
                <a:solidFill>
                  <a:srgbClr val="1E293B"/>
                </a:solidFill>
              </a:rPr>
              <a:t>• Resolução de bloqueadores: aprovação tri-party G1002 (Protheus TI+Jur+DPO); modelo de perfil de acesso.</a:t>
            </a:r>
          </a:p>
          <a:p>
            <a:r>
              <a:rPr sz="850">
                <a:solidFill>
                  <a:srgbClr val="1E293B"/>
                </a:solidFill>
              </a:rPr>
              <a:t>• Auditoria de volumetrias (G0102/0201/0302/0701); baseline de capacidade.</a:t>
            </a:r>
          </a:p>
          <a:p>
            <a:r>
              <a:rPr sz="850">
                <a:solidFill>
                  <a:srgbClr val="1E293B"/>
                </a:solidFill>
              </a:rPr>
              <a:t>• Discovery técnico &amp; arquitetura: validação API Clarity; desenho de alto nível.</a:t>
            </a:r>
          </a:p>
          <a:p>
            <a:r>
              <a:rPr sz="850">
                <a:solidFill>
                  <a:srgbClr val="1E293B"/>
                </a:solidFill>
              </a:rPr>
              <a:t>• Setup Slack: segregação de Workspace / Enterprise Grid (G0101).</a:t>
            </a:r>
          </a:p>
          <a:p>
            <a:r>
              <a:rPr sz="850">
                <a:solidFill>
                  <a:srgbClr val="1E293B"/>
                </a:solidFill>
              </a:rPr>
              <a:t>• Governança: workshop RACI + charter; confiança 45% → ≥70%.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73152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5352" y="1417320"/>
            <a:ext cx="54864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8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37160"/>
          <a:lstStyle/>
          <a:p>
            <a:pPr algn="ctr"/>
            <a:r>
              <a:rPr b="1" sz="1200">
                <a:solidFill>
                  <a:srgbClr val="168821"/>
                </a:solidFill>
              </a:rPr>
              <a:t>F0 · Entregáveis + Milestone M0</a:t>
            </a:r>
          </a:p>
          <a:p>
            <a:r>
              <a:rPr sz="850">
                <a:solidFill>
                  <a:srgbClr val="1E293B"/>
                </a:solidFill>
              </a:rPr>
              <a:t>📄 Aprovação tri-party G1002 registrada.</a:t>
            </a:r>
          </a:p>
          <a:p>
            <a:r>
              <a:rPr sz="850">
                <a:solidFill>
                  <a:srgbClr val="1E293B"/>
                </a:solidFill>
              </a:rPr>
              <a:t>📄 Relatório de auditoria de volumetrias.</a:t>
            </a:r>
          </a:p>
          <a:p>
            <a:r>
              <a:rPr sz="850">
                <a:solidFill>
                  <a:srgbClr val="1E293B"/>
                </a:solidFill>
              </a:rPr>
              <a:t>📄 Documento de arquitetura assinado.</a:t>
            </a:r>
          </a:p>
          <a:p>
            <a:r>
              <a:rPr sz="850">
                <a:solidFill>
                  <a:srgbClr val="1E293B"/>
                </a:solidFill>
              </a:rPr>
              <a:t>📄 Workspace Slack / Grid segregado.</a:t>
            </a:r>
          </a:p>
          <a:p>
            <a:r>
              <a:rPr sz="850">
                <a:solidFill>
                  <a:srgbClr val="1E293B"/>
                </a:solidFill>
              </a:rPr>
              <a:t>📄 RACI + charter publicados.</a:t>
            </a:r>
          </a:p>
          <a:p>
            <a:r>
              <a:rPr sz="850">
                <a:solidFill>
                  <a:srgbClr val="1E293B"/>
                </a:solidFill>
              </a:rPr>
              <a:t>🎯 M0: bloqueadores resolvidos · arquitetura assinada · ≥70%. Sem M0, F1 não abre.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417320"/>
            <a:ext cx="5486400" cy="73152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54864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37160"/>
          <a:lstStyle/>
          <a:p>
            <a:pPr algn="ctr"/>
            <a:r>
              <a:rPr b="1" sz="1200">
                <a:solidFill>
                  <a:srgbClr val="0E7490"/>
                </a:solidFill>
              </a:rPr>
              <a:t>F1 · Macro atividades</a:t>
            </a:r>
          </a:p>
          <a:p>
            <a:r>
              <a:rPr sz="850">
                <a:solidFill>
                  <a:srgbClr val="1E293B"/>
                </a:solidFill>
              </a:rPr>
              <a:t>• APIs read-only (MuleSoft) sobre os 6 legados, com perfil de acesso.</a:t>
            </a:r>
          </a:p>
          <a:p>
            <a:r>
              <a:rPr sz="850">
                <a:solidFill>
                  <a:srgbClr val="1E293B"/>
                </a:solidFill>
              </a:rPr>
              <a:t>• Config. de agentes Agentforce J1, J2, J5, J7, J8 (E01–E05).</a:t>
            </a:r>
          </a:p>
          <a:p>
            <a:r>
              <a:rPr sz="850">
                <a:solidFill>
                  <a:srgbClr val="1E293B"/>
                </a:solidFill>
              </a:rPr>
              <a:t>• RAG da base normativa de RH (E04).</a:t>
            </a:r>
          </a:p>
          <a:p>
            <a:r>
              <a:rPr sz="850">
                <a:solidFill>
                  <a:srgbClr val="1E293B"/>
                </a:solidFill>
              </a:rPr>
              <a:t>• Design conversacional: fluxos, tom, fallback, loop humano.</a:t>
            </a:r>
          </a:p>
          <a:p>
            <a:r>
              <a:rPr sz="850">
                <a:solidFill>
                  <a:srgbClr val="1E293B"/>
                </a:solidFill>
              </a:rPr>
              <a:t>• Piloto + usability com 20–50 early adopters.</a:t>
            </a:r>
          </a:p>
          <a:p>
            <a:r>
              <a:rPr sz="850">
                <a:solidFill>
                  <a:srgbClr val="1E293B"/>
                </a:solidFill>
              </a:rPr>
              <a:t>• Change Management inicial (E10): comunicação + treinamento.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548640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4023360"/>
            <a:ext cx="54864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8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46304" rIns="137160"/>
          <a:lstStyle/>
          <a:p>
            <a:pPr algn="ctr"/>
            <a:r>
              <a:rPr b="1" sz="1200">
                <a:solidFill>
                  <a:srgbClr val="168821"/>
                </a:solidFill>
              </a:rPr>
              <a:t>F1 · Entregáveis + Milestone M1</a:t>
            </a:r>
          </a:p>
          <a:p>
            <a:r>
              <a:rPr sz="850">
                <a:solidFill>
                  <a:srgbClr val="1E293B"/>
                </a:solidFill>
              </a:rPr>
              <a:t>🚀 Jornadas E01–E05 (read-only) em produção.</a:t>
            </a:r>
          </a:p>
          <a:p>
            <a:r>
              <a:rPr sz="850">
                <a:solidFill>
                  <a:srgbClr val="1E293B"/>
                </a:solidFill>
              </a:rPr>
              <a:t>🚀 E10 governança / trilha de auditoria read-only.</a:t>
            </a:r>
          </a:p>
          <a:p>
            <a:r>
              <a:rPr sz="850">
                <a:solidFill>
                  <a:srgbClr val="1E293B"/>
                </a:solidFill>
              </a:rPr>
              <a:t>🚀 5 agentes de Fase 1 (J1, J2, J5, J7, J8) em operação inicial.</a:t>
            </a:r>
          </a:p>
          <a:p>
            <a:r>
              <a:rPr sz="850">
                <a:solidFill>
                  <a:srgbClr val="1E293B"/>
                </a:solidFill>
              </a:rPr>
              <a:t>🚀 Piloto validado + baseline de métricas.</a:t>
            </a:r>
          </a:p>
          <a:p>
            <a:r>
              <a:rPr sz="850">
                <a:solidFill>
                  <a:srgbClr val="1E293B"/>
                </a:solidFill>
              </a:rPr>
              <a:t>🚀 Playbook de Change + 1º ciclo de treinamento.</a:t>
            </a:r>
          </a:p>
          <a:p>
            <a:r>
              <a:rPr sz="850">
                <a:solidFill>
                  <a:srgbClr val="1E293B"/>
                </a:solidFill>
              </a:rPr>
              <a:t>🎯 M1: jornadas read-only em produção · piloto validado.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4023360"/>
            <a:ext cx="5486400" cy="73152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0E7490"/>
                </a:solidFill>
              </a:rPr>
              <a:t>🔌 Fase 1 · integrações &amp; agentes</a:t>
            </a:r>
          </a:p>
          <a:p>
            <a:r>
              <a:rPr sz="2200" b="1">
                <a:solidFill>
                  <a:srgbClr val="FFFFFF"/>
                </a:solidFill>
              </a:rPr>
              <a:t>O que cada jornada faz e a qual legado conecta (integração read-only)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3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/>
            <a:r>
              <a:rPr sz="1000">
                <a:solidFill>
                  <a:srgbClr val="1E293B"/>
                </a:solidFill>
              </a:rPr>
              <a:t>Cada jornada é um agente Agentforce (superfície = Slack) + uma integração MuleSoft read-only que expõe um legado sem reescrevê-lo. Na Fase 1 o acesso é somente leitura — as escritas controladas entram na Fase 2.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03120"/>
          <a:ext cx="1127455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49039"/>
                <a:gridCol w="3840480"/>
                <a:gridCol w="941832"/>
              </a:tblGrid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</a:rPr>
                        <a:t>Épica · agente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Objetivo (o que resolve)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Legado conectado · integração F1 (read-only)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Superfície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71D41"/>
                          </a:solidFill>
                        </a:rPr>
                        <a:t>E01 · Consultas Financeiras (J1)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Cliente B2B consulta títulos/faturas e situação financeira em linguagem natural, sem chamado nem N1.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Protheus (ERP fin.) via MuleSoft — leitura de títulos. 🔴 depende do G1002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Slack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71D41"/>
                          </a:solidFill>
                        </a:rPr>
                        <a:t>E02 · Autoatendimento Chamados (J2)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Consulta status, histórico e andamento de chamados por conversa, deslocando o N1 humano.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Pronto (ServiceNow) via MuleSoft — leitura de status/histórico.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Slack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71D41"/>
                          </a:solidFill>
                        </a:rPr>
                        <a:t>E03 · Intelligence Executiva (J5)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Gestor consulta pipeline/forecast e indicadores comerciais no celular, sem relatório manual.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CRM Totvs (pipeline/forecast/contratos) via MuleSoft — KPIs (leitura).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Slack / mobile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71D41"/>
                          </a:solidFill>
                        </a:rPr>
                        <a:t>E04 · Knowledge Base RH (J7 · RAG)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Servidor pergunta sobre normas de RH e recebe resposta com citação da fonte (LGPD/TCU).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Portal Conexão (SharePoint) — RAG sobre base normativa de RH (não transacional).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Slack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71D41"/>
                          </a:solidFill>
                        </a:rPr>
                        <a:t>E05 · Agendamento (J8) — Confirmed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Consulta disponibilidade e organiza agendamentos por conversa.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Microsoft Teams (calendário) via Graph API — leitura; escrita entra na F2.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Slack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71D41"/>
                          </a:solidFill>
                        </a:rPr>
                        <a:t>E10 · Governança &amp; Compliance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Trilha de auditoria LGPD/TCU nativa, enforcement de perfil de acesso e observabilidade — pré-condição.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Enforcement de perfil no MuleSoft + auditoria sobre todas as integrações read-only.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4748B"/>
                </a:solidFill>
              </a:rPr>
              <a:t>ⓘ E01 (Protheus) só é viável com o bloqueador G1002 resolvido na F0 (aprovação tri-party TI+Jur+DPO); sem isso no M0, E01 sai da F1. Protheus, Pronto (ServiceNow), CRM Totvs, Portal Conexão (SharePoint) e Microsoft Teams são Confirmed conforme discovery; módulos/endpoints são detalhados no fechamento de escopo (F0). Numeração de jornadas (J1,J2,J5,J7,J8 na F1) é não-sequencial — J3/J4/J6 pertencem a épicas de F2/F3. Fonte: rom-estimativa-dual-track.md + data/epics.json.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377EC1"/>
                </a:solidFill>
              </a:rPr>
              <a:t>🧭 Mapa de jornadas J1–J10 · programa completo</a:t>
            </a:r>
          </a:p>
          <a:p>
            <a:r>
              <a:rPr sz="2200" b="1">
                <a:solidFill>
                  <a:srgbClr val="FFFFFF"/>
                </a:solidFill>
              </a:rPr>
              <a:t>As 10 jornadas do programa, a épica/função e o legado que cada uma conecta — a Fase 1 entrega 5 (J1, J2, J5, J7, J8)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455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297680"/>
                <a:gridCol w="4480560"/>
                <a:gridCol w="1307592"/>
              </a:tblGrid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Jornada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Épica · função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Legado conectado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E01 · Consultas Financeiras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Protheus (ERP financeiro)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J2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E02 · Autoatendimento de Chamados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Pronto (ServiceNow)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J3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E07 · Abertura de Chamados Assistida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Pronto (ServiceNow)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2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J4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E06 · Adoção de CRM via Conversação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CRM Totvs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2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J5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E03 · Intelligence Executiva Mobile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CRM Totvs (pipeline/forecast)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J6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E08 · Gestão de Demandas Evolutivas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Clarity (Broadcom)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3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J7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E04 · Knowledge Base de RH (RAG)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Portal Conexão (SharePoint)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J8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E05 · Agendamento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Microsoft Teams (calendário/Graph API)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J9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E09 · Intelligence Preditiva (SLA)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Pronto (ServiceNow) + Data Cloud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3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71D41"/>
                          </a:solidFill>
                        </a:rPr>
                        <a:t>J10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E09 · Intelligence Preditiva (comercial)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CRM Totvs + Data Cloud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Fase 3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4748B"/>
                </a:solidFill>
              </a:rPr>
              <a:t>ⓘ Numeração de jornadas é NÃO-sequencial: a Fase 1 entrega J1, J2, J5, J7, J8 (não J1–J5). A épica E09 concentra duas jornadas (J9 SLA + J10 comercial). São 6 legados distintos: Protheus, Pronto (ServiceNow), CRM Totvs, Portal Conexão (SharePoint), Microsoft Teams e Clarity (Broadcom). Fonte: data/epics.json + rom-estimativa-dual-track.md.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C2410C"/>
                </a:solidFill>
              </a:rPr>
              <a:t>🔑 Itens G* · gaps que gateiam a Fase 1</a:t>
            </a:r>
          </a:p>
          <a:p>
            <a:r>
              <a:rPr sz="2200" b="1">
                <a:solidFill>
                  <a:srgbClr val="FFFFFF"/>
                </a:solidFill>
              </a:rPr>
              <a:t>Perguntas e bloqueadores da discovery (esquema G&lt;épica&gt;&lt;nº&gt;) que precisam de resposta para liberar cada jornada — 68 gaps no total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5696712"/>
              </a:tblGrid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Grupo (fase/jornada)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Itens G*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 que gateiam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Fundação &amp; bloqueadores (F0)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G1002 🔴 · G1001 · G0101 · G9902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Aprovação tri-party Protheus (TI+Jur+DPO); governança de APIs MuleSoft/MCP; segregação de Workspace Slack; decisão MuleSoft × MCP. Sem G1002 no M0, J1/E01 sai da Fase 1.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J1 · E01 Consultas Financeiras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G0102 · G0103 · G0104–G0107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Volumetria Protheus; governança de acesso a dados financeiros; escopo de títulos/faturas/situação.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J2 · E02 Autoatendimento Chamados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G0201 · G0202 · G0204 · G0205 · G0206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Volumetria Pronto (~30k/mês, 13–14k INSS); ownership Dataprev×INSS; SLA via API; trilha de auditoria; concentração 46% INSS.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J5 · E03 Intelligence Executiva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G0301 · G0302 · G0305 · G0307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Qual produto Totvs; ~50 usuários gestores; frescor dos dados (stale); autenticação mobile.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J7 · E04 Knowledge Base RH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G0401 · G0403 · G0405 · G0406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Integração SharePoint; alçadas até R$2M; LGPD/PII na base normativa; fallback para humano.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J8 · E05 Agendamento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G0501 · G0502 · G0504 · G0506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Integração Teams; superfície de voz; permissão de tenant M365/Graph; leitura de calendário.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64748B"/>
                </a:solidFill>
              </a:rPr>
              <a:t>ⓘ 68 gaps no total (esquema de ID G&lt;épica&gt;&lt;nº&gt;, ex.: G0102 = épica 01, gap 02; G0201 = épica 02, gap 01). A Fase 0 resolve os gaps e eleva a confiança de 45% para 70–80%. Itens de F2/F3 (E06–E09) não listados aqui. Fonte: data/gaps.json.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168821"/>
                </a:solidFill>
              </a:rPr>
              <a:t>👤 Perfis &amp; Horas Fase 1 · verificações e flags</a:t>
            </a:r>
          </a:p>
          <a:p>
            <a:r>
              <a:rPr sz="2200" b="1">
                <a:solidFill>
                  <a:srgbClr val="FFFFFF"/>
                </a:solidFill>
              </a:rPr>
              <a:t>Regras de alocação FASE 10 aplicadas ao escopo F0+F1 (esforço, não preço)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4114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8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b="1" sz="1200">
                <a:solidFill>
                  <a:srgbClr val="168821"/>
                </a:solidFill>
              </a:rPr>
              <a:t>✅ Verificações obrigatórias FASE 10</a:t>
            </a:r>
          </a:p>
          <a:p>
            <a:r>
              <a:rPr sz="1000">
                <a:solidFill>
                  <a:srgbClr val="1E293B"/>
                </a:solidFill>
              </a:rPr>
              <a:t>Aplicadas ao escopo F0+F1 (Discovery + Foundation).</a:t>
            </a:r>
          </a:p>
          <a:p>
            <a:r>
              <a:rPr sz="1000">
                <a:solidFill>
                  <a:srgbClr val="1E293B"/>
                </a:solidFill>
              </a:rPr>
              <a:t>• Mín. 20h/sem: nenhum recurso abaixo (R07/R08 a 20h).</a:t>
            </a:r>
          </a:p>
          <a:p>
            <a:r>
              <a:rPr sz="1000">
                <a:solidFill>
                  <a:srgbClr val="1E293B"/>
                </a:solidFill>
              </a:rPr>
              <a:t>• Ratio QA ~1:2 (R11 + QA do pod offshore cobrem o build de F1).</a:t>
            </a:r>
          </a:p>
          <a:p>
            <a:r>
              <a:rPr sz="1000">
                <a:solidFill>
                  <a:srgbClr val="1E293B"/>
                </a:solidFill>
              </a:rPr>
              <a:t>• PM ≥15% (Trad. 1.044h · IA-Native 552h).</a:t>
            </a:r>
          </a:p>
          <a:p>
            <a:r>
              <a:rPr sz="1000">
                <a:solidFill>
                  <a:srgbClr val="1E293B"/>
                </a:solidFill>
              </a:rPr>
              <a:t>• Ganho de IA ≥25%: em F0+F1, ~47% menos horas (4.232 h vs 8.004 h).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554480"/>
            <a:ext cx="5486400" cy="4114800"/>
          </a:xfrm>
          <a:prstGeom prst="rect">
            <a:avLst/>
          </a:prstGeom>
          <a:solidFill>
            <a:srgbClr val="FFEDD5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/>
            <a:r>
              <a:rPr b="1" sz="1200">
                <a:solidFill>
                  <a:srgbClr val="C2410C"/>
                </a:solidFill>
              </a:rPr>
              <a:t>🚩 Três itens a validar (composição de time)</a:t>
            </a:r>
          </a:p>
          <a:p>
            <a:r>
              <a:rPr sz="1000">
                <a:solidFill>
                  <a:srgbClr val="1E293B"/>
                </a:solidFill>
              </a:rPr>
              <a:t>1. Program Manager fora do roster de 11 perfis — a linha PM (15%) é uma adição obrigatória FASE 10; validar a função dedicada.</a:t>
            </a:r>
          </a:p>
          <a:p>
            <a:r>
              <a:rPr sz="1000">
                <a:solidFill>
                  <a:srgbClr val="1E293B"/>
                </a:solidFill>
              </a:rPr>
              <a:t>2. O pod offshore de build (5 dev + 2 QA) é assumption na lane Tradicional — validar a disponibilidade e o modelo de execução.</a:t>
            </a:r>
          </a:p>
          <a:p>
            <a:r>
              <a:rPr sz="1000">
                <a:solidFill>
                  <a:srgbClr val="1E293B"/>
                </a:solidFill>
              </a:rPr>
              <a:t>3. R10 (Solution Consultant / BA) mapeado como perfil de desenvolvimento — validar senioridade e alocação.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377EC1"/>
                </a:solidFill>
              </a:rPr>
              <a:t>👤 Lane Tradicional · Fases 0 + 1 (Discovery + Foundation · 16 sem: F0=6 + F1=10)</a:t>
            </a:r>
          </a:p>
          <a:p>
            <a:r>
              <a:rPr sz="2200" b="1">
                <a:solidFill>
                  <a:srgbClr val="FFFFFF"/>
                </a:solidFill>
              </a:rPr>
              <a:t>Perfis e horas — offshore-weighted · F2/F3 em faixa indicativa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463040"/>
                <a:gridCol w="1463040"/>
                <a:gridCol w="2194560"/>
              </a:tblGrid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Perfil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Fases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h/sem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 (h)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R01 — Senior Technical Architect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640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R03 — MuleSoft Technical Architect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640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R06 — Solution Architect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R07 — Change Management Lead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320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R02 — Agentforce Technical Consultant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R04 — MuleSoft Technical Consultant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R08 — UX Researcher / Service Designer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320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R10 — Solution Consultant (BA)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640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R11 — Quality Assurance Consultant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Offshore build pod (5 dev + 2 QA)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2.800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Program Manager (regra 15%)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1.044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9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 F0+F1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8.004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0E7490"/>
                </a:solidFill>
              </a:rPr>
              <a:t>⚡ Lane IA-Native / Quantum Leap · Fases 0 + 1 (14 sem: F0=5 + F1=9 · offshore=0)</a:t>
            </a:r>
          </a:p>
          <a:p>
            <a:r>
              <a:rPr sz="2200" b="1">
                <a:solidFill>
                  <a:srgbClr val="FFFFFF"/>
                </a:solidFill>
              </a:rPr>
              <a:t>Perfis e horas — senior-core + agentes · F2/F3 em faixa indicativa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463040"/>
                <a:gridCol w="1463040"/>
                <a:gridCol w="2194560"/>
              </a:tblGrid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Perfil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Fases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h/sem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 (h)</a:t>
                      </a:r>
                    </a:p>
                  </a:txBody>
                  <a:tcPr anchor="ctr" marT="25400" marB="25400">
                    <a:solidFill>
                      <a:srgbClr val="071D41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R01 — Senior Technical Architect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560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R03 — MuleSoft Technical Architect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560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R06 — Solution Architect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360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R07 — Change Management Lead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280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R02 — Agentforce Consultant (agent director)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360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R04 — MuleSoft Consultant (agent director)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360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R08 — UX Researcher / Service Designer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280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R10 — Solution Consultant (BA)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560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R11 — Quality Assurance Consultant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360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Offshore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 marT="12700" marB="12700" marL="63500">
                    <a:solidFill>
                      <a:srgbClr val="F1F5F9"/>
                    </a:solidFill>
                  </a:tcPr>
                </a:tc>
              </a:tr>
              <a:tr h="39389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71D41"/>
                          </a:solidFill>
                        </a:rPr>
                        <a:t>Program Manager (regra 15%)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F0–F1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E293B"/>
                          </a:solidFill>
                        </a:rPr>
                        <a:t>552</a:t>
                      </a:r>
                    </a:p>
                  </a:txBody>
                  <a:tcPr anchor="ctr" marT="12700" marB="12700" marL="63500">
                    <a:solidFill>
                      <a:srgbClr val="FFFFFF"/>
                    </a:solidFill>
                  </a:tcPr>
                </a:tc>
              </a:tr>
              <a:tr h="3939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 F0+F1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4.232</a:t>
                      </a:r>
                    </a:p>
                  </a:txBody>
                  <a:tcPr anchor="ctr" marT="12700" marB="12700" marL="63500">
                    <a:solidFill>
                      <a:srgbClr val="071D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7E22CE"/>
                </a:solidFill>
              </a:rPr>
              <a:t>⚖️ Por que a IA-Native usa menos horas</a:t>
            </a:r>
          </a:p>
          <a:p>
            <a:r>
              <a:rPr sz="2200" b="1">
                <a:solidFill>
                  <a:srgbClr val="FFFFFF"/>
                </a:solidFill>
              </a:rPr>
              <a:t>Três vetores, não um atalho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b="1" sz="1100">
                <a:solidFill>
                  <a:srgbClr val="0E7490"/>
                </a:solidFill>
              </a:rPr>
              <a:t>Vetor 1 · Tempo</a:t>
            </a:r>
          </a:p>
          <a:p>
            <a:r>
              <a:rPr b="1" sz="1400">
                <a:solidFill>
                  <a:srgbClr val="071D41"/>
                </a:solidFill>
              </a:rPr>
              <a:t>Duração comprimida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293B"/>
                </a:solidFill>
              </a:rPr>
              <a:t>25–49 vs 29–54 sem. Ganho task-level ~30–40% × realização 0,40–0,45 = ~12–18% project-level; readiness 2/8 → banda Low ~10–14%. O tempo é a moeda de comparação.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417320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b="1" sz="1100">
                <a:solidFill>
                  <a:srgbClr val="377EC1"/>
                </a:solidFill>
              </a:rPr>
              <a:t>Vetor 2 · Equipe</a:t>
            </a:r>
          </a:p>
          <a:p>
            <a:r>
              <a:rPr b="1" sz="1400">
                <a:solidFill>
                  <a:srgbClr val="071D41"/>
                </a:solidFill>
              </a:rPr>
              <a:t>Derivada à necessidade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293B"/>
                </a:solidFill>
              </a:rPr>
              <a:t>10–11 vs 12–15 pessoas: núcleo sênior (6) + especialistas fracionais (5) + 0 offshore. Agentes absorvem o build (6 conectores, 10 jornadas J1–J10, Data Cloud, testes) sob supervisão; R02/R04 como agent directors.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77639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b="1" sz="1100">
                <a:solidFill>
                  <a:srgbClr val="7E22CE"/>
                </a:solidFill>
              </a:rPr>
              <a:t>Vetor 3 · Composição</a:t>
            </a:r>
          </a:p>
          <a:p>
            <a:r>
              <a:rPr b="1" sz="1400">
                <a:solidFill>
                  <a:srgbClr val="071D41"/>
                </a:solidFill>
              </a:rPr>
              <a:t>Núcleo sênior, sem camada offshore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293B"/>
                </a:solidFill>
              </a:rPr>
              <a:t>O pod offshore de build (5 dev + 2 QA) desaparece — o volume que ele absorveria é feito por agentes sob supervisão do núcleo sênior onshore. Mesmo headcount sênior, sem a camada offshore de execução.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3977639"/>
            <a:ext cx="548640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8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/>
            <a:r>
              <a:rPr b="1" sz="1100">
                <a:solidFill>
                  <a:srgbClr val="168821"/>
                </a:solidFill>
              </a:rPr>
              <a:t>Reconciliação</a:t>
            </a:r>
          </a:p>
          <a:p>
            <a:r>
              <a:rPr b="1" sz="1400">
                <a:solidFill>
                  <a:srgbClr val="071D41"/>
                </a:solidFill>
              </a:rPr>
              <a:t>Internamente consistente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1E293B"/>
                </a:solidFill>
              </a:rPr>
              <a:t>As horas por perfil (bottom-up) caem dentro das faixas de esforço derivadas top-down e reproduzem o mesmo delta de ~47–49% menos horas — a estimativa de esforço fecha por dois caminhos independentes.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593" cy="54864"/>
          </a:xfrm>
          <a:prstGeom prst="rect">
            <a:avLst/>
          </a:prstGeom>
          <a:solidFill>
            <a:srgbClr val="3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593" y="0"/>
            <a:ext cx="4063593" cy="54864"/>
          </a:xfrm>
          <a:prstGeom prst="rect">
            <a:avLst/>
          </a:prstGeom>
          <a:solidFill>
            <a:srgbClr val="168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187" y="0"/>
            <a:ext cx="4063593" cy="54864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1051560"/>
          </a:xfrm>
          <a:prstGeom prst="rect">
            <a:avLst/>
          </a:prstGeom>
          <a:solidFill>
            <a:srgbClr val="071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100" b="1">
                <a:solidFill>
                  <a:srgbClr val="C2410C"/>
                </a:solidFill>
              </a:rPr>
              <a:t>📌 Disclaimers &amp; KPI de eficiência</a:t>
            </a:r>
          </a:p>
          <a:p>
            <a:r>
              <a:rPr sz="2200" b="1">
                <a:solidFill>
                  <a:srgbClr val="FFFFFF"/>
                </a:solidFill>
              </a:rPr>
              <a:t>Base para leitura correta dos números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3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200">
                <a:solidFill>
                  <a:srgbClr val="071D41"/>
                </a:solidFill>
              </a:rPr>
              <a:t>🎯 KPI de eficiência de IA (mandato Dataprev ≥25%)</a:t>
            </a:r>
          </a:p>
          <a:p>
            <a:r>
              <a:rPr sz="1050">
                <a:solidFill>
                  <a:srgbClr val="1E293B"/>
                </a:solidFill>
              </a:rPr>
              <a:t>Atendido com folga na dimensão esforço (~49% menos horas no programa; ~47% no bloco F0+F1). Na dimensão duração isolada, a compressão é de ~10–14% (readiness 2/8 — Low). Chegar a ≥25% de prazo exige 5 desbloqueios: ferramentas de IA para o time PS, G1002 Protheus, política de entrega assistida LGPD/TCU, auditoria de volumetrias, reconciliação de modelo de dados dos 6 legados.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11277295" cy="1600200"/>
          </a:xfrm>
          <a:prstGeom prst="rect">
            <a:avLst/>
          </a:prstGeom>
          <a:solidFill>
            <a:srgbClr val="FEF9E7"/>
          </a:solidFill>
          <a:ln w="12700">
            <a:solidFill>
              <a:srgbClr val="FBB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200">
                <a:solidFill>
                  <a:srgbClr val="071D41"/>
                </a:solidFill>
              </a:rPr>
              <a:t>Disclaimer de esforço &amp; benchmark</a:t>
            </a:r>
          </a:p>
          <a:p>
            <a:r>
              <a:rPr sz="1000">
                <a:solidFill>
                  <a:srgbClr val="1E293B"/>
                </a:solidFill>
              </a:rPr>
              <a:t>O foco desta apresentação é validar escopo e esforço; a estimativa de preço é objeto de etapa comercial separada. As horas por perfil derivam da alocação top-down (roster × semanas de fase), não da soma de horas-por-tamanho. T-shirt sizes expressam complexidade relativa, não esforço hora-conversível.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77295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3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b="1" sz="1200">
                <a:solidFill>
                  <a:srgbClr val="071D41"/>
                </a:solidFill>
              </a:rPr>
              <a:t>Disclaimer de Benchmark (Duração &amp; Capacidade)</a:t>
            </a:r>
          </a:p>
          <a:p>
            <a:r>
              <a:rPr sz="1000">
                <a:solidFill>
                  <a:srgbClr val="1E293B"/>
                </a:solidFill>
              </a:rPr>
              <a:t>Faixas de timeline e equipe derivadas de dados históricos Salesforce PS (model-training-data) via classificação paramétrica do shape. Decision-support, não compromisso. Duração real depende de capacidade do cliente (aprovações Fase 0, acesso a APIs, auditoria de volumetrias), mudanças de escopo e bloqueadores. Dimensionamento final requer avaliação de capacidade 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