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cover] source: Salesforce Corporate Template 2026 (1).pptx slide 18 · preset: vivid Evening gradient; left-centred eyebrow+title+sub; bottom-left byline; right-side art lockup (3 variants)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stat-band] source: Corporate Template 2026 slide None · preset: 3-5 white stat cards, accent underline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icon-cards] source: custom (Story Decks) — recurring 'N specialized agents' layout slide None · preset: N white rounded cards (radius 22), each: accent top-bar (4px), centered product/concept icon, display heading, centered sub-line (may bold a phrase in accent); optional gradient punch bar (eb50-&gt;eb30) at the bottom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icon-cards] source: custom (Story Decks) — recurring 'N specialized agents' layout slide None · preset: N white rounded cards (radius 22), each: accent top-bar (4px), centered product/concept icon, display heading, centered sub-line (may bold a phrase in accent); optional gradient punch bar (eb50-&gt;eb30) at the bottom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numbered-cards] source: Salesforce Corporate Template 2026 (1).pptx slide 42 · preset: 4 white roundRect cards (radius 24) in an even grid; navy OVAL number badge (eb30 fill, white numeral) overhanging each card top by half its height; Astro PNG anchored bottom-right BEHIND the row (z-index:1)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cards] source: Salesforce Corporate Template 2026 (1).pptx slide 33 · preset: 2/3/4/5-up white rounded content cards (radius 26px); display heading + body paras; soft=cloud95 card on 2-up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usecase-icon-grid] source: Corporate Template 2026 slide None · preset: N navy icon tiles + gradient punch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table-cards] source: Salesforce Corporate Template 2026 (1).pptx slide 73 · preset: 2 white roundRect cards (radius 26px) in a 1fr 1fr grid; each has a 999px-radius pill label (stadium, adj=0.5) overhanging the top-left edge (eb15 / eb30) and a 2x2 inner grid of header (display 600) + body copy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cards] source: Salesforce Corporate Template 2026 (1).pptx slide 33 · preset: 2/3/4/5-up white rounded content cards (radius 26px); display heading + body paras; soft=cloud95 card on 2-up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timeline-quarters] source: Salesforce Corporate Template 2026 (1).pptx slide 69 · preset: roundRect adj=50000 x4 overlapping stadium pills (cloud68-&gt;eb50-&gt;eb30-&gt;eb15); prstDash=dot leaders; alternating above/below free-text callouts on a white container 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data-table] source: Salesforce Presentation Slide Library.pptx slide 29 · preset: NATIVE editable table (&lt;a:tbl&gt;): 2-level header (white 'Segment' stub merged down + navy #032D60 category bands + royal #0B5CAB subcategory bands); per-segment main value row + parenthetical sub row; Total pair tinted #EAF4FE; title 2 lines; notes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cards] source: Salesforce Corporate Template 2026 (1).pptx slide 33 · preset: 2/3/4/5-up white rounded content cards (radius 26px); display heading + body paras; soft=cloud95 card on 2-up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cards] source: Salesforce Corporate Template 2026 (1).pptx slide 33 · preset: 2/3/4/5-up white rounded content cards (radius 26px); display heading + body paras; soft=cloud95 card on 2-up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cards] source: Salesforce Corporate Template 2026 (1).pptx slide 33 · preset: 2/3/4/5-up white rounded content cards (radius 26px); display heading + body paras; soft=cloud95 card on 2-up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[component: next-steps] source: Salesforce Corporate Template 2026 (1).pptx slide 44 · preset: N numbered rows; oval number badge (cloud68) overlapping a right-rounded translucent-white roundRect bar (title + detail)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9525000" y="2857500"/>
            <a:ext cx="438150" cy="438150"/>
          </a:xfrm>
          <a:prstGeom prst="star4">
            <a:avLst/>
          </a:prstGeom>
          <a:solidFill>
            <a:srgbClr val="FCC0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7810500" y="4095750"/>
            <a:ext cx="323850" cy="323850"/>
          </a:xfrm>
          <a:prstGeom prst="star4">
            <a:avLst/>
          </a:prstGeom>
          <a:solidFill>
            <a:srgbClr val="FCC0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5025"/>
            <a:ext cx="6096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95">
                <a:solidFill>
                  <a:srgbClr val="00B5FE"/>
                </a:solidFill>
                <a:latin typeface="Salesforce Sans"/>
              </a:rPr>
              <a:t>DATAPREV · Julho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47925"/>
            <a:ext cx="68580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550" b="1" i="0">
                <a:solidFill>
                  <a:srgbClr val="FFFFFF"/>
                </a:solidFill>
                <a:latin typeface="AvantGarde SF"/>
              </a:rPr>
              <a:t>Data Ágil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00425"/>
            <a:ext cx="6096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FFFFFF"/>
                </a:solidFill>
                <a:latin typeface="Salesforce Sans"/>
              </a:rPr>
              <a:t>Plataforma de Autosserviço e Inteligência via Slack + Agentforce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62600"/>
            <a:ext cx="571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alesforce Sans"/>
              </a:rPr>
              <a:t>Alinhamento de Escopo — Pré-SOW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9B8F0"/>
                </a:solidFill>
                <a:latin typeface="Salesforce Sans"/>
              </a:rPr>
              <a:t>Sponsors Técnicos + Negócio</a:t>
            </a:r>
          </a:p>
        </p:txBody>
      </p:sp>
      <p:pic>
        <p:nvPicPr>
          <p:cNvPr id="10" name="Picture 9" descr="agent-as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2000250"/>
            <a:ext cx="2931790" cy="2857500"/>
          </a:xfrm>
          <a:prstGeom prst="rect">
            <a:avLst/>
          </a:prstGeom>
        </p:spPr>
      </p:pic>
      <p:pic>
        <p:nvPicPr>
          <p:cNvPr id="11" name="Picture 10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857500"/>
            <a:ext cx="1632857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00100"/>
            <a:ext cx="952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spc="247">
                <a:solidFill>
                  <a:srgbClr val="066AFE"/>
                </a:solidFill>
                <a:latin typeface="Salesforce Sans"/>
              </a:rPr>
              <a:t>Onde estamos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14500"/>
            <a:ext cx="2447925" cy="238125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38350"/>
            <a:ext cx="244792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01E5B"/>
                </a:solidFill>
                <a:latin typeface="AvantGarde SF"/>
              </a:rPr>
              <a:t>166×</a:t>
            </a:r>
          </a:p>
        </p:txBody>
      </p:sp>
      <p:sp>
        <p:nvSpPr>
          <p:cNvPr id="6" name="Rectangle 5"/>
          <p:cNvSpPr/>
          <p:nvPr/>
        </p:nvSpPr>
        <p:spPr>
          <a:xfrm>
            <a:off x="1890712" y="2857500"/>
            <a:ext cx="495300" cy="28575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0480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Crescimento da base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409950"/>
            <a:ext cx="2333625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7BB5"/>
                </a:solidFill>
                <a:latin typeface="Salesforce Sans"/>
              </a:rPr>
              <a:t>15 → 2.500 clientes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2825" y="1714500"/>
            <a:ext cx="2447925" cy="238125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2825" y="2038350"/>
            <a:ext cx="244792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01E5B"/>
                </a:solidFill>
                <a:latin typeface="AvantGarde SF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9137" y="2857500"/>
            <a:ext cx="495300" cy="28575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9975" y="30480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Sistemas legados fragmentados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975" y="3409950"/>
            <a:ext cx="2333625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7BB5"/>
                </a:solidFill>
                <a:latin typeface="Salesforce Sans"/>
              </a:rPr>
              <a:t>sem camada unificada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1714500"/>
            <a:ext cx="2447925" cy="238125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1250" y="2038350"/>
            <a:ext cx="244792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01E5B"/>
                </a:solidFill>
                <a:latin typeface="AvantGarde SF"/>
              </a:rPr>
              <a:t>~30k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7562" y="2857500"/>
            <a:ext cx="495300" cy="28575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30480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Tickets/mês manuais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409950"/>
            <a:ext cx="2333625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7BB5"/>
                </a:solidFill>
                <a:latin typeface="Salesforce Sans"/>
              </a:rPr>
              <a:t>SLA degradado: horas vs. meta &lt;1min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9675" y="1714500"/>
            <a:ext cx="2447925" cy="238125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9675" y="2038350"/>
            <a:ext cx="244792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001E5B"/>
                </a:solidFill>
                <a:latin typeface="AvantGarde SF"/>
              </a:rPr>
              <a:t>~30%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5987" y="2857500"/>
            <a:ext cx="495300" cy="28575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6825" y="30480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Adoção do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6825" y="3409950"/>
            <a:ext cx="2333625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7BB5"/>
                </a:solidFill>
                <a:latin typeface="Salesforce Sans"/>
              </a:rPr>
              <a:t>compromete o forecast executivo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76750"/>
            <a:ext cx="10363200" cy="9525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67250"/>
            <a:ext cx="876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Salesforce Sans"/>
              </a:rPr>
              <a:t>Pressão regulatória crescente: </a:t>
            </a:r>
            <a:r>
              <a:rPr sz="1800" b="0" i="0">
                <a:solidFill>
                  <a:srgbClr val="1A3F8F"/>
                </a:solidFill>
                <a:latin typeface="Salesforce Sans"/>
              </a:rPr>
              <a:t>breach de 2,8M CPFs (mai/2026), auditoria TCU ativa e mainframe descomissionado (jan/2026).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96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01E5B"/>
                </a:solidFill>
                <a:latin typeface="AvantGarde SF"/>
              </a:rPr>
              <a:t>Fragmentação degrada a experiência do cliente e expõe a Dataprev a riscos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9725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Impactos no negócio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81250"/>
            <a:ext cx="2533650" cy="4152900"/>
          </a:xfrm>
          <a:prstGeom prst="roundRect">
            <a:avLst>
              <a:gd name="adj" fmla="val 827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5350" y="2381250"/>
            <a:ext cx="211455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act 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27051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352800"/>
            <a:ext cx="22669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SLA degradado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95700"/>
            <a:ext cx="22288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Consultas que deveriam ser instantâneas dependem de filas N1 humanas com latência de horas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8050" y="2381250"/>
            <a:ext cx="2533650" cy="4152900"/>
          </a:xfrm>
          <a:prstGeom prst="roundRect">
            <a:avLst>
              <a:gd name="adj" fmla="val 827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381250"/>
            <a:ext cx="211455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overnment Cloud Public S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705100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81400" y="3352800"/>
            <a:ext cx="22669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Risco de perder contratos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3695700"/>
            <a:ext cx="22288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Self-service e IA viram requisitos tácitos em renovações — SERPRO já opera automação/IA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2381250"/>
            <a:ext cx="2533650" cy="4152900"/>
          </a:xfrm>
          <a:prstGeom prst="roundRect">
            <a:avLst>
              <a:gd name="adj" fmla="val 827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850" y="2381250"/>
            <a:ext cx="211455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fessional Serv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050" y="2705100"/>
            <a:ext cx="438150" cy="4381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3650" y="3352800"/>
            <a:ext cx="22669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Baixa produtividade interna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700" y="3695700"/>
            <a:ext cx="22288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N1/N2 sobrecarregados com consultas repetitivas em vez de valor agregado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2381250"/>
            <a:ext cx="2533650" cy="4152900"/>
          </a:xfrm>
          <a:prstGeom prst="roundRect">
            <a:avLst>
              <a:gd name="adj" fmla="val 827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2100" y="2381250"/>
            <a:ext cx="211455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300" y="2705100"/>
            <a:ext cx="438150" cy="4381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05900" y="3352800"/>
            <a:ext cx="22669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Exposição ao TCU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4950" y="3695700"/>
            <a:ext cx="22288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Sem rastreabilidade de consultas financeiras sensíveis (Protheus), risco em auditorias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722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3F8F"/>
                </a:solidFill>
                <a:latin typeface="Salesforce Sans"/>
              </a:rPr>
              <a:t>Alinhamento de escopo — Data Ágil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96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01E5B"/>
                </a:solidFill>
                <a:latin typeface="AvantGarde SF"/>
              </a:rPr>
              <a:t>Momento convergente — pressão, capacidade e mandato executivo alinham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9725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Janela de oportunidade: por que agora?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81250"/>
            <a:ext cx="1981200" cy="4152900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5350" y="2381250"/>
            <a:ext cx="156210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yper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27051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352800"/>
            <a:ext cx="1714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Arquitetural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95700"/>
            <a:ext cx="1676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Mainframe descomissionado (jan/2026) abre janela de modernização sem dependência legada crítica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600" y="2381250"/>
            <a:ext cx="1981200" cy="4152900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5150" y="2381250"/>
            <a:ext cx="156210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5" y="2705100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28950" y="3352800"/>
            <a:ext cx="1714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Executivo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3695700"/>
            <a:ext cx="1676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Sponsorship bottom-up já estabelecido — Slack defendido internamente antes da discovery oficial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381250"/>
            <a:ext cx="1981200" cy="4152900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14950" y="2381250"/>
            <a:ext cx="156210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ublic S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925" y="2705100"/>
            <a:ext cx="438150" cy="4381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0" y="3352800"/>
            <a:ext cx="1714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Operacional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695700"/>
            <a:ext cx="1676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Recesso parlamentar cria janela de deployment sem pressão operacional crítica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381250"/>
            <a:ext cx="1981200" cy="4152900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4750" y="2381250"/>
            <a:ext cx="156210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rtificial Intellig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2705100"/>
            <a:ext cx="438150" cy="4381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48550" y="3352800"/>
            <a:ext cx="1714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Competitivo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600" y="3695700"/>
            <a:ext cx="1676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Gap vs. SERPRO em automação/IA — agir agora estabelece paridade no setor público federal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5000" y="2381250"/>
            <a:ext cx="1981200" cy="4152900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4550" y="2381250"/>
            <a:ext cx="1562100" cy="38100"/>
          </a:xfrm>
          <a:prstGeom prst="rect">
            <a:avLst/>
          </a:prstGeom>
          <a:solidFill>
            <a:srgbClr val="066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525" y="2705100"/>
            <a:ext cx="438150" cy="4381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58350" y="3352800"/>
            <a:ext cx="1714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Regulatório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7400" y="3695700"/>
            <a:ext cx="1676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3F8F"/>
                </a:solidFill>
                <a:latin typeface="Salesforce Sans"/>
              </a:rPr>
              <a:t>Breach recente + auditoria TCU ativa criam mandato de hardening de governança agora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72250"/>
            <a:ext cx="857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3F8F"/>
                </a:solidFill>
                <a:latin typeface="Salesforce Sans"/>
              </a:rPr>
              <a:t>Por que agora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01E5B"/>
                </a:solidFill>
                <a:latin typeface="AvantGarde SF"/>
              </a:rPr>
              <a:t>Uma plataforma conversacional conecta pessoas aos sistemas, 24/7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64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A visão — autosserviço e inteligência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57500"/>
            <a:ext cx="2390775" cy="3429000"/>
          </a:xfrm>
          <a:prstGeom prst="roundRect">
            <a:avLst>
              <a:gd name="adj" fmla="val 9561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9737" y="2457450"/>
            <a:ext cx="800100" cy="800100"/>
          </a:xfrm>
          <a:prstGeom prst="ellipse">
            <a:avLst/>
          </a:prstGeom>
          <a:solidFill>
            <a:srgbClr val="022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737" y="24574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vantGarde SF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1933575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Slack como Agentic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91000"/>
            <a:ext cx="1933575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Interface conversacional unificada substitui 7 logins e sistemas diferentes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1875" y="2857500"/>
            <a:ext cx="2390775" cy="3429000"/>
          </a:xfrm>
          <a:prstGeom prst="roundRect">
            <a:avLst>
              <a:gd name="adj" fmla="val 9561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7212" y="2457450"/>
            <a:ext cx="800100" cy="800100"/>
          </a:xfrm>
          <a:prstGeom prst="ellipse">
            <a:avLst/>
          </a:prstGeom>
          <a:solidFill>
            <a:srgbClr val="022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7212" y="24574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vantGarde SF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475" y="3467100"/>
            <a:ext cx="1933575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Agentforce orquestra 9 agentes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475" y="4191000"/>
            <a:ext cx="1933575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5 read-only (Fase 1), 2 de escrita controlada (Fase 2), 2 preditivos (Fase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9350" y="2857500"/>
            <a:ext cx="2390775" cy="3429000"/>
          </a:xfrm>
          <a:prstGeom prst="roundRect">
            <a:avLst>
              <a:gd name="adj" fmla="val 9561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24687" y="2457450"/>
            <a:ext cx="800100" cy="800100"/>
          </a:xfrm>
          <a:prstGeom prst="ellipse">
            <a:avLst/>
          </a:prstGeom>
          <a:solidFill>
            <a:srgbClr val="022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4687" y="24574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vantGarde SF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3467100"/>
            <a:ext cx="1933575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MuleSoft integra os legados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4191000"/>
            <a:ext cx="1933575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Camada segura sobre 7 sistemas — rastreabilidade LGPD/TCU em cada consulta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6825" y="2857500"/>
            <a:ext cx="2390775" cy="3429000"/>
          </a:xfrm>
          <a:prstGeom prst="roundRect">
            <a:avLst>
              <a:gd name="adj" fmla="val 9561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2162" y="2457450"/>
            <a:ext cx="800100" cy="800100"/>
          </a:xfrm>
          <a:prstGeom prst="ellipse">
            <a:avLst/>
          </a:prstGeom>
          <a:solidFill>
            <a:srgbClr val="022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2162" y="24574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vantGarde SF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5425" y="3467100"/>
            <a:ext cx="1933575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Data Cloud habilita predição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5425" y="4191000"/>
            <a:ext cx="1933575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Fase 3: alertas proativos de breach de SLA e recomendações comerciais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De reativo para proativo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Faseamento maximiza ROI precoce e reduz risco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Escopo — 10 épicas em 3 fases + governança cross-cutting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Fase 0 —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172206"/>
            <a:ext cx="184785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Resolver bloqueador G1002 (governança Protheus)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Auditoria de volumetrias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Decisões arquiteturais (Workspace Slack, Clarity)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235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10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Fase 1 —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100" y="3172206"/>
            <a:ext cx="184785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E01 Consultas Financeiras (Protheus)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E02 Chamados Técnicos (Pronto)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E03 Intelligence Executiva (CRM Totvs)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E04 KB Normativas RH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E05 Agendamento (MS Teams)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605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Fase 2 —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3172206"/>
            <a:ext cx="184785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E06 Adoção CRM via conversação (+40%)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E07 Abertura de chamados assistida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825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Fase 3 — Proactive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72206"/>
            <a:ext cx="184785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E08 Demandas Evolutivas (Clarity)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E09 Intelligence Preditiva (Data Cloud + alertas SLA)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E10 Governança / Compliance / Change Management — cross-cutting em todas as fases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4775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01E5B"/>
                </a:solidFill>
                <a:latin typeface="AvantGarde SF"/>
              </a:rPr>
              <a:t>Fase 1 entrega valor imediato e estabelece confiança antes das escritas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907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Quick Wins — 5 jornadas live (read-only)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71750"/>
            <a:ext cx="1935480" cy="20955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3950" y="2571750"/>
            <a:ext cx="1516380" cy="38100"/>
          </a:xfrm>
          <a:prstGeom prst="roundRect">
            <a:avLst>
              <a:gd name="adj" fmla="val 50000"/>
            </a:avLst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nancial 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390" y="2819400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" y="3524250"/>
            <a:ext cx="17830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Consultas Financeiras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095750"/>
            <a:ext cx="182118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3F8F"/>
                </a:solidFill>
                <a:latin typeface="Salesforce Sans"/>
              </a:rPr>
              <a:t>J1 · Protheus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1330" y="2571750"/>
            <a:ext cx="1935480" cy="20955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tact 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19" y="2819400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7530" y="3524250"/>
            <a:ext cx="17830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Autoatendimento Chamados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480" y="4095750"/>
            <a:ext cx="182118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3F8F"/>
                </a:solidFill>
                <a:latin typeface="Salesforce Sans"/>
              </a:rPr>
              <a:t>J2 · Pronto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8260" y="2571750"/>
            <a:ext cx="1935480" cy="20955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2819400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4460" y="3524250"/>
            <a:ext cx="17830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Intelligence Executiva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5410" y="4095750"/>
            <a:ext cx="182118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3F8F"/>
                </a:solidFill>
                <a:latin typeface="Salesforce Sans"/>
              </a:rPr>
              <a:t>J5 · CRM Totvs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5189" y="2571750"/>
            <a:ext cx="1935480" cy="20955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7179" y="2819400"/>
            <a:ext cx="571500" cy="5074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1389" y="3524250"/>
            <a:ext cx="17830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KB Normativas RH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2339" y="4095750"/>
            <a:ext cx="182118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3F8F"/>
                </a:solidFill>
                <a:latin typeface="Salesforce Sans"/>
              </a:rPr>
              <a:t>J7 · SharePoint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42120" y="2571750"/>
            <a:ext cx="1935480" cy="2095500"/>
          </a:xfrm>
          <a:prstGeom prst="roundRect">
            <a:avLst>
              <a:gd name="adj" fmla="val 98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icrosoft Te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4109" y="2819400"/>
            <a:ext cx="571500" cy="571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18320" y="3524250"/>
            <a:ext cx="178308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001E5B"/>
                </a:solidFill>
                <a:latin typeface="Salesforce Sans"/>
              </a:rPr>
              <a:t>Agendamento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9270" y="4095750"/>
            <a:ext cx="182118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3F8F"/>
                </a:solidFill>
                <a:latin typeface="Salesforce Sans"/>
              </a:rPr>
              <a:t>J8 · MS Teams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914900"/>
            <a:ext cx="10363200" cy="9144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066AFE"/>
              </a:gs>
              <a:gs pos="100000">
                <a:srgbClr val="022AC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512445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EAF5FE"/>
                </a:solidFill>
                <a:latin typeface="AvantGarde SF"/>
              </a:rPr>
              <a:t>Critérios de sucesso: </a:t>
            </a:r>
            <a:r>
              <a:rPr sz="2025" b="1" i="0">
                <a:solidFill>
                  <a:srgbClr val="FFFFFF"/>
                </a:solidFill>
                <a:latin typeface="AvantGarde SF"/>
              </a:rPr>
              <a:t>5 jornadas live · early adopters treinados · audit trail operacional · mandato &gt;60% de uso semanal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Fase 2 aumenta adoção do CRM; Fase 3 transforma reativo em proativo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76450"/>
            <a:ext cx="4962525" cy="4114800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0150" y="1847850"/>
            <a:ext cx="2171700" cy="495300"/>
          </a:xfrm>
          <a:prstGeom prst="roundRect">
            <a:avLst>
              <a:gd name="adj" fmla="val 50000"/>
            </a:avLst>
          </a:prstGeom>
          <a:solidFill>
            <a:srgbClr val="001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1847850"/>
            <a:ext cx="21717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alesforce Sans"/>
              </a:rPr>
              <a:t>Fase 2 —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5527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J4 — Adoção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8384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Comercial atualiza pipeline por voz/texto no Slack. Meta +40% (30% → 70%)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537" y="25527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J3 — Chamados assistidos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537" y="28384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Clientes e internos abrem tickets Pronto via Slack, com validação de campos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3053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Gate de 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5910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Fase 1 com &gt;60% de uso semanal — confiança antes de habilitar escritas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537" y="43053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1E5B"/>
                </a:solidFill>
                <a:latin typeface="AvantGarde SF"/>
              </a:rPr>
              <a:t>Escrita controlada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537" y="45910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Validação de campos obrigatórios e trilha de auditoria em cada mutação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5075" y="2076450"/>
            <a:ext cx="4962525" cy="4114800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00825" y="1847850"/>
            <a:ext cx="2171700" cy="495300"/>
          </a:xfrm>
          <a:prstGeom prst="roundRect">
            <a:avLst>
              <a:gd name="adj" fmla="val 50000"/>
            </a:avLst>
          </a:prstGeom>
          <a:solidFill>
            <a:srgbClr val="022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825" y="1847850"/>
            <a:ext cx="21717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alesforce Sans"/>
              </a:rPr>
              <a:t>Fase 3 — Proactive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25527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6AFE"/>
                </a:solidFill>
                <a:latin typeface="AvantGarde SF"/>
              </a:rPr>
              <a:t>J9 — Alertas de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75" y="28384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Data Cloud identifica cohort de risco; Agentforce alerta antes do breach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9212" y="25527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6AFE"/>
                </a:solidFill>
                <a:latin typeface="AvantGarde SF"/>
              </a:rPr>
              <a:t>J10 — Recomendações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9212" y="28384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Pipeline histórico + modelo preditivo = próxima melhor ação comercial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43053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6AFE"/>
                </a:solidFill>
                <a:latin typeface="AvantGarde SF"/>
              </a:rPr>
              <a:t>J6 — Demandas evolutivas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45910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Clarity ~4,5k demandas: co-living OU migração para Service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9212" y="4305300"/>
            <a:ext cx="1957387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6AFE"/>
                </a:solidFill>
                <a:latin typeface="AvantGarde SF"/>
              </a:rPr>
              <a:t>De reativo a proativo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9212" y="4591050"/>
            <a:ext cx="1957387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Antecipar o problema e recomendar a ação antes da reunião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Escala progressiva — dos quick wins à inteligência preditiva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Arquitetura nativa Salesforce com governança LGPD/TCU embutida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Slack Agentic OS — 4 camadas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Engajamento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948178"/>
            <a:ext cx="184785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Slack Enterprise Grid: 2.500 B2B + 3.000 internos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Slack Connect, Slack AI KB, Workflow Builder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235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10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Orquestração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100" y="2948178"/>
            <a:ext cx="184785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Agentforce: 9 agentes + Atlas Reasoning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Slack EKM (master keys AWS KMS sob CISO)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Todo API call logged (LGPD/TCU)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605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Integração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2948178"/>
            <a:ext cx="184785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MuleSoft dual: Anypoint + MCP Server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APIs: Protheus, Pronto, CRM Totvs, SharePoint, MS Teams, SEI, Clarity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8250" y="2286000"/>
            <a:ext cx="2419350" cy="3810000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71750"/>
            <a:ext cx="184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Inteligência (F3)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72206"/>
            <a:ext cx="184785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Data Cloud: streaming Pronto + CRM Totvs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Perfis unificados, segmentação, ativação (J9/J10)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7 sistemas legados integrados via MuleSoft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01E5B"/>
                </a:solidFill>
                <a:latin typeface="AvantGarde SF"/>
              </a:rPr>
              <a:t>Timeline benchmark — 29 a 54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2875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Derivado top-down da complexidade — ponto de partida, não compromisso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62200"/>
            <a:ext cx="10363200" cy="37719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meline-pill-q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77" y="3943350"/>
            <a:ext cx="2854622" cy="609600"/>
          </a:xfrm>
          <a:prstGeom prst="rect">
            <a:avLst/>
          </a:prstGeom>
        </p:spPr>
      </p:pic>
      <p:pic>
        <p:nvPicPr>
          <p:cNvPr id="8" name="Picture 7" descr="timeline-pill-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18" y="3943350"/>
            <a:ext cx="2854622" cy="609600"/>
          </a:xfrm>
          <a:prstGeom prst="rect">
            <a:avLst/>
          </a:prstGeom>
        </p:spPr>
      </p:pic>
      <p:pic>
        <p:nvPicPr>
          <p:cNvPr id="9" name="Picture 8" descr="timeline-pill-q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659" y="3943350"/>
            <a:ext cx="2854622" cy="609600"/>
          </a:xfrm>
          <a:prstGeom prst="rect">
            <a:avLst/>
          </a:prstGeom>
        </p:spPr>
      </p:pic>
      <p:pic>
        <p:nvPicPr>
          <p:cNvPr id="10" name="Picture 9" descr="timeline-pill-q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943350"/>
            <a:ext cx="2854622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3943350"/>
            <a:ext cx="2854622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vantGarde SF"/>
              </a:rPr>
              <a:t>Fase 0 · 4-6 sem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436" y="3943350"/>
            <a:ext cx="2854622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vantGarde SF"/>
              </a:rPr>
              <a:t>Fase 1 · 12-16 sem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0495" y="3943350"/>
            <a:ext cx="2854622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vantGarde SF"/>
              </a:rPr>
              <a:t>Fase 2 · 10-14 sem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8554" y="3943350"/>
            <a:ext cx="2854622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vantGarde SF"/>
              </a:rPr>
              <a:t>Fase 3 · 8-12 sem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56104" y="3505200"/>
            <a:ext cx="0" cy="438150"/>
          </a:xfrm>
          <a:prstGeom prst="line">
            <a:avLst/>
          </a:prstGeom>
          <a:ln w="38100">
            <a:solidFill>
              <a:srgbClr val="066AFE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27504" y="2381250"/>
            <a:ext cx="2857500" cy="1066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25" b="1" i="0">
                <a:solidFill>
                  <a:srgbClr val="001E5B"/>
                </a:solidFill>
                <a:latin typeface="Salesforce Sans"/>
              </a:rPr>
              <a:t>Baseline: 26-40 sem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Multi-Cloud High: 10 épicas (2 XL + 3 L), 7 legados integrados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0504" y="4552950"/>
            <a:ext cx="0" cy="438150"/>
          </a:xfrm>
          <a:prstGeom prst="line">
            <a:avLst/>
          </a:prstGeom>
          <a:ln w="38100">
            <a:solidFill>
              <a:srgbClr val="066AFE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1904" y="5067300"/>
            <a:ext cx="2857500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25" b="1" i="0">
                <a:solidFill>
                  <a:srgbClr val="001E5B"/>
                </a:solidFill>
                <a:latin typeface="Salesforce Sans"/>
              </a:rPr>
              <a:t>Ajustes de risco +35%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3F8F"/>
                </a:solidFill>
                <a:latin typeface="Salesforce Sans"/>
              </a:rPr>
              <a:t>+15% regulada · +10% cliente novo · +10% alargamento de confiança (68 gaps, G1002)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Baseado em benchmarks de engagements similares (model-training-data). Não é compromisso — base para discussão; duração final depende das decisões da Fase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85725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1E5B"/>
                </a:solidFill>
                <a:latin typeface="AvantGarde SF"/>
              </a:rPr>
              <a:t>5 riscos críticos — todos com mitigação definida ou gate de decisão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000250"/>
          <a:ext cx="2857500" cy="3657600"/>
        </p:xfrm>
        <a:graphic>
          <a:graphicData uri="http://schemas.openxmlformats.org/drawingml/2006/table">
            <a:tbl>
              <a:tblPr firstRow="0" bandRow="0"/>
              <a:tblGrid>
                <a:gridCol w="2857500"/>
              </a:tblGrid>
              <a:tr h="457200">
                <a:tc rowSpan="2"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1E5B"/>
                          </a:solidFill>
                          <a:latin typeface="AvantGarde SF"/>
                        </a:rPr>
                        <a:t>Segment</a:t>
                      </a:r>
                    </a:p>
                  </a:txBody>
                  <a:tcPr anchor="ctr" marT="0" marB="0" marL="209550" marR="57150">
                    <a:solidFill>
                      <a:srgbClr val="FFFF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>
                  <a:txBody>
                    <a:bodyPr/>
                    <a:lstStyle/>
                    <a:p/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>
                  <a:txBody>
                    <a:bodyPr/>
                    <a:lstStyle/>
                    <a:p/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>
                  <a:txBody>
                    <a:bodyPr/>
                    <a:lstStyle/>
                    <a:p/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>
                  <a:txBody>
                    <a:bodyPr/>
                    <a:lstStyle/>
                    <a:p/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1143000"/>
            <a:ext cx="10363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1E5B"/>
                </a:solidFill>
                <a:latin typeface="AvantGarde SF"/>
              </a:rPr>
              <a:t>Riscos e mitigações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76500"/>
            <a:ext cx="10363200" cy="361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5 riscos críticos — todos com mitigação definida ou gate de decisão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G1002 Protheus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— tri-party TI+Jurídico+DPO na Fase 0; fallback J1 para F2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Experience Design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— UX Researcher na Fase 0/1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Volumetrias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 i="0">
                <a:solidFill>
                  <a:srgbClr val="1A3F8F"/>
                </a:solidFill>
                <a:latin typeface="Salesforce Sans"/>
              </a:rPr>
              <a:t>— audit de 2 semanas na Fase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11 disciplinas — uma pessoa pode cobrir várias; várias podem cobrir 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Disciplinas necessárias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302000" cy="381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571750"/>
            <a:ext cx="2730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AvantGarde SF"/>
              </a:rPr>
              <a:t>Arquitetura &amp; 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236214"/>
            <a:ext cx="2730500" cy="25740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Senior Technical Architect (SF + Security + Governance)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MuleSoft Technical Architect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Data Cloud Technical Architect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Solution Architect (SF + Slack Admin)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2286000"/>
            <a:ext cx="3302000" cy="381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0750" y="2571750"/>
            <a:ext cx="2730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AvantGarde SF"/>
              </a:rPr>
              <a:t>Implementação Especializada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50" y="3236214"/>
            <a:ext cx="2730500" cy="25740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Agentforce Technical Consultant (9 agentes)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MuleSoft Technical Consultant (7 System APIs)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Einstein Analytics Developer (dashboards F3)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Solution Consultant (BA + Release Manager)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5600" y="2286000"/>
            <a:ext cx="3302000" cy="381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1350" y="2571750"/>
            <a:ext cx="2730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AvantGarde SF"/>
              </a:rPr>
              <a:t>Qualidade &amp; Adoção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1350" y="2980182"/>
            <a:ext cx="2730500" cy="2830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QA Consultant (hardening F1/F2/F3)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UX Researcher (onboarding 10k+ externos)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Change Management Lead (treinamento, KPIs)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Headcount não é soma de roles — sizing de equipe requer julgamento humano, fora deste alinhamento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O que assumimos verdadeiro e o que NÃO está no 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Premissas e exclusões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067300" cy="3810000"/>
          </a:xfrm>
          <a:prstGeom prst="roundRect">
            <a:avLst>
              <a:gd name="adj" fmla="val 6500"/>
            </a:avLst>
          </a:prstGeom>
          <a:solidFill>
            <a:srgbClr val="EA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571750"/>
            <a:ext cx="449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AvantGarde SF"/>
              </a:rPr>
              <a:t>Premissas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980182"/>
            <a:ext cx="4495800" cy="2830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Slack Enterprise Grid já contratado e provisionado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TI fornece Swagger/OpenAPI + sandbox (7 legados) na Fase 0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Decisão de Workspace Slack locked na Fase 0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Volumetrias auditadas na Fase 0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AWS KMS master keys sob CISO (Slack EKM)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Dataprev staffa 0% de roles técnicas (100% Salesforce 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2286000"/>
            <a:ext cx="5067300" cy="3810000"/>
          </a:xfrm>
          <a:prstGeom prst="roundRect">
            <a:avLst>
              <a:gd name="adj" fmla="val 6500"/>
            </a:avLst>
          </a:prstGeom>
          <a:solidFill>
            <a:srgbClr val="EA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6050" y="2571750"/>
            <a:ext cx="449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1E5B"/>
                </a:solidFill>
                <a:latin typeface="AvantGarde SF"/>
              </a:rPr>
              <a:t>Exclusões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980182"/>
            <a:ext cx="4495800" cy="2830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Migração de dados históricos — apenas integração de APIs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Customizações nos legados — integramos as-is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Treinamento direto dos 2.500 B2B — via train-the-trainer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Licenças Salesforce — provisionadas à parte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0" i="0">
                <a:solidFill>
                  <a:srgbClr val="1A3F8F"/>
                </a:solidFill>
                <a:latin typeface="Salesforce Sans"/>
              </a:rPr>
              <a:t>Migração Service Cloud (E08) — fora deste SOW se aprovada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Evitar surpresas pós-assinatura do SOW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1E5B"/>
                </a:solidFill>
                <a:latin typeface="AvantGarde SF"/>
              </a:rPr>
              <a:t>Fase 0 resolve blockers críticos antes do build — 4-6 semanas, não pulável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10363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3F8F"/>
                </a:solidFill>
                <a:latin typeface="Salesforce Sans"/>
              </a:rPr>
              <a:t>Próximos passos — Fase 0 obrigatória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889760" cy="3810000"/>
          </a:xfrm>
          <a:prstGeom prst="roundRect">
            <a:avLst>
              <a:gd name="adj" fmla="val 13104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571750"/>
            <a:ext cx="13182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1. Tri-party TI+Jur+DPO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396234"/>
            <a:ext cx="13182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Resolve G1002 (governança Protheus)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Fallback: J1 para Fase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2760" y="2286000"/>
            <a:ext cx="1889760" cy="3810000"/>
          </a:xfrm>
          <a:prstGeom prst="roundRect">
            <a:avLst>
              <a:gd name="adj" fmla="val 13104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8510" y="2571750"/>
            <a:ext cx="13182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2. Volumetrias (2 sem)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8510" y="3396234"/>
            <a:ext cx="13182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Concurrent users, peak load, data volumes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Desbloqueia sizing MuleSoft/Agentforce/Heroku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1120" y="2286000"/>
            <a:ext cx="1889760" cy="3810000"/>
          </a:xfrm>
          <a:prstGeom prst="roundRect">
            <a:avLst>
              <a:gd name="adj" fmla="val 13104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6870" y="2571750"/>
            <a:ext cx="13182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3. API discovery (2 sem)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6870" y="3396234"/>
            <a:ext cx="13182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Swagger/OpenAPI + sandbox (7 legados)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Field mapping validado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286000"/>
            <a:ext cx="1889760" cy="3810000"/>
          </a:xfrm>
          <a:prstGeom prst="roundRect">
            <a:avLst>
              <a:gd name="adj" fmla="val 13104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5230" y="2571750"/>
            <a:ext cx="13182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4. Workspace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5230" y="3172206"/>
            <a:ext cx="1318260" cy="2638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B2B segregado vs. workspace único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Impacto: licensing + security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840" y="2286000"/>
            <a:ext cx="1889760" cy="3810000"/>
          </a:xfrm>
          <a:prstGeom prst="roundRect">
            <a:avLst>
              <a:gd name="adj" fmla="val 13104"/>
            </a:avLst>
          </a:prstGeom>
          <a:solidFill>
            <a:srgbClr val="FFFFFF"/>
          </a:solidFill>
          <a:ln w="9525">
            <a:solidFill>
              <a:srgbClr val="D0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3590" y="2571750"/>
            <a:ext cx="13182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1E5B"/>
                </a:solidFill>
                <a:latin typeface="AvantGarde SF"/>
              </a:rPr>
              <a:t>5. RACI Governance/CoE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3590" y="3396234"/>
            <a:ext cx="13182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Ownership multi-team locked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75" b="0" i="0">
                <a:solidFill>
                  <a:srgbClr val="1A3F8F"/>
                </a:solidFill>
                <a:latin typeface="Salesforce Sans"/>
              </a:rPr>
              <a:t>Governance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653415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B7BB5"/>
                </a:solidFill>
                <a:latin typeface="Salesforce Sans"/>
              </a:rPr>
              <a:t>Gate Fase 1: entregáveis aprovados por sponsors técnicos + negócio antes do kick-off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9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esfor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361950"/>
            <a:ext cx="781050" cy="54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1036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1E5B"/>
                </a:solidFill>
                <a:latin typeface="AvantGarde SF"/>
              </a:rPr>
              <a:t>Hoje alinhamos escopo; em 10 dias finalizamos comerciais e assinamos o SOW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4450" y="2076450"/>
            <a:ext cx="9963150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52650"/>
            <a:ext cx="800100" cy="800100"/>
          </a:xfrm>
          <a:prstGeom prst="ellipse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26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vantGarde SF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4050" y="2076450"/>
            <a:ext cx="882015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Hoje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3F8F"/>
                </a:solidFill>
                <a:latin typeface="Salesforce Sans"/>
              </a:rPr>
              <a:t>Feedback e ajustes finais no escopo — escopo, premissas e riscos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14450" y="3219450"/>
            <a:ext cx="9963150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295650"/>
            <a:ext cx="800100" cy="800100"/>
          </a:xfrm>
          <a:prstGeom prst="ellipse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56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vantGarde SF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4050" y="3219450"/>
            <a:ext cx="882015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Semana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3F8F"/>
                </a:solidFill>
                <a:latin typeface="Salesforce Sans"/>
              </a:rPr>
              <a:t>Comerciais finalizados (pricing lane aprovado com Solution Lead)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4450" y="4362450"/>
            <a:ext cx="9963150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438650"/>
            <a:ext cx="800100" cy="800100"/>
          </a:xfrm>
          <a:prstGeom prst="ellipse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86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vantGarde SF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4050" y="4362450"/>
            <a:ext cx="882015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Semana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3F8F"/>
                </a:solidFill>
                <a:latin typeface="Salesforce Sans"/>
              </a:rPr>
              <a:t>SOW redigido e circulado para aprovação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4450" y="5505450"/>
            <a:ext cx="9963150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581650"/>
            <a:ext cx="800100" cy="800100"/>
          </a:xfrm>
          <a:prstGeom prst="ellipse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81650"/>
            <a:ext cx="800100" cy="800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vantGarde SF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4050" y="5505450"/>
            <a:ext cx="882015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1" i="0">
                <a:solidFill>
                  <a:srgbClr val="001E5B"/>
                </a:solidFill>
                <a:latin typeface="AvantGarde SF"/>
              </a:rPr>
              <a:t>Dia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3F8F"/>
                </a:solidFill>
                <a:latin typeface="Salesforce Sans"/>
              </a:rPr>
              <a:t>Assinatura do SOW + kick-off da Fase 0 agendado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