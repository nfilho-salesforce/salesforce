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88952" cy="82296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7C948"/>
                </a:solidFill>
                <a:latin typeface="Calibri"/>
              </a:rPr>
              <a:t>DATAPREV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DATA ÁGIL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0" i="0">
                <a:solidFill>
                  <a:srgbClr val="BFD8F0"/>
                </a:solidFill>
                <a:latin typeface="Calibri"/>
              </a:rPr>
              <a:t>Autosserviço e automação via Slack, Agentforce e MuleSoft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ROM v5.0  ·  15 jornadas (5 agentes + 10 SEI)  ·  Teto fixo R$ 5,0 M  ·  Ago–Dez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636363"/>
                </a:solidFill>
                <a:latin typeface="Calibri"/>
              </a:rPr>
              <a:t>Salesforce Professional Services LATAM  ·  29 Jul 2026  ·  Faixa indicativa para planejamento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O problema não é de processo — é de escala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1143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242316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libri"/>
              </a:rPr>
              <a:t>166×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36363"/>
                </a:solidFill>
                <a:latin typeface="Calibri"/>
              </a:rPr>
              <a:t>crescimento da base de clientes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73152" cy="1143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36192"/>
            <a:ext cx="242316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libri"/>
              </a:rPr>
              <a:t>~30k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36363"/>
                </a:solidFill>
                <a:latin typeface="Calibri"/>
              </a:rPr>
              <a:t>chamados/mês (13–14k só INSS)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73152" cy="1143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36192"/>
            <a:ext cx="242316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libri"/>
              </a:rPr>
              <a:t>80/20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36363"/>
                </a:solidFill>
                <a:latin typeface="Calibri"/>
              </a:rPr>
              <a:t>poucos temas concentram a demanda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716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371600"/>
            <a:ext cx="73152" cy="114300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36192"/>
            <a:ext cx="242316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C77700"/>
                </a:solidFill>
                <a:latin typeface="Calibri"/>
              </a:rPr>
              <a:t>10/15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57400"/>
            <a:ext cx="24231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36363"/>
                </a:solidFill>
                <a:latin typeface="Calibri"/>
              </a:rPr>
              <a:t>jornadas nascem no SEI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88920"/>
            <a:ext cx="11183112" cy="3657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26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71D41"/>
                </a:solidFill>
                <a:latin typeface="Calibri"/>
              </a:rPr>
              <a:t>A informação existe — o acesso é reativo e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33756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•  Financeiro / Protheus: clientes perguntam a dívida todo dia — hoje via ofício ou reunião.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•  Executivos convocados sem tempo de preparar ponto de controle (Clarity).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•  RH / Conexão: a resposta está publicada, mas o empregado não a alcança.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•  SEI: ninguém é avisado de prazo tácito, chegada de processo ou assinatura pendente.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62626"/>
                </a:solidFill>
                <a:latin typeface="Calibri"/>
              </a:rPr>
              <a:t>•  Sem push no SEI → polling obrigatório; conteúdo sensível → LGPD (só metadados no Slack).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Por que não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•  Custo por mensagem da Meta escala com o volume — imprevisível para governo.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•  Governança e LGPD: dados sensíveis em plataforma de terceiros fora do controle da Dataprev.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•  Sem integração nativa com Agentforce/MuleSoft nem com o ecossistema interno.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•  Slack entrega o mesmo canal conversacional com governança, dual-workspace e trilha.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•  Colaboradores e gestores já vivem no Slack — adoção com menos atrito.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Arquitetura — 3 pilares + SEI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548640"/>
          </a:xfrm>
          <a:prstGeom prst="rect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💬  Pilar 3 · Slack +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91840" cy="21031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Front conversacional. Dois workspaces: interno (colaboradores + gestores) e externo (clientes), separados pelo compartilhamento de canais públicos.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54864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72768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🧠  Pilar 2 · Agentforce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21031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Agentes especialistas — um por sistema de origem: Financeiro, Suporte, Projetos, Interno/RH e Agente SEI. Tópicos, actions e RAG quando aplicável.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611880" cy="548640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72768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🔌  Pilar 1 · MuleSoft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94560"/>
            <a:ext cx="3291840" cy="21031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Integração + exposição de MCP server dos legados. Para o SEI: agendador de polling + cache de estado (não há push/webhook).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709160"/>
            <a:ext cx="11183112" cy="1280160"/>
          </a:xfrm>
          <a:prstGeom prst="rect">
            <a:avLst/>
          </a:prstGeom>
          <a:solidFill>
            <a:srgbClr val="EDF5FF"/>
          </a:solidFill>
          <a:ln w="1270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28032"/>
            <a:ext cx="36576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 no fluxo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38928"/>
            <a:ext cx="1078992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Leitura por polling agendado (alertas, consultas, painéis). Escrita (ciência, tramitação, abertura) só após a Fase 0 / G1002, com confirmação humana e trilha. Conteúdo sensível nunca no Slack — só metadados + deep-link (LGPD).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Dois públicos · ambiente Slack separado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82296" cy="30175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071D41"/>
                </a:solidFill>
                <a:latin typeface="Calibri"/>
              </a:rPr>
              <a:t>👥 Interno · workspace Dataprev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Acesso às 15 jornadas, inclusive as 10 do SEI.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Vínculo usuário Dataprev ↔ SEI (painel e alertas).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Jornadas internas: Projetos, FAQ/RH, Agendamento por voz.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82296" cy="301752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071D41"/>
                </a:solidFill>
                <a:latin typeface="Calibri"/>
              </a:rPr>
              <a:t>🏛️ Externo · workspace de clientes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Só leitura do próprio órgão: Consulta Financeira (J1) e Status de Chamado (J2).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Sem acesso a jornadas SEI internas.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Autenticação por perfil; dados restritos por ID de contrato/órgão.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11183112" cy="1188720"/>
          </a:xfrm>
          <a:prstGeom prst="rect">
            <a:avLst/>
          </a:prstGeom>
          <a:solidFill>
            <a:srgbClr val="F3E8F5"/>
          </a:solidFill>
          <a:ln w="1270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83480"/>
            <a:ext cx="1078992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4A154B"/>
                </a:solidFill>
                <a:latin typeface="Calibri"/>
              </a:rPr>
              <a:t>💬 Dois workspaces distintos — canais públicos são compartilhados dentro do workspace; a separação isola dados de cada cliente e o ambiente interno da Dataprev.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ESCOPO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As 15 jornadas de escopo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831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840480"/>
                <a:gridCol w="3200400"/>
                <a:gridCol w="1645920"/>
                <a:gridCol w="1216152"/>
              </a:tblGrid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Jornada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Escopo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R$ c/imp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J1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Consulta Financeira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Posição financeira do órgão via Slack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J2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Status de Chamado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Status/SLA + notificação de mudança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SEI-J1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Alerta de Prazo/tácito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Alerta antes do decurso de prazo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SEI-J2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Consulta linguagem natural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Achar processo por pergunta natural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SEI-J3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Notif. recebido/tramitado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Aviso quando processo chega à unidade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J3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Briefing de Projeto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Briefing executivo em tempo real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J7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FAQ Interno via Conexão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Dúvidas de RH respondidas com fonte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SEI-J4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Meu painel de processos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Visão consolidada dos processos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SEI-J5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Digest de unidade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Resumo de fluxo/gargalos da unidade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SEI-J6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'Qual tipo uso?' + RAG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Recomenda tipo com norma citada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SEI-J7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Status assinatura + deep-link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Quem falta assinar + link p/ assinar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J4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Agendamento por Voz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Agenda reunião por áudio no Slack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Escrita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R$ 438.596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SEI-J8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Ciência de documento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Registrar ciência + trilha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Escrita leve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SEI-J9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Tramitar via aprovação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Tramitar com fluxo de aprovação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Escrita+Gov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R$ 526.316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SEI-J10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Abrir processo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36363"/>
                          </a:solidFill>
                          <a:latin typeface="Calibri"/>
                        </a:rPr>
                        <a:t>Abertura assistida c/ validação de tipo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Escrita+Gov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R$ 526.316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ESCOPO · ONDAS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Onda 1 · Quick Wins (5)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68821"/>
                </a:solidFill>
                <a:latin typeface="Calibri"/>
              </a:rPr>
              <a:t>Ago–Set · go-live fim de Set · leitura, alto valor / baixo esforço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41732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J1 · Consulta Financeira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Externo+Interno · Protheus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Posição financeira do órgão via Slack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0136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68821"/>
                </a:solidFill>
                <a:latin typeface="Calibri"/>
              </a:rPr>
              <a:t>R$ 263.158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6916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691640"/>
            <a:ext cx="73152" cy="141732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0136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J2 · Status de Chamado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4884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Externo+Interno · Service 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4144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Status/SLA + notificação de mudança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180136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68821"/>
                </a:solidFill>
                <a:latin typeface="Calibri"/>
              </a:rPr>
              <a:t>R$ 263.158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214884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73152" cy="141732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5584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SEI-J1 · Alerta de Prazo/tácito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0332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9592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Alerta antes do decurso de prazo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5584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68821"/>
                </a:solidFill>
                <a:latin typeface="Calibri"/>
              </a:rPr>
              <a:t>R$ 350.877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32461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3912" y="3246120"/>
            <a:ext cx="73152" cy="141732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35584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SEI-J2 · Consulta linguagem natural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70332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99592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Achar processo por pergunta natural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335584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68821"/>
                </a:solidFill>
                <a:latin typeface="Calibri"/>
              </a:rPr>
              <a:t>R$ 350.877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0060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800600"/>
            <a:ext cx="73152" cy="141732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1032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SEI-J3 · Notif. recebido/tramitado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25780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Aviso quando processo chega à unidade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91032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68821"/>
                </a:solidFill>
                <a:latin typeface="Calibri"/>
              </a:rPr>
              <a:t>R$ 263.158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25780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ESCOPO · ONDAS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Onda 2 · Expansão (6)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351B4"/>
                </a:solidFill>
                <a:latin typeface="Calibri"/>
              </a:rPr>
              <a:t>Out–Nov · leitura + RAG + painéis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4173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J3 · Briefing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Clarity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Briefing executivo 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0136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351B4"/>
                </a:solidFill>
                <a:latin typeface="Calibri"/>
              </a:rPr>
              <a:t>R$ 263.158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6916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691640"/>
            <a:ext cx="73152" cy="14173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0136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J7 · FAQ Interno via Conexão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4884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CRM/RAG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4144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Dúvidas de RH respondidas com fonte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180136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351B4"/>
                </a:solidFill>
                <a:latin typeface="Calibri"/>
              </a:rPr>
              <a:t>R$ 263.158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214884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73152" cy="14173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5584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SEI-J4 · Meu painel de processos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0332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9592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Visão consolidada dos processos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5584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351B4"/>
                </a:solidFill>
                <a:latin typeface="Calibri"/>
              </a:rPr>
              <a:t>R$ 263.158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32461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3912" y="3246120"/>
            <a:ext cx="73152" cy="14173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35584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SEI-J5 · Digest de unidade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70332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99592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Resumo de fluxo/gargalos da unidade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335584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351B4"/>
                </a:solidFill>
                <a:latin typeface="Calibri"/>
              </a:rPr>
              <a:t>R$ 263.158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0060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800600"/>
            <a:ext cx="73152" cy="14173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1032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SEI-J6 · 'Qual tipo uso?' + RAG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25780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Recomenda tipo com norma citada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91032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351B4"/>
                </a:solidFill>
                <a:latin typeface="Calibri"/>
              </a:rPr>
              <a:t>R$ 350.877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25780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3912" y="480060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3912" y="4800600"/>
            <a:ext cx="73152" cy="14173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491032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SEI-J7 · Status assinatura + deep-link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525780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555040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Quem falta assinar + link p/ assinar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5832" y="491032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1351B4"/>
                </a:solidFill>
                <a:latin typeface="Calibri"/>
              </a:rPr>
              <a:t>R$ 263.158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5832" y="525780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Leitura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ESCOPO · ONDAS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Onda 3 · Escrita, voz e governança (4)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Calibri"/>
              </a:rPr>
              <a:t>Nov–Dez + hypercare · após a Fase 0 (G1002)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41732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J4 · Agendamento por Voz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MS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Agenda reunião por áudio no Slack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0136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7B2FBE"/>
                </a:solidFill>
                <a:latin typeface="Calibri"/>
              </a:rPr>
              <a:t>R$ 438.596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Escrita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6916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691640"/>
            <a:ext cx="73152" cy="141732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0136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SEI-J8 · Ciência de documento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4884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4144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Registrar ciência + trilha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180136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7B2FBE"/>
                </a:solidFill>
                <a:latin typeface="Calibri"/>
              </a:rPr>
              <a:t>R$ 350.877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214884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Escrita leve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73152" cy="141732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5584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SEI-J9 · Tramitar via aprovação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0332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9592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Tramitar com fluxo de aprovação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5584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7B2FBE"/>
                </a:solidFill>
                <a:latin typeface="Calibri"/>
              </a:rPr>
              <a:t>R$ 526.316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Escrita+Gov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32461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3912" y="3246120"/>
            <a:ext cx="73152" cy="141732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35584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SEI-J10 · Abrir processo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703320"/>
            <a:ext cx="3703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636363"/>
                </a:solidFill>
                <a:latin typeface="Calibri"/>
              </a:rPr>
              <a:t>Interno · SEI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995928"/>
            <a:ext cx="37033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Abertura assistida c/ validação de tipo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3355848"/>
            <a:ext cx="1463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7B2FBE"/>
                </a:solidFill>
                <a:latin typeface="Calibri"/>
              </a:rPr>
              <a:t>R$ 526.316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36363"/>
                </a:solidFill>
                <a:latin typeface="Calibri"/>
              </a:rPr>
              <a:t>Escrita+Gov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Sistemas &amp; Volumetria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831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351B4"/>
                </a:solidFill>
                <a:latin typeface="Calibri"/>
              </a:rPr>
              <a:t>💰 Protheus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7040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Financeiro — posição/faturas (leitura por 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75688"/>
            <a:ext cx="111831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67128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351B4"/>
                </a:solidFill>
                <a:latin typeface="Calibri"/>
              </a:rPr>
              <a:t>🎫 Service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7040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Chamados — status/SLA (~30k/mês)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34056"/>
            <a:ext cx="111831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25496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351B4"/>
                </a:solidFill>
                <a:latin typeface="Calibri"/>
              </a:rPr>
              <a:t>📊 Clarity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52928"/>
            <a:ext cx="7040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PPM — status e marcos de projeto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92424"/>
            <a:ext cx="111831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83864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351B4"/>
                </a:solidFill>
                <a:latin typeface="Calibri"/>
              </a:rPr>
              <a:t>🏠 Conexão / MS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11296"/>
            <a:ext cx="7040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RH/FAQ (RAG) e Agenda/Teams (escrita)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50791"/>
            <a:ext cx="11183112" cy="566928"/>
          </a:xfrm>
          <a:prstGeom prst="rect">
            <a:avLst/>
          </a:prstGeom>
          <a:solidFill>
            <a:srgbClr val="FFF6E0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42231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Calibri"/>
              </a:rPr>
              <a:t>📑 SEI · mod-wssei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69663"/>
            <a:ext cx="7040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REST JWT ~150+ endpoints · polling · LGPD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92040"/>
            <a:ext cx="11183112" cy="1051560"/>
          </a:xfrm>
          <a:prstGeom prst="rect">
            <a:avLst/>
          </a:prstGeom>
          <a:solidFill>
            <a:srgbClr val="FFF6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54864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Calibri"/>
              </a:rPr>
              <a:t>Volumetria pendente (gap G1102)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107899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Volume de processos/tramitações por unidade será fornecido na Fase 0 para dimensionar a frequência de polling (latência × custo) e calibrar os KPIs.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Bolsão fixo de R$ 5,0 milhões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14300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333756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168821"/>
                </a:solidFill>
                <a:latin typeface="Calibri"/>
              </a:rPr>
              <a:t>R$ 5,0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3375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36363"/>
                </a:solidFill>
                <a:latin typeface="Calibri"/>
              </a:rPr>
              <a:t>teto com imposto (fixo)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73152" cy="1143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81912"/>
            <a:ext cx="333756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1351B4"/>
                </a:solidFill>
                <a:latin typeface="Calibri"/>
              </a:rPr>
              <a:t>R$ 4,67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33375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36363"/>
                </a:solidFill>
                <a:latin typeface="Calibri"/>
              </a:rPr>
              <a:t>sem imposto (÷ 0,9345)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3657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14300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81912"/>
            <a:ext cx="34290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071D41"/>
                </a:solidFill>
                <a:latin typeface="Calibri"/>
              </a:rPr>
              <a:t>~7.650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03120"/>
            <a:ext cx="342900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36363"/>
                </a:solidFill>
                <a:latin typeface="Calibri"/>
              </a:rPr>
              <a:t>blended ~R$ 653/h c/imp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34640"/>
            <a:ext cx="11183112" cy="3063240"/>
          </a:xfrm>
          <a:prstGeom prst="rect">
            <a:avLst/>
          </a:prstGeom>
          <a:solidFill>
            <a:srgbClr val="EDF5FF"/>
          </a:solidFill>
          <a:ln w="1270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7315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71D41"/>
                </a:solidFill>
                <a:latin typeface="Calibri"/>
              </a:rPr>
              <a:t>O bolsão por dentro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•  Teto fixo: o escopo cabe por priorização de ondas — não por corte de qualidade.</a:t>
            </a:r>
          </a:p>
          <a:p>
            <a:pPr>
              <a:spcAft>
                <a:spcPts val="10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•  ~45% de cada valor é fundação compartilhada (MuleSoft core + MCP, setup Slack dual-workspace, framework de agentes, Fase 0, PM, QA, Change, UX baseline).</a:t>
            </a:r>
          </a:p>
          <a:p>
            <a:pPr>
              <a:spcAft>
                <a:spcPts val="10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•  Valor por jornada visível — pesos por complexidade: leitura=3, RAG/polling=4, voz+escrita Graph=5, escrita SEI + governança=6.</a:t>
            </a:r>
          </a:p>
          <a:p>
            <a:pPr>
              <a:spcAft>
                <a:spcPts val="10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•  Ganho de IA (≥25%) é o que torna 22 semanas e o teto de R$ 5 M viáveis para as 15 jornadas.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Cardápio — R$ 5 M jornada por jornada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31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828800"/>
                <a:gridCol w="2194560"/>
                <a:gridCol w="1581912"/>
              </a:tblGrid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Jornada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Onda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Horas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R$ c/imp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J1 · Consulta Financeira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Onda 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J2 · Status de Chamado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Onda 1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SEI-J1 · Alerta de Prazo/tácito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Onda 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537h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SEI-J2 · Consulta linguagem natural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Onda 1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537h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SEI-J3 · Notif. recebido/tramitado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Onda 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J3 · Briefing de Projeto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Onda 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J7 · FAQ Interno via Conexão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Onda 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SEI-J4 · Meu painel de processos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Onda 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SEI-J5 · Digest de unidade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Onda 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SEI-J6 · 'Qual tipo uso?' + RAG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Onda 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537h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SEI-J7 · Status assinatura + deep-link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Onda 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402h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R$ 263.158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J4 · Agendamento por Voz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Onda 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671h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R$ 438.596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SEI-J8 · Ciência de documento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Onda 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537h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R$ 350.877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SEI-J9 · Tramitar via aprovação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Onda 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805h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R$ 526.316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SEI-J10 · Abrir processo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Onda 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805h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71D41"/>
                          </a:solidFill>
                          <a:latin typeface="Calibri"/>
                        </a:rPr>
                        <a:t>R$ 526.316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58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TOTAL · 15 jornadas</a:t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~7.650h</a:t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7C948"/>
                          </a:solidFill>
                          <a:latin typeface="Calibri"/>
                        </a:rPr>
                        <a:t>R$ 5.000.000</a:t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Ondas de entrega — Ago a Dez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822960"/>
          </a:xfrm>
          <a:prstGeom prst="rect">
            <a:avLst/>
          </a:prstGeom>
          <a:solidFill>
            <a:srgbClr val="FDF0E0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4864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🚧 Fase 0 (Agosto · obrigatória)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Destrava o bloqueador de governança G1002 (perfis Protheus/SEI, workspace externo, LGPD Art. 48 / TCU). Gate da escrita SEI.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1118311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91440" cy="100584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32888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Onda 1 · Quick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51176"/>
            <a:ext cx="34747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636363"/>
                </a:solidFill>
                <a:latin typeface="Calibri"/>
              </a:rPr>
              <a:t>Ago–Set · go-live fim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106984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J1, J2, SEI-J1, SEI-J2, SEI-J3 (5) — leitura, alto valor/baixo esforço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66160"/>
            <a:ext cx="1118311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91440" cy="100584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7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351B4"/>
                </a:solidFill>
                <a:latin typeface="Calibri"/>
              </a:rPr>
              <a:t>Onda 2 · Expansão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694176"/>
            <a:ext cx="34747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636363"/>
                </a:solidFill>
                <a:latin typeface="Calibri"/>
              </a:rPr>
              <a:t>Out–Nov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J3, J7, SEI-J4, SEI-J5, SEI-J6, SEI-J7 (6) — leitura + RAG + painéis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09160"/>
            <a:ext cx="1118311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09160"/>
            <a:ext cx="91440" cy="100584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18888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  <a:latin typeface="Calibri"/>
              </a:rPr>
              <a:t>Onda 3 · Escrita/Transação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837176"/>
            <a:ext cx="34747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636363"/>
                </a:solidFill>
                <a:latin typeface="Calibri"/>
              </a:rPr>
              <a:t>Nov–Dez + hypercare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6984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J4, SEI-J8, SEI-J9, SEI-J10 (4) — escrita, voz, governança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636363"/>
                </a:solidFill>
                <a:latin typeface="Calibri"/>
              </a:rPr>
              <a:t>Prioridade = valor ÷ esforço. Leitura primeiro; escrita e governança por último, após a Fase 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Cronograma por jornada — do build ao go-live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207008"/>
            <a:ext cx="1587730" cy="237744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225296"/>
            <a:ext cx="158773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071D41"/>
                </a:solidFill>
                <a:latin typeface="Calibri"/>
              </a:rPr>
              <a:t>AGO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05250" y="1207008"/>
            <a:ext cx="1587730" cy="237744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5250" y="1225296"/>
            <a:ext cx="158773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071D41"/>
                </a:solidFill>
                <a:latin typeface="Calibri"/>
              </a:rPr>
              <a:t>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981" y="1207008"/>
            <a:ext cx="1984663" cy="237744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2981" y="1225296"/>
            <a:ext cx="1984663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071D41"/>
                </a:solidFill>
                <a:latin typeface="Calibri"/>
              </a:rPr>
              <a:t>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7645" y="1207008"/>
            <a:ext cx="1587730" cy="237744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7645" y="1225296"/>
            <a:ext cx="158773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071D41"/>
                </a:solidFill>
                <a:latin typeface="Calibri"/>
              </a:rPr>
              <a:t>NOV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65376" y="1207008"/>
            <a:ext cx="1984663" cy="237744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65376" y="1225296"/>
            <a:ext cx="1984663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071D41"/>
                </a:solidFill>
                <a:latin typeface="Calibri"/>
              </a:rPr>
              <a:t>DEZ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1385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5250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116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2981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847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0712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4578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8443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2309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6174" y="1463040"/>
            <a:ext cx="793865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50" b="0" i="0">
                <a:solidFill>
                  <a:srgbClr val="636363"/>
                </a:solidFill>
                <a:latin typeface="Calibri"/>
              </a:rPr>
              <a:t>S21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737360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E67E22"/>
                </a:solidFill>
                <a:latin typeface="Calibri"/>
              </a:rPr>
              <a:t>🚧 Fase 0 · Governança G1002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746504"/>
            <a:ext cx="1587730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943100"/>
            <a:ext cx="11183112" cy="201168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1947672"/>
            <a:ext cx="10972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Onda 1 · Quick Wins · leitura (go-live S8)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180844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J1 · Consulta Financeira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1385" y="2194560"/>
            <a:ext cx="1190798" cy="13716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02183" y="2194560"/>
            <a:ext cx="793865" cy="137160"/>
          </a:xfrm>
          <a:prstGeom prst="rect">
            <a:avLst/>
          </a:prstGeom>
          <a:solidFill>
            <a:srgbClr val="DCFCE7"/>
          </a:solidFill>
          <a:ln w="9525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700000">
            <a:off x="5930507" y="2194560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2981" y="2217420"/>
            <a:ext cx="793865" cy="91440"/>
          </a:xfrm>
          <a:prstGeom prst="rect">
            <a:avLst/>
          </a:prstGeom>
          <a:solidFill>
            <a:srgbClr val="DCFCE7"/>
          </a:solidFill>
          <a:ln w="6350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404872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J2 · Status de Chamado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1385" y="2418588"/>
            <a:ext cx="1190798" cy="13716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02183" y="2418588"/>
            <a:ext cx="793865" cy="137160"/>
          </a:xfrm>
          <a:prstGeom prst="rect">
            <a:avLst/>
          </a:prstGeom>
          <a:solidFill>
            <a:srgbClr val="DCFCE7"/>
          </a:solidFill>
          <a:ln w="9525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5930507" y="2418588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2981" y="2441448"/>
            <a:ext cx="793865" cy="91440"/>
          </a:xfrm>
          <a:prstGeom prst="rect">
            <a:avLst/>
          </a:prstGeom>
          <a:solidFill>
            <a:srgbClr val="DCFCE7"/>
          </a:solidFill>
          <a:ln w="6350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2628900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SEI-J1 · Alerta de Prazo/tácito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8318" y="2642616"/>
            <a:ext cx="793865" cy="13716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02183" y="2642616"/>
            <a:ext cx="793865" cy="137160"/>
          </a:xfrm>
          <a:prstGeom prst="rect">
            <a:avLst/>
          </a:prstGeom>
          <a:solidFill>
            <a:srgbClr val="DCFCE7"/>
          </a:solidFill>
          <a:ln w="9525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5930507" y="2642616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2981" y="2665476"/>
            <a:ext cx="793865" cy="91440"/>
          </a:xfrm>
          <a:prstGeom prst="rect">
            <a:avLst/>
          </a:prstGeom>
          <a:solidFill>
            <a:srgbClr val="DCFCE7"/>
          </a:solidFill>
          <a:ln w="6350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852928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SEI-J2 · Consulta linguagem natural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8318" y="2866644"/>
            <a:ext cx="1190798" cy="13716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99116" y="2866644"/>
            <a:ext cx="396932" cy="137160"/>
          </a:xfrm>
          <a:prstGeom prst="rect">
            <a:avLst/>
          </a:prstGeom>
          <a:solidFill>
            <a:srgbClr val="DCFCE7"/>
          </a:solidFill>
          <a:ln w="9525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5930507" y="2866644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2981" y="2889504"/>
            <a:ext cx="793865" cy="91440"/>
          </a:xfrm>
          <a:prstGeom prst="rect">
            <a:avLst/>
          </a:prstGeom>
          <a:solidFill>
            <a:srgbClr val="DCFCE7"/>
          </a:solidFill>
          <a:ln w="6350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076956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SEI-J3 · Notif. recebido/tramitado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8318" y="3090672"/>
            <a:ext cx="1190798" cy="13716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99116" y="3090672"/>
            <a:ext cx="396932" cy="137160"/>
          </a:xfrm>
          <a:prstGeom prst="rect">
            <a:avLst/>
          </a:prstGeom>
          <a:solidFill>
            <a:srgbClr val="DCFCE7"/>
          </a:solidFill>
          <a:ln w="9525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5930507" y="3090672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92981" y="3113532"/>
            <a:ext cx="793865" cy="91440"/>
          </a:xfrm>
          <a:prstGeom prst="rect">
            <a:avLst/>
          </a:prstGeom>
          <a:solidFill>
            <a:srgbClr val="DCFCE7"/>
          </a:solidFill>
          <a:ln w="6350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3287268"/>
            <a:ext cx="11183112" cy="201168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" y="3291840"/>
            <a:ext cx="10972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Onda 2 · Expansão · leitura + RAG + painéis (go-live S13/S15)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3525012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J3 · Briefing de Projeto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2981" y="3538728"/>
            <a:ext cx="1190798" cy="13716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79" y="3538728"/>
            <a:ext cx="396932" cy="137160"/>
          </a:xfrm>
          <a:prstGeom prst="rect">
            <a:avLst/>
          </a:prstGeom>
          <a:solidFill>
            <a:srgbClr val="DBEAFE"/>
          </a:solidFill>
          <a:ln w="9525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2700000">
            <a:off x="7915171" y="3538728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77645" y="3561588"/>
            <a:ext cx="793865" cy="91440"/>
          </a:xfrm>
          <a:prstGeom prst="rect">
            <a:avLst/>
          </a:prstGeom>
          <a:solidFill>
            <a:srgbClr val="DBEAFE"/>
          </a:solidFill>
          <a:ln w="635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3749040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J7 · FAQ Interno via Conexão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92981" y="3762756"/>
            <a:ext cx="1190798" cy="13716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83779" y="3762756"/>
            <a:ext cx="396932" cy="137160"/>
          </a:xfrm>
          <a:prstGeom prst="rect">
            <a:avLst/>
          </a:prstGeom>
          <a:solidFill>
            <a:srgbClr val="DBEAFE"/>
          </a:solidFill>
          <a:ln w="9525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 rot="2700000">
            <a:off x="7915171" y="3762756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77645" y="3785616"/>
            <a:ext cx="793865" cy="91440"/>
          </a:xfrm>
          <a:prstGeom prst="rect">
            <a:avLst/>
          </a:prstGeom>
          <a:solidFill>
            <a:srgbClr val="DBEAFE"/>
          </a:solidFill>
          <a:ln w="635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3973068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SEI-J4 · Meu painel de processos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2981" y="3986784"/>
            <a:ext cx="1190798" cy="13716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83779" y="3986784"/>
            <a:ext cx="396932" cy="137160"/>
          </a:xfrm>
          <a:prstGeom prst="rect">
            <a:avLst/>
          </a:prstGeom>
          <a:solidFill>
            <a:srgbClr val="DBEAFE"/>
          </a:solidFill>
          <a:ln w="9525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 rot="2700000">
            <a:off x="7915171" y="3986784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77645" y="4009644"/>
            <a:ext cx="793865" cy="91440"/>
          </a:xfrm>
          <a:prstGeom prst="rect">
            <a:avLst/>
          </a:prstGeom>
          <a:solidFill>
            <a:srgbClr val="DBEAFE"/>
          </a:solidFill>
          <a:ln w="635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4197096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SEI-J5 · Digest de unidade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9914" y="4210812"/>
            <a:ext cx="1190798" cy="13716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80712" y="4210812"/>
            <a:ext cx="793865" cy="137160"/>
          </a:xfrm>
          <a:prstGeom prst="rect">
            <a:avLst/>
          </a:prstGeom>
          <a:solidFill>
            <a:srgbClr val="DBEAFE"/>
          </a:solidFill>
          <a:ln w="9525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 rot="2700000">
            <a:off x="8709036" y="4210812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71510" y="4233672"/>
            <a:ext cx="793865" cy="91440"/>
          </a:xfrm>
          <a:prstGeom prst="rect">
            <a:avLst/>
          </a:prstGeom>
          <a:solidFill>
            <a:srgbClr val="DBEAFE"/>
          </a:solidFill>
          <a:ln w="635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4421124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SEI-J6 · 'Qual tipo uso?' + RAG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9914" y="4434840"/>
            <a:ext cx="1587730" cy="13716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77645" y="4434840"/>
            <a:ext cx="396932" cy="137160"/>
          </a:xfrm>
          <a:prstGeom prst="rect">
            <a:avLst/>
          </a:prstGeom>
          <a:solidFill>
            <a:srgbClr val="DBEAFE"/>
          </a:solidFill>
          <a:ln w="9525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 rot="2700000">
            <a:off x="8709036" y="4434840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71510" y="4457700"/>
            <a:ext cx="793865" cy="91440"/>
          </a:xfrm>
          <a:prstGeom prst="rect">
            <a:avLst/>
          </a:prstGeom>
          <a:solidFill>
            <a:srgbClr val="DBEAFE"/>
          </a:solidFill>
          <a:ln w="635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920" y="4645152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SEI-J7 · Status assinatura + deep-link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89914" y="4658868"/>
            <a:ext cx="1587730" cy="13716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77645" y="4658868"/>
            <a:ext cx="396932" cy="137160"/>
          </a:xfrm>
          <a:prstGeom prst="rect">
            <a:avLst/>
          </a:prstGeom>
          <a:solidFill>
            <a:srgbClr val="DBEAFE"/>
          </a:solidFill>
          <a:ln w="9525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 rot="2700000">
            <a:off x="8709036" y="4658868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971510" y="4681728"/>
            <a:ext cx="793865" cy="91440"/>
          </a:xfrm>
          <a:prstGeom prst="rect">
            <a:avLst/>
          </a:prstGeom>
          <a:solidFill>
            <a:srgbClr val="DBEAFE"/>
          </a:solidFill>
          <a:ln w="635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02920" y="4855464"/>
            <a:ext cx="11183112" cy="201168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792" y="4860036"/>
            <a:ext cx="10972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Onda 3 · Escrita, voz e governança · após Fase 0 (go-live S19/S20)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5093208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J4 · Agendamento por Voz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77645" y="5106924"/>
            <a:ext cx="1587730" cy="13716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765376" y="5106924"/>
            <a:ext cx="396932" cy="137160"/>
          </a:xfrm>
          <a:prstGeom prst="rect">
            <a:avLst/>
          </a:prstGeom>
          <a:solidFill>
            <a:srgbClr val="F3E8FF"/>
          </a:solidFill>
          <a:ln w="9525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 rot="2700000">
            <a:off x="10296767" y="5106924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59241" y="5129784"/>
            <a:ext cx="793865" cy="91440"/>
          </a:xfrm>
          <a:prstGeom prst="rect">
            <a:avLst/>
          </a:prstGeom>
          <a:solidFill>
            <a:srgbClr val="F3E8FF"/>
          </a:solidFill>
          <a:ln w="6350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" y="5317236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SEI-J8 · Ciência de documento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74578" y="5330952"/>
            <a:ext cx="1190798" cy="13716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765376" y="5330952"/>
            <a:ext cx="396932" cy="137160"/>
          </a:xfrm>
          <a:prstGeom prst="rect">
            <a:avLst/>
          </a:prstGeom>
          <a:solidFill>
            <a:srgbClr val="F3E8FF"/>
          </a:solidFill>
          <a:ln w="9525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 rot="2700000">
            <a:off x="10296767" y="5330952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59241" y="5353812"/>
            <a:ext cx="793865" cy="91440"/>
          </a:xfrm>
          <a:prstGeom prst="rect">
            <a:avLst/>
          </a:prstGeom>
          <a:solidFill>
            <a:srgbClr val="F3E8FF"/>
          </a:solidFill>
          <a:ln w="6350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5541264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SEI-J9 · Tramitar via aprovação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71510" y="5554980"/>
            <a:ext cx="1190798" cy="13716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162309" y="5554980"/>
            <a:ext cx="396932" cy="137160"/>
          </a:xfrm>
          <a:prstGeom prst="rect">
            <a:avLst/>
          </a:prstGeom>
          <a:solidFill>
            <a:srgbClr val="F3E8FF"/>
          </a:solidFill>
          <a:ln w="9525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 rot="2700000">
            <a:off x="10693700" y="5554980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956174" y="5577840"/>
            <a:ext cx="793865" cy="91440"/>
          </a:xfrm>
          <a:prstGeom prst="rect">
            <a:avLst/>
          </a:prstGeom>
          <a:solidFill>
            <a:srgbClr val="F3E8FF"/>
          </a:solidFill>
          <a:ln w="6350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2920" y="5765292"/>
            <a:ext cx="2468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071D41"/>
                </a:solidFill>
                <a:latin typeface="Calibri"/>
              </a:rPr>
              <a:t>SEI-J10 · Abrir processo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71510" y="5779008"/>
            <a:ext cx="1190798" cy="13716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162309" y="5779008"/>
            <a:ext cx="396932" cy="137160"/>
          </a:xfrm>
          <a:prstGeom prst="rect">
            <a:avLst/>
          </a:prstGeom>
          <a:solidFill>
            <a:srgbClr val="F3E8FF"/>
          </a:solidFill>
          <a:ln w="9525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 rot="2700000">
            <a:off x="10693700" y="5779008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956174" y="5801868"/>
            <a:ext cx="793865" cy="91440"/>
          </a:xfrm>
          <a:prstGeom prst="rect">
            <a:avLst/>
          </a:prstGeom>
          <a:solidFill>
            <a:srgbClr val="F3E8FF"/>
          </a:solidFill>
          <a:ln w="6350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2920" y="6021324"/>
            <a:ext cx="365760" cy="118872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4400" y="6003036"/>
            <a:ext cx="109728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262626"/>
                </a:solidFill>
                <a:latin typeface="Calibri"/>
              </a:rPr>
              <a:t>Build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011680" y="6021324"/>
            <a:ext cx="365760" cy="118872"/>
          </a:xfrm>
          <a:prstGeom prst="rect">
            <a:avLst/>
          </a:prstGeom>
          <a:solidFill>
            <a:srgbClr val="DBEAFE"/>
          </a:solidFill>
          <a:ln w="12700">
            <a:solidFill>
              <a:srgbClr val="377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423160" y="6003036"/>
            <a:ext cx="16459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262626"/>
                </a:solidFill>
                <a:latin typeface="Calibri"/>
              </a:rPr>
              <a:t>Entrega p/ UAT</a:t>
            </a:r>
          </a:p>
        </p:txBody>
      </p:sp>
      <p:sp>
        <p:nvSpPr>
          <p:cNvPr id="114" name="Rectangle 113"/>
          <p:cNvSpPr/>
          <p:nvPr/>
        </p:nvSpPr>
        <p:spPr>
          <a:xfrm rot="2700000">
            <a:off x="4206240" y="6012180"/>
            <a:ext cx="128016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34840" y="6003036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262626"/>
                </a:solidFill>
                <a:latin typeface="Calibri"/>
              </a:rPr>
              <a:t>Go-live Produção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00800" y="6039612"/>
            <a:ext cx="365760" cy="82296"/>
          </a:xfrm>
          <a:prstGeom prst="rect">
            <a:avLst/>
          </a:prstGeom>
          <a:solidFill>
            <a:srgbClr val="DBEAFE"/>
          </a:solidFill>
          <a:ln w="6350">
            <a:solidFill>
              <a:srgbClr val="377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812280" y="6003036"/>
            <a:ext cx="27432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262626"/>
                </a:solidFill>
                <a:latin typeface="Calibri"/>
              </a:rPr>
              <a:t>Fine-tuning / Hypercare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Perfis &amp; horas — roster Ago–Dez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097280"/>
                <a:gridCol w="1463040"/>
                <a:gridCol w="14630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Perfil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Pilar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Horas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Custo c/imp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MuleSoft Technical Architect (Sr)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R$ 614.144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MuleSoft Technical Consultant ×2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1.560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R$ 974.953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Agentforce Specialist / TC ×2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1.560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R$ 974.953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Solution Architect (Slack)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560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R$ 413.358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UX Conversacional / Experience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520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R$ 383.833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QA Consultant ×2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1.293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R$ 693.552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Program Manager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528→997*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R$ 735.926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Change &amp; Adoption Manager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071D41"/>
                          </a:solidFill>
                          <a:latin typeface="Calibri"/>
                        </a:rPr>
                        <a:t>R$ 295.256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~7.650h</a:t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7C948"/>
                          </a:solidFill>
                          <a:latin typeface="Calibri"/>
                        </a:rPr>
                        <a:t>~R$ 5,0 M</a:t>
                      </a:r>
                    </a:p>
                  </a:txBody>
                  <a:tcPr marL="63500" marR="63500" marT="25400" marB="25400" anchor="ctr">
                    <a:solidFill>
                      <a:srgbClr val="071D4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915400" y="1371600"/>
            <a:ext cx="2770632" cy="4206240"/>
          </a:xfrm>
          <a:prstGeom prst="rect">
            <a:avLst/>
          </a:prstGeom>
          <a:solidFill>
            <a:srgbClr val="EDF5FF"/>
          </a:solidFill>
          <a:ln w="1270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508760"/>
            <a:ext cx="2468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Regras Dataprev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9659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•  Nenhum recurso &lt; 20h/sem</a:t>
            </a:r>
          </a:p>
          <a:p>
            <a:pPr>
              <a:spcAft>
                <a:spcPts val="10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•  Ratio QA 1:2 TC/Dev</a:t>
            </a:r>
          </a:p>
          <a:p>
            <a:pPr>
              <a:spcAft>
                <a:spcPts val="10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•  PM ≥ 15% do time (*997h)</a:t>
            </a:r>
          </a:p>
          <a:p>
            <a:pPr>
              <a:spcAft>
                <a:spcPts val="10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•  Ganho de IA ≥ 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Tradicional × IA-Native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5394960" cy="457200"/>
          </a:xfrm>
          <a:prstGeom prst="rect">
            <a:avLst/>
          </a:prstGeom>
          <a:solidFill>
            <a:srgbClr val="636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50292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Sem ferramentas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02920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4400" b="1" i="0">
                <a:solidFill>
                  <a:srgbClr val="636363"/>
                </a:solidFill>
                <a:latin typeface="Calibri"/>
              </a:rPr>
              <a:t>~30 sem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636363"/>
                </a:solidFill>
                <a:latin typeface="Calibri"/>
              </a:rPr>
              <a:t>baseline · 15 jornadas + 3 pilares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394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8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5394960" cy="45720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19072"/>
            <a:ext cx="50292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 IA-Native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02920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4400" b="1" i="0">
                <a:solidFill>
                  <a:srgbClr val="168821"/>
                </a:solidFill>
                <a:latin typeface="Calibri"/>
              </a:rPr>
              <a:t>~22 sem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8328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68821"/>
                </a:solidFill>
                <a:latin typeface="Calibri"/>
              </a:rPr>
              <a:t>cabe em Ago–Dez 2026  ·  −27%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89120"/>
            <a:ext cx="11183112" cy="1463040"/>
          </a:xfrm>
          <a:prstGeom prst="rect">
            <a:avLst/>
          </a:prstGeom>
          <a:solidFill>
            <a:srgbClr val="EDF5FF"/>
          </a:solidFill>
          <a:ln w="1270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98848"/>
            <a:ext cx="7315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71D41"/>
                </a:solidFill>
                <a:latin typeface="Calibri"/>
              </a:rPr>
              <a:t>Atividades comprimidas pela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37760"/>
            <a:ext cx="1078992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Geração de fluxos de integração MuleSoft, prompts/tópicos dos agentes, testes automatizados, documentação técnica e artefatos. Sem IA, o mesmo escopo não caberia nem no bolsão nem na janela.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Justificativa de investimento — a lógica do 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3112" cy="822960"/>
          </a:xfrm>
          <a:prstGeom prst="rect">
            <a:avLst/>
          </a:prstGeom>
          <a:solidFill>
            <a:srgbClr val="EDF5FF"/>
          </a:solidFill>
          <a:ln w="12700">
            <a:solidFill>
              <a:srgbClr val="1351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71D41"/>
                </a:solidFill>
                <a:latin typeface="Calibri"/>
              </a:rPr>
              <a:t>Investimento (teto R$ 5,0 M) → retorno por 4 alavancas de valor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7899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ROI = (ganho recorrente anual − investimento) ÷ investimento.  A metodologia de cálculo está pronta; os valores finais entram com a volumetria real da Dataprev (G1102 · Fase 0).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240280"/>
          <a:ext cx="1118311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2743200"/>
                <a:gridCol w="1554480"/>
                <a:gridCol w="2862072"/>
              </a:tblGrid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Alavanca de valor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Jornadas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KPI-chave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Meta ilustrativa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Como vira R$ (driver de ROI)</a:t>
                      </a:r>
                    </a:p>
                  </a:txBody>
                  <a:tcPr marL="63500" marR="63500" marT="25400" marB="25400" anchor="ctr">
                    <a:solidFill>
                      <a:srgbClr val="0C326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Autoatendimento &amp; deflection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36363"/>
                          </a:solidFill>
                          <a:latin typeface="Calibri"/>
                        </a:rPr>
                        <a:t>J1 · J2 · J7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% de consultas e chamados resolvidos sem intervenção humana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40–70%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Calibri"/>
                        </a:rPr>
                        <a:t>consultas desviadas/mês × custo médio por atendimento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351B4"/>
                          </a:solidFill>
                          <a:latin typeface="Calibri"/>
                        </a:rPr>
                        <a:t>Produtividade do servidor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36363"/>
                          </a:solidFill>
                          <a:latin typeface="Calibri"/>
                        </a:rPr>
                        <a:t>J3 · SEI-J2
SEI-J4 · SEI-J5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tempo médio de consulta processual e de preparação de status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−60 a −70%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Calibri"/>
                        </a:rPr>
                        <a:t>horas economizadas/mês × custo-hora do servidor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C77700"/>
                          </a:solidFill>
                          <a:latin typeface="Calibri"/>
                        </a:rPr>
                        <a:t>Risco &amp; conformidade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36363"/>
                          </a:solidFill>
                          <a:latin typeface="Calibri"/>
                        </a:rPr>
                        <a:t>SEI-J1
SEI-J9 · SEI-J10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prazos perdidos por decurso tácito · % de ações com trilha de auditoria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−80% perdas
100% trilha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Calibri"/>
                        </a:rPr>
                        <a:t>multas, retrabalho e exposição evitados (valor de risco)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7B2FBE"/>
                          </a:solidFill>
                          <a:latin typeface="Calibri"/>
                        </a:rPr>
                        <a:t>Velocidade de ciclo &amp; experiência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36363"/>
                          </a:solidFill>
                          <a:latin typeface="Calibri"/>
                        </a:rPr>
                        <a:t>J4 · SEI-J7
SEI-J8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alibri"/>
                        </a:rPr>
                        <a:t>tempo de ciclo (agendar / assinar / dar ciência) · adoção do Slack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68821"/>
                          </a:solidFill>
                          <a:latin typeface="Calibri"/>
                        </a:rPr>
                        <a:t>−50% tempo
adoção ≥ 70%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Calibri"/>
                        </a:rPr>
                        <a:t>capacidade recuperada + adesão (uso sustentado)</a:t>
                      </a:r>
                    </a:p>
                  </a:txBody>
                  <a:tcPr marL="63500" marR="63500" marT="25400" marB="2540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074920"/>
            <a:ext cx="11183112" cy="960120"/>
          </a:xfrm>
          <a:prstGeom prst="rect">
            <a:avLst/>
          </a:prstGeom>
          <a:solidFill>
            <a:srgbClr val="FDF0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48072"/>
            <a:ext cx="107899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77700"/>
                </a:solidFill>
                <a:latin typeface="Calibri"/>
              </a:rPr>
              <a:t>Como levar à aprovação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107899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1) inserir os volumes reais por processo (G1102) na coluna de metas  ·  2) converter em R$ pelos drivers de cada alavanca  ·  3) comparar o ganho anual recorrente com o investimento único → payback.  Metas ilustrativas — nenhum número comprometido nesta fase.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ESTIMATIVA &amp; 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KPIs propostos — ROI por processo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3112" cy="685800"/>
          </a:xfrm>
          <a:prstGeom prst="rect">
            <a:avLst/>
          </a:prstGeom>
          <a:solidFill>
            <a:srgbClr val="FDF0E0"/>
          </a:solidFill>
          <a:ln w="12700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77700"/>
                </a:solidFill>
                <a:latin typeface="Calibri"/>
              </a:rPr>
              <a:t>Metodologia: metas ilustrativas — números finais dependem da volumetria (G1102), fornecida na Fase 0. Nenhum número comprometido nesta fase.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Financeiro (J1)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% consultas self-service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→ 70%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21488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24028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Chamados (J2)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56032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Deflection de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92608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→ 40%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21488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224028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Briefing (J3)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256032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Tempo de preparação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292608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−60%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FAQ/Conexão (J7)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Deflection RH/suporte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→ 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33832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347472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SEI prazos (SEI-J1)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79476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Perdas por decurso tácito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16052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−80%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64424" y="33832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4" y="347472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SEI consulta (SEI-J2/J4)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379476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Tempo de consulta processual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416052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−70%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61772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SEI transação (J9/J10)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Tempo de tramitação/abertura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9496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−50%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33672" y="461772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470916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Adoção Slack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502920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Usuários ativos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539496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≥ 70%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64424" y="461772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70916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351B4"/>
                </a:solidFill>
                <a:latin typeface="Calibri"/>
              </a:rPr>
              <a:t>Autonomia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5029200"/>
            <a:ext cx="329184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Jornadas sem escalar a humano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5394960"/>
            <a:ext cx="32918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68821"/>
                </a:solidFill>
                <a:latin typeface="Calibri"/>
              </a:rPr>
              <a:t>≥ 65%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Clouds necessárias — só o essencial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566160" cy="502920"/>
          </a:xfrm>
          <a:prstGeom prst="rect">
            <a:avLst/>
          </a:prstGeom>
          <a:solidFill>
            <a:srgbClr val="4A1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💬 Slack (Grid)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200400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Front conversacional · dual-workspace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32004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636363"/>
                </a:solidFill>
                <a:latin typeface="Calibri"/>
              </a:rPr>
              <a:t>por usuário/mês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55448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554480"/>
            <a:ext cx="3566160" cy="5029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627632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🧠 Agentforce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286000"/>
            <a:ext cx="3200400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Public Sector · agentes especialistas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566160"/>
            <a:ext cx="32004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636363"/>
                </a:solidFill>
                <a:latin typeface="Calibri"/>
              </a:rPr>
              <a:t>Data Library cobre o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155448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4424" y="1554480"/>
            <a:ext cx="3566160" cy="502920"/>
          </a:xfrm>
          <a:prstGeom prst="rect">
            <a:avLst/>
          </a:prstGeom>
          <a:solidFill>
            <a:srgbClr val="377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1627632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🔌 MuleSoft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286000"/>
            <a:ext cx="3200400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Anypoint Titanium · integração +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3566160"/>
            <a:ext cx="32004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 i="1">
                <a:solidFill>
                  <a:srgbClr val="636363"/>
                </a:solidFill>
                <a:latin typeface="Calibri"/>
              </a:rPr>
              <a:t>suporta polling do SEI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11183112" cy="1280160"/>
          </a:xfrm>
          <a:prstGeom prst="rect">
            <a:avLst/>
          </a:prstGeom>
          <a:solidFill>
            <a:srgbClr val="FFFBE6"/>
          </a:solidFill>
          <a:ln w="12700">
            <a:solidFill>
              <a:srgbClr val="FBB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81728"/>
            <a:ext cx="7315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71D41"/>
                </a:solidFill>
                <a:latin typeface="Calibri"/>
              </a:rPr>
              <a:t>⚠️ Data Cloud — condicional, fora do escopo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10789920" cy="640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RAG (J7, SEI-J6) usa a Data Library do Agentforce. Data Cloud só entra se a volumetria (G1102) exigir indexação em escala — decisão na Fase 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7C948"/>
                </a:solidFill>
                <a:latin typeface="Calibri"/>
              </a:rPr>
              <a:t>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HCC — Change Management &amp; UX Conversacional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86400" cy="50292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🚀 Adoção do Slack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Champions por unidade (multiplicadores).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Onboarding por onda (Set/Nov/Dez).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Playbook de canais interno/externo (LGPD).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Medição de adoção e feedback loop.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Do 'abro o sistema' para 'pergunto ao agente'.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486400" cy="50292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36192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🎨 UX/UI conversacional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Tom e persona por agente.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Desenho de diálogo: intents, fallback, handoff.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Block Kit: cards, botões, formulários.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Confirmação + trilha na escrita (SEI-J8/9/10).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Voz→texto (J3, J4) e leitura mobile.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 i="1">
                <a:solidFill>
                  <a:srgbClr val="636363"/>
                </a:solidFill>
                <a:latin typeface="Calibri"/>
              </a:rPr>
              <a:t>Perfis dedicados: Change &amp; Adoption Manager (400h) + UX Conversacional / Experience Architect (520h) — atravessam as 3 ondas.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36363"/>
                </a:solidFill>
                <a:latin typeface="Calibri"/>
              </a:rPr>
              <a:t>DATAPREV · DATA ÁGIL — ROM v5.0 · Salesforce Professional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63636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