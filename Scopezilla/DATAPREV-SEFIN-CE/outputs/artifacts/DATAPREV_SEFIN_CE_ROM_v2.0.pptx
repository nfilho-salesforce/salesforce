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DATAPREV-SEFIN-CE v2.0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Einstein Bot WhatsApp Agentforce</a:t>
            </a:r>
          </a:p>
          <a:p>
            <a:r>
              <a:t>ROM Professional Services</a:t>
            </a:r>
          </a:p>
          <a:p/>
          <a:p>
            <a:r>
              <a:t>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Cliente: DATAPREV prestando serviços para SEFIN-CE (Secretaria da Fazenda do Ceará)</a:t>
            </a:r>
          </a:p>
          <a:p>
            <a:pPr>
              <a:defRPr sz="1600"/>
            </a:pPr>
            <a:r>
              <a:t>Sistema Atual (MUTANTE): Atendimento presencial + telefone | 200K+ cidadãos/ano</a:t>
            </a:r>
          </a:p>
          <a:p>
            <a:pPr>
              <a:defRPr sz="1600"/>
            </a:pPr>
            <a:r>
              <a:t>Objetivo: Automatizar 90% do atendimento cidadão com Einstein Bot via WhatsApp</a:t>
            </a:r>
          </a:p>
          <a:p>
            <a:pPr>
              <a:defRPr sz="1600"/>
            </a:pPr>
            <a:r>
              <a:t>Fluxos: 4 bot flows (IPTU, TMRSU, ISS, Alteração Cadastral)</a:t>
            </a:r>
          </a:p>
          <a:p>
            <a:pPr>
              <a:defRPr sz="1600"/>
            </a:pPr>
            <a:r>
              <a:t>Benefícios: Redução 60-70% custo operacional | Atendimento 24/7 | &lt;3 min tempo médio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Tributos em Escopo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IPTU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Imposto Predial e Territorial Urbano (2ª via DAM)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TMRSU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Taxa Municipal Resíduos Sólidos Urbanos (2ª via DAM)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Imposto Sobre Serviços (link Portal SEFIN)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Cadastral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Alteração dados cadastrais (9 campos)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 Salesforce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Service Cloud Enterprise (10 users: 3 System Admin + 7 Bot Maintainer)</a:t>
            </a:r>
          </a:p>
          <a:p>
            <a:pPr>
              <a:defRPr sz="1600"/>
            </a:pPr>
            <a:r>
              <a:t>Einstein Bot (400K conversas/ano, NLU 5 intents, 4 fluxos)</a:t>
            </a:r>
          </a:p>
          <a:p>
            <a:pPr>
              <a:defRPr sz="1600"/>
            </a:pPr>
            <a:r>
              <a:t>WhatsApp Business API (contrato Meta/Facebook — approval 2-8 semanas)</a:t>
            </a:r>
          </a:p>
          <a:p>
            <a:pPr>
              <a:defRPr sz="1600"/>
            </a:pPr>
            <a:r>
              <a:t>Hyperforce Brazil (São Paulo — LGPD Art. 11 compliance)</a:t>
            </a:r>
          </a:p>
          <a:p>
            <a:pPr>
              <a:defRPr sz="1600"/>
            </a:pPr>
            <a:r>
              <a:t>4 APIs REST SEFIN (ConsultaImovel, EmitirDamUnico, CRM SEFIN, Dados Cadastrais)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e Entregáveis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E01 — Fundação e Setup Service Cloud + WhatsApp Channel</a:t>
            </a:r>
          </a:p>
          <a:p>
            <a:pPr>
              <a:defRPr sz="1400"/>
            </a:pPr>
            <a:r>
              <a:t>E02 — Fluxo Alteração Cadastral (9 campos editáveis)</a:t>
            </a:r>
          </a:p>
          <a:p>
            <a:pPr>
              <a:defRPr sz="1400"/>
            </a:pPr>
            <a:r>
              <a:t>E03 — Fluxos Tributos (IPTU, TMRSU, ISS link)</a:t>
            </a:r>
          </a:p>
          <a:p>
            <a:pPr>
              <a:defRPr sz="1400"/>
            </a:pPr>
            <a:r>
              <a:t>E04 — Feedback &amp; Satisfaction Tracking</a:t>
            </a:r>
          </a:p>
          <a:p>
            <a:pPr>
              <a:defRPr sz="1400"/>
            </a:pPr>
            <a:r>
              <a:t>E05 — UX Research (12 personas + 15 usability sessions)</a:t>
            </a:r>
          </a:p>
          <a:p>
            <a:pPr>
              <a:defRPr sz="1400"/>
            </a:pPr>
            <a:r>
              <a:t>E06 — Segurança LGPD (TDE, Event Monitoring, 2 perfis customizados)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ADD-ON E08 — Marketing Cloud Jornadas Proativas (4,86M msgs/ano)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 Atividades — 5 Fases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Pessoas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ROM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Phase 0 — Discovery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&lt;3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~8-12%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Phase 1 — Foundation &amp; ORG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~18-22%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Phase 2 — Einstein Bot + 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~45-50%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Phase 3 — UX Research &amp; Refinement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~15-18%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Phase 4 — Marketing Cloud 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Separado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Premissas Chave (Top 10 de 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P-02: Sem transbordo humano — bot encerra automaticamente com link Portal</a:t>
            </a:r>
          </a:p>
          <a:p>
            <a:pPr>
              <a:defRPr sz="1300"/>
            </a:pPr>
            <a:r>
              <a:t>P-07: Sem horário de atendimento — bot disponível 24/7</a:t>
            </a:r>
          </a:p>
          <a:p>
            <a:pPr>
              <a:defRPr sz="1300"/>
            </a:pPr>
            <a:r>
              <a:t>P-13: API CRM SEFIN será entregue pelo cliente (Q-01 BLOCKER)</a:t>
            </a:r>
          </a:p>
          <a:p>
            <a:pPr>
              <a:defRPr sz="1300"/>
            </a:pPr>
            <a:r>
              <a:t>P-14: API Dados Cadastrais será entregue pelo cliente (Q-02 BLOCKER)</a:t>
            </a:r>
          </a:p>
          <a:p>
            <a:pPr>
              <a:defRPr sz="1300"/>
            </a:pPr>
            <a:r>
              <a:t>P-15: ISS continua apenas link do site (Q-04/Q-05 decisão)</a:t>
            </a:r>
          </a:p>
          <a:p>
            <a:pPr>
              <a:defRPr sz="1300"/>
            </a:pPr>
            <a:r>
              <a:t>P-17: Cliente possui conectividade IP Service Cloud ↔ APIs SEFIN</a:t>
            </a:r>
          </a:p>
          <a:p>
            <a:pPr>
              <a:defRPr sz="1300"/>
            </a:pPr>
            <a:r>
              <a:t>P-22: Hyperforce Brazil (BLOCKER decisão DATAPREV CTID — LGPD)</a:t>
            </a:r>
          </a:p>
          <a:p>
            <a:pPr>
              <a:defRPr sz="1300"/>
            </a:pPr>
            <a:r>
              <a:t>P-24: Salesforce PS não fornece licenças — cliente contrata direto</a:t>
            </a:r>
          </a:p>
          <a:p>
            <a:pPr>
              <a:defRPr sz="1300"/>
            </a:pPr>
            <a:r>
              <a:t>P-25: Service Cloud AS-IS — sem Case Management/Omnichannel</a:t>
            </a:r>
          </a:p>
          <a:p>
            <a:pPr>
              <a:defRPr sz="1300"/>
            </a:pPr>
            <a:r>
              <a:t>P-29: Loop emissão DAM se repete para todas inscrições selecionadas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 em Aberto — 16 Perguntas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BLOCKERS (2):</a:t>
            </a:r>
          </a:p>
          <a:p>
            <a:pPr>
              <a:defRPr sz="1400"/>
            </a:pPr>
            <a:r>
              <a:t>  • Q-01: API CRM SEFIN spec (endpoint, payload, autenticação)</a:t>
            </a:r>
          </a:p>
          <a:p>
            <a:pPr>
              <a:defRPr sz="1400"/>
            </a:pPr>
            <a:r>
              <a:t>  • Q-02: API Dados Cadastrais spec (endpoint, payload, autenticação)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HIGH (5):</a:t>
            </a:r>
          </a:p>
          <a:p>
            <a:pPr>
              <a:defRPr sz="1400"/>
            </a:pPr>
            <a:r>
              <a:t>  • Q-04: ISS continua link ou muda para emissão DAM?</a:t>
            </a:r>
          </a:p>
          <a:p>
            <a:pPr>
              <a:defRPr sz="1400"/>
            </a:pPr>
            <a:r>
              <a:t>  • Q-10: Base contribuintes CPF/CNPJ válido para Marketing Cloud?</a:t>
            </a:r>
          </a:p>
          <a:p>
            <a:pPr>
              <a:defRPr sz="1400"/>
            </a:pPr>
            <a:r>
              <a:t>  • Q-11: Data vencimento contrato MUTANTE?</a:t>
            </a:r>
          </a:p>
          <a:p>
            <a:pPr>
              <a:defRPr sz="1400"/>
            </a:pPr>
            <a:r>
              <a:t>  • Q-12: Deadline desejado go-live?</a:t>
            </a:r>
          </a:p>
          <a:p>
            <a:pPr>
              <a:defRPr sz="1400"/>
            </a:pPr>
            <a:r>
              <a:t>  • Q-15: Perfil Bot Maintainer precisa permissões além de Einstein Bot?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MEDIUM/LOW (9): Validações técnicas, UX, timeline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Riscos — 4 BLOCKERs + 8 High/Medium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🔴 BLOCKERS Phase 0:</a:t>
            </a:r>
          </a:p>
          <a:p>
            <a:pPr>
              <a:defRPr sz="1400"/>
            </a:pPr>
            <a:r>
              <a:t>  • G0301: API CRM SEFIN spec indefinida → Phase 2 blocked</a:t>
            </a:r>
          </a:p>
          <a:p>
            <a:pPr>
              <a:defRPr sz="1400"/>
            </a:pPr>
            <a:r>
              <a:t>  • G0302: API Dados Cadastrais spec indefinida → Phase 2 blocked</a:t>
            </a:r>
          </a:p>
          <a:p>
            <a:pPr>
              <a:defRPr sz="1400"/>
            </a:pPr>
            <a:r>
              <a:t>  • G0103: Meta WhatsApp approval 2-8 semanas (critical path)</a:t>
            </a:r>
          </a:p>
          <a:p>
            <a:pPr>
              <a:defRPr sz="1400"/>
            </a:pPr>
            <a:r>
              <a:t>  • P-22: Hyperforce Brazil vs US-East decisão DATAPREV CTID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🟠 HIGH (5): NLU training ownership, ISS flow ambiguity, IP conectividade, WhatsApp 24h window, Bot Maintainer profile scope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🟡 MEDIUM (3): UX research ownership, WCAG 2.1 AA conversational UI, LGPD consent 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— 16-26 Semanas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ROM Duration Range: 16-26 semanas (3-5 pessoas pico)</a:t>
            </a:r>
          </a:p>
          <a:p>
            <a:pPr>
              <a:defRPr sz="1400"/>
            </a:pPr>
            <a:r>
              <a:t>Critical Path: Meta WhatsApp Business approval 2-8 semanas + Phase 0 &lt;3 semanas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Mínimo 16 semanas: Cenário ideal (nenhum gap impactante, APIs prontas, ISS link only)</a:t>
            </a:r>
          </a:p>
          <a:p>
            <a:pPr>
              <a:defRPr sz="1400"/>
            </a:pPr>
            <a:r>
              <a:t>Máximo 26 semanas: Cenário conservador (P0 longa, ISS upgrade DAM, UX extenso)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Sequência:</a:t>
            </a:r>
          </a:p>
          <a:p>
            <a:pPr>
              <a:defRPr sz="1400"/>
            </a:pPr>
            <a:r>
              <a:t>  • Phase 0: &lt;3 semanas (gap resolution BLOCKER)</a:t>
            </a:r>
          </a:p>
          <a:p>
            <a:pPr>
              <a:defRPr sz="1400"/>
            </a:pPr>
            <a:r>
              <a:t>  • Phase 1: 4 semanas (foundation + ORG setup)</a:t>
            </a:r>
          </a:p>
          <a:p>
            <a:pPr>
              <a:defRPr sz="1400"/>
            </a:pPr>
            <a:r>
              <a:t>  • Phase 2: 8 semanas (bot build + API integration)</a:t>
            </a:r>
          </a:p>
          <a:p>
            <a:pPr>
              <a:defRPr sz="1400"/>
            </a:pPr>
            <a:r>
              <a:t>  • Phase 3: 4 semanas (UX research + refinement)</a:t>
            </a:r>
          </a:p>
          <a:p>
            <a:pPr>
              <a:defRPr sz="1400"/>
            </a:pPr>
            <a:r>
              <a:t>  • Phase 4: 6 semanas (Marketing Cloud ADD-ON opcional)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Investimento PS — ROM Indicativa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R$ 1.583.232 – R$ 4.231.269 BRL (com impostos)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Base: 16-26 semanas × 3-5 pessoas × taxa diária validada PS</a:t>
            </a:r>
          </a:p>
          <a:p>
            <a:pPr>
              <a:defRPr sz="1300"/>
            </a:pPr>
            <a:r>
              <a:t>Tier: ROM indicativa — não é custo nem fee fixo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Capacidade (per class):</a:t>
            </a:r>
          </a:p>
          <a:p>
            <a:pPr>
              <a:defRPr sz="1300"/>
            </a:pPr>
            <a:r>
              <a:t>  • Onshore Architect: 1 pessoa (full-time)</a:t>
            </a:r>
          </a:p>
          <a:p>
            <a:pPr>
              <a:defRPr sz="1300"/>
            </a:pPr>
            <a:r>
              <a:t>  • Onshore Developer: 2-3 pessoas (build team)</a:t>
            </a:r>
          </a:p>
          <a:p>
            <a:pPr>
              <a:defRPr sz="1300"/>
            </a:pPr>
            <a:r>
              <a:t>  • Offshore: 1-2 pessoas (support roles)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Premissas ROM:</a:t>
            </a:r>
          </a:p>
          <a:p>
            <a:pPr>
              <a:defRPr sz="1300"/>
            </a:pPr>
            <a:r>
              <a:t>  • Phase 0 &lt;3 semanas — se gaps demorarem mais, ROM aumenta</a:t>
            </a:r>
          </a:p>
          <a:p>
            <a:pPr>
              <a:defRPr sz="1300"/>
            </a:pPr>
            <a:r>
              <a:t>  • ISS continua link only — se mudar para DAM emission, ROM +5-8%</a:t>
            </a:r>
          </a:p>
          <a:p>
            <a:pPr>
              <a:defRPr sz="1300"/>
            </a:pPr>
            <a:r>
              <a:t>  • ADD-ON Marketing Cloud Phase 4 é investimento separado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Investimento Licenças —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Investimento Anual (USD)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Service Cloud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18.000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Einstein Bot Conversations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400K conversas/ano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160.000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WhatsApp Business API (Meta)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2M msgs/ano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140.000 – 240.000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TOTAL CORE (Year 1): USD 318.000 – 418.000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Investimento Licenças — ADD-ONs (Opcional)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r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Investimento Anual (USD)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Marketing Cloud + WhatsApp 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4,86M msgs/ano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403.800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Data Cloud (se profile 360 necessário)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400K 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156.000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TOTAL CORE + ADD-ONs (Year 1): USD 877.800 – 977.800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em Alto Nível — 6 Camadas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Layer 1 — Presentation: WhatsApp Business API + Einstein Bot (4 fluxos)</a:t>
            </a:r>
          </a:p>
          <a:p>
            <a:pPr>
              <a:defRPr sz="1200"/>
            </a:pPr>
            <a:r>
              <a:t>Layer 2 — Orchestration: Bot Dialogs + Flow + NLU (5 intents) + Session Mgmt</a:t>
            </a:r>
          </a:p>
          <a:p>
            <a:pPr>
              <a:defRPr sz="1200"/>
            </a:pPr>
            <a:r>
              <a:t>Layer 3 — Integration: Apex REST Callouts + Named Credentials (4 APIs)</a:t>
            </a:r>
          </a:p>
          <a:p>
            <a:pPr>
              <a:defRPr sz="1200"/>
            </a:pPr>
            <a:r>
              <a:t>Layer 4 — APIs SEFIN: Tributos, Emissão DAM, CRM, Cadastral (external)</a:t>
            </a:r>
          </a:p>
          <a:p>
            <a:pPr>
              <a:defRPr sz="1200"/>
            </a:pPr>
            <a:r>
              <a:t>Layer 5 — Security &amp; Compliance: Hyperforce Brazil + TDE + Event Monitoring + 2 perfis LGPD</a:t>
            </a:r>
          </a:p>
          <a:p>
            <a:pPr>
              <a:defRPr sz="1200"/>
            </a:pPr>
            <a:r>
              <a:t>Layer 6 — ADD-ONs: Marketing Cloud (MCAE) + Journey Builder + Data Cloud (opcional)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Decisões técnicas chave:</a:t>
            </a:r>
          </a:p>
          <a:p>
            <a:pPr>
              <a:defRPr sz="1200"/>
            </a:pPr>
            <a:r>
              <a:t>  • Service Cloud AS-IS (sem Case Management) — bot 100% self-service</a:t>
            </a:r>
          </a:p>
          <a:p>
            <a:pPr>
              <a:defRPr sz="1200"/>
            </a:pPr>
            <a:r>
              <a:t>  • Apex REST (não MuleSoft) — 4 APIs simples, conectividade IP cliente</a:t>
            </a:r>
          </a:p>
          <a:p>
            <a:pPr>
              <a:defRPr sz="1200"/>
            </a:pPr>
            <a:r>
              <a:t>  • 24/7 atendimento — bot sem horário comercial (P-07)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 — Phase 0 Discovery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🔴 CRÍTICO (&lt;3 semanas):</a:t>
            </a:r>
          </a:p>
          <a:p>
            <a:pPr>
              <a:defRPr sz="1400"/>
            </a:pPr>
            <a:r>
              <a:t>  • Obter 2 API specs BLOCKER (G0301 CRM SEFIN, G0302 Dados Cadastrais)</a:t>
            </a:r>
          </a:p>
          <a:p>
            <a:pPr>
              <a:defRPr sz="1400"/>
            </a:pPr>
            <a:r>
              <a:t>  • Responder 17 perguntas cliente (Q-01 a Q-17, 2 BLOCKERs)</a:t>
            </a:r>
          </a:p>
          <a:p>
            <a:pPr>
              <a:defRPr sz="1400"/>
            </a:pPr>
            <a:r>
              <a:t>  • Validar Meta WhatsApp Business approval status (2-8 semanas G0103)</a:t>
            </a:r>
          </a:p>
          <a:p>
            <a:pPr>
              <a:defRPr sz="1400"/>
            </a:pPr>
            <a:r>
              <a:t>  • Confirmar Hyperforce Brazil data residency (P-22 DATAPREV CTID)</a:t>
            </a:r>
          </a:p>
          <a:p>
            <a:pPr>
              <a:defRPr sz="1400"/>
            </a:pPr>
            <a:r>
              <a:t>  • Definir ISS flow decisão: link do site ou DAM emission (Q-04/Q-05)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Sem Phase 0 completa:</a:t>
            </a:r>
          </a:p>
          <a:p>
            <a:pPr>
              <a:defRPr sz="1400"/>
            </a:pPr>
            <a:r>
              <a:t>  • Phase 1 Foundation não pode iniciar (133 gaps bloqueadores)</a:t>
            </a:r>
          </a:p>
          <a:p>
            <a:pPr>
              <a:defRPr sz="1400"/>
            </a:pPr>
            <a:r>
              <a:t>  • ROM pode aumentar 10-20% se gaps demorarem &gt;3 semanas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Meta: Phase 0 completa antes de kick-off oficial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 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ROM (Rough Order of Magnitude) indicativa, baseada em:</a:t>
            </a:r>
          </a:p>
          <a:p>
            <a:pPr>
              <a:defRPr sz="1300"/>
            </a:pPr>
            <a:r>
              <a:t>  • Taxa diária validada × engagement shape top-down</a:t>
            </a:r>
          </a:p>
          <a:p>
            <a:pPr>
              <a:defRPr sz="1300"/>
            </a:pPr>
            <a:r>
              <a:t>  • Duração 16-26 semanas × capacidade 3-5 pessoas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Não é custo interno, não é fee fixo, não é proposta de preço.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Range R$ 1.583.232 – R$ 4.231.269 BRL reflete incerteza:</a:t>
            </a:r>
          </a:p>
          <a:p>
            <a:pPr>
              <a:defRPr sz="1300"/>
            </a:pPr>
            <a:r>
              <a:t>  • Phase 0 (133 gaps a resolver)</a:t>
            </a:r>
          </a:p>
          <a:p>
            <a:pPr>
              <a:defRPr sz="1300"/>
            </a:pPr>
            <a:r>
              <a:t>  • Meta approval 2-8 semanas critical path</a:t>
            </a:r>
          </a:p>
          <a:p>
            <a:pPr>
              <a:defRPr sz="1300"/>
            </a:pPr>
            <a:r>
              <a:t>  • ISS flow ambiguity (Q-04/Q-05)</a:t>
            </a:r>
          </a:p>
          <a:p>
            <a:pPr>
              <a:defRPr sz="1300"/>
            </a:pPr>
            <a:r>
              <a:t>  • UX research ownership (G0501)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Para transformar ROM em proposta comercial formal:</a:t>
            </a:r>
          </a:p>
          <a:p>
            <a:pPr>
              <a:defRPr sz="1300"/>
            </a:pPr>
            <a:r>
              <a:t>  • Resolver BLOCKERs Phase 0</a:t>
            </a:r>
          </a:p>
          <a:p>
            <a:pPr>
              <a:defRPr sz="1300"/>
            </a:pPr>
            <a:r>
              <a:t>  • Confirmar Meta approval timeline</a:t>
            </a:r>
          </a:p>
          <a:p>
            <a:pPr>
              <a:defRPr sz="1300"/>
            </a:pPr>
            <a:r>
              <a:t>  • Definir ISS flow + validar UX ownership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