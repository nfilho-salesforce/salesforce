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53"/>
  </p:normalViewPr>
  <p:slideViewPr>
    <p:cSldViewPr snapToGrid="0" snapToObjects="1">
      <p:cViewPr varScale="1">
        <p:scale>
          <a:sx n="146" d="100"/>
          <a:sy n="146" d="100"/>
        </p:scale>
        <p:origin x="24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DATAPREV-SEFIN-CE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Service Cloud + Einstein Bot + WhatsApp Channel | Tributos Municipais Fortaleza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06E6B"/>
                </a:solidFill>
              </a:defRPr>
            </a:pPr>
            <a:r>
              <a:t>Salesforce Professional Services LATAM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Resumo Executivo — 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dirty="0"/>
              <a:t>🎯 OBJETIVO: </a:t>
            </a:r>
            <a:r>
              <a:rPr dirty="0" err="1"/>
              <a:t>Substituir</a:t>
            </a:r>
            <a:r>
              <a:rPr dirty="0"/>
              <a:t> </a:t>
            </a:r>
            <a:r>
              <a:rPr dirty="0" err="1"/>
              <a:t>fornecedor</a:t>
            </a:r>
            <a:r>
              <a:rPr dirty="0"/>
              <a:t> MUTANTE (R$ 1,7M/</a:t>
            </a:r>
            <a:r>
              <a:rPr dirty="0" err="1"/>
              <a:t>ano</a:t>
            </a:r>
            <a:r>
              <a:rPr dirty="0"/>
              <a:t>) </a:t>
            </a:r>
            <a:r>
              <a:rPr dirty="0" err="1"/>
              <a:t>por</a:t>
            </a:r>
            <a:r>
              <a:rPr dirty="0"/>
              <a:t> Service Cloud + Einstein Bot para </a:t>
            </a:r>
            <a:r>
              <a:rPr dirty="0" err="1"/>
              <a:t>autoatendimento</a:t>
            </a:r>
            <a:r>
              <a:rPr dirty="0"/>
              <a:t> </a:t>
            </a:r>
            <a:r>
              <a:rPr dirty="0" err="1"/>
              <a:t>tributos</a:t>
            </a:r>
            <a:r>
              <a:rPr dirty="0"/>
              <a:t> </a:t>
            </a:r>
            <a:r>
              <a:rPr dirty="0" err="1"/>
              <a:t>municipais</a:t>
            </a:r>
            <a:r>
              <a:rPr dirty="0"/>
              <a:t> via WhatsApp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dirty="0"/>
              <a:t>📊 ESCOPO: 4 </a:t>
            </a:r>
            <a:r>
              <a:rPr dirty="0" err="1"/>
              <a:t>fluxos</a:t>
            </a:r>
            <a:r>
              <a:rPr dirty="0"/>
              <a:t> </a:t>
            </a:r>
            <a:r>
              <a:rPr dirty="0" err="1"/>
              <a:t>conversacionais</a:t>
            </a:r>
            <a:r>
              <a:rPr dirty="0"/>
              <a:t> (IPTU, TMRSU, ISS, </a:t>
            </a:r>
            <a:r>
              <a:rPr dirty="0" err="1"/>
              <a:t>Alteração</a:t>
            </a:r>
            <a:r>
              <a:rPr dirty="0"/>
              <a:t> Cadastral) + 400k conversas/</a:t>
            </a:r>
            <a:r>
              <a:rPr dirty="0" err="1"/>
              <a:t>ano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dirty="0"/>
              <a:t>🏛️ SECRETARIA: SEFIN Fortaleza (</a:t>
            </a:r>
            <a:r>
              <a:rPr dirty="0" err="1"/>
              <a:t>Secretaria</a:t>
            </a:r>
            <a:r>
              <a:rPr dirty="0"/>
              <a:t> da Fazenda Municipal)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dirty="0"/>
              <a:t>⚠️ BLOCKERS: 2 specs API (CRM SEFIN Q-01, Dados </a:t>
            </a:r>
            <a:r>
              <a:rPr dirty="0" err="1"/>
              <a:t>Cadastrais</a:t>
            </a:r>
            <a:r>
              <a:rPr dirty="0"/>
              <a:t> Q-02) + Meta WhatsApp approval 2-8 </a:t>
            </a:r>
            <a:r>
              <a:rPr dirty="0" err="1"/>
              <a:t>semanas</a:t>
            </a:r>
            <a:r>
              <a:rPr dirty="0"/>
              <a:t> (critical path)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Capacidades Salesforce — 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dirty="0"/>
              <a:t>SERVICE CLOUD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dirty="0"/>
              <a:t>Plataforma base para </a:t>
            </a:r>
            <a:r>
              <a:rPr dirty="0" err="1"/>
              <a:t>gestão</a:t>
            </a:r>
            <a:r>
              <a:rPr dirty="0"/>
              <a:t> </a:t>
            </a:r>
            <a:r>
              <a:rPr dirty="0" err="1"/>
              <a:t>atendimento</a:t>
            </a:r>
            <a:r>
              <a:rPr dirty="0"/>
              <a:t> </a:t>
            </a:r>
            <a:r>
              <a:rPr dirty="0" err="1"/>
              <a:t>cidadão</a:t>
            </a:r>
            <a:r>
              <a:rPr dirty="0"/>
              <a:t> — </a:t>
            </a:r>
            <a:r>
              <a:rPr lang="pt-BR" b="1" dirty="0"/>
              <a:t>SEM</a:t>
            </a:r>
            <a:r>
              <a:rPr lang="pt-BR" dirty="0"/>
              <a:t> </a:t>
            </a:r>
            <a:r>
              <a:rPr dirty="0"/>
              <a:t>Case Management, Contact Management, omnichannel routing (WhatsApp + </a:t>
            </a:r>
            <a:r>
              <a:rPr dirty="0" err="1"/>
              <a:t>transbordo</a:t>
            </a:r>
            <a:r>
              <a:rPr dirty="0"/>
              <a:t>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futuro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dirty="0"/>
              <a:t>EINSTEIN BOT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dirty="0"/>
              <a:t>4 </a:t>
            </a:r>
            <a:r>
              <a:rPr dirty="0" err="1"/>
              <a:t>fluxos</a:t>
            </a:r>
            <a:r>
              <a:rPr dirty="0"/>
              <a:t> </a:t>
            </a:r>
            <a:r>
              <a:rPr dirty="0" err="1"/>
              <a:t>conversacionais</a:t>
            </a:r>
            <a:r>
              <a:rPr dirty="0"/>
              <a:t> </a:t>
            </a:r>
            <a:r>
              <a:rPr dirty="0" err="1"/>
              <a:t>linguagem</a:t>
            </a:r>
            <a:r>
              <a:rPr dirty="0"/>
              <a:t> natural (IPTU, TMRSU, ISS, Cadastral) — NLU 5 intents, slot filling (CPF/CNPJ regex + Apex checksum), loop DAM multi-</a:t>
            </a:r>
            <a:r>
              <a:rPr dirty="0" err="1"/>
              <a:t>inscrição</a:t>
            </a:r>
            <a:r>
              <a:rPr dirty="0"/>
              <a:t>, </a:t>
            </a:r>
            <a:r>
              <a:rPr dirty="0" err="1"/>
              <a:t>pesquisa</a:t>
            </a:r>
            <a:r>
              <a:rPr dirty="0"/>
              <a:t> </a:t>
            </a:r>
            <a:r>
              <a:rPr dirty="0" err="1"/>
              <a:t>satisfação</a:t>
            </a:r>
            <a:r>
              <a:rPr dirty="0"/>
              <a:t> 1-5 </a:t>
            </a:r>
            <a:r>
              <a:rPr dirty="0" err="1"/>
              <a:t>estrelas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dirty="0"/>
              <a:t>WHATSAPP CHANNEL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dirty="0" err="1"/>
              <a:t>Integração</a:t>
            </a:r>
            <a:r>
              <a:rPr dirty="0"/>
              <a:t> </a:t>
            </a:r>
            <a:r>
              <a:rPr dirty="0" err="1"/>
              <a:t>nativa</a:t>
            </a:r>
            <a:r>
              <a:rPr dirty="0"/>
              <a:t> Meta Business API — 24h messaging window, HSM templates session resume, </a:t>
            </a:r>
            <a:r>
              <a:rPr dirty="0" err="1"/>
              <a:t>aprovação</a:t>
            </a:r>
            <a:r>
              <a:rPr dirty="0"/>
              <a:t> Meta 2-8 </a:t>
            </a:r>
            <a:r>
              <a:rPr dirty="0" err="1"/>
              <a:t>semanas</a:t>
            </a:r>
            <a:r>
              <a:rPr dirty="0"/>
              <a:t> (G0103 BLOCKER)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Capacidades Salesforce — 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FLOW ORCHESTRATION + APEX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4 REST APIs SEFIN (EmitirDamUnico, ConsultaImovel, CRM SEFIN, Dados Cadastrais) — Named Credentials API Key auth, retry logic 1x, connectivity validation IP whitelist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LGPD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Hyperforce Brazil ORG (data residency São Paulo), TDE encryption at-rest, Field History Tracking (CPF/CNPJ), Event Monitoring (API callouts), Data retention Apex batch (90d bot logs, 12m satisfaction)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MARKETING CLOUD (ADD-ON)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Journey Builder jornada proativa IPTU vencido (régua D-15, D-5, D+1) — SFTP batch ingestion SEFIN arquivo diário/semanal, 4,86M msgs/ano, opt-out mechanism (LGPD)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176D3"/>
                </a:solidFill>
              </a:defRPr>
            </a:pPr>
            <a:r>
              <a:t>Árvore de Conversação — Einstein Bot</a:t>
            </a:r>
          </a:p>
        </p:txBody>
      </p:sp>
      <p:pic>
        <p:nvPicPr>
          <p:cNvPr id="3" name="Picture 2" descr="SEFIN_CE_Bot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288234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Transcrição do Fluxo — 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1. ENTRADA: Cidadão inicia conversa WhatsApp → Menu Inicial (5 opções: IPTU, TMRSU, ISS, Cadastral, Outros)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2. IDENTIFICAÇÃO: CPF (PF) ou CNPJ (PJ) com validação regex + Apex checksum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3. FLUXO IPTU: ConsultaImovel API → Lista inscrições (loop multi-inscrição P-29) → Escolhe tipo débito (Total/Cota/Parcela) → EmitirDamUnico API → Envia PDF WhatsApp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4. FLUXO TMRSU: ConsultaImovel API → Lista inscrições (loop) → EmitirDamUnico API (tipoDebito=980) → Envia PDF WhatsApp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Transcrição do Fluxo — 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5. FLUXO ISS: Envia link Portal SEFIN para emissão Nota Fiscal (Q-04/Q-05: upgrade para DAM emission?)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6. FLUXO CADASTRAL: Dados Cadastrais API (Q-02 BLOCKER) → Exibe 9 campos editáveis (Nome, Email, Telefone, Endereço...) → Validação formato/regex → Salva alterações PUT/PATCH → Confirmação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7. PESQUISA SATISFAÇÃO: Obrigatória 1-5 estrelas + justificativa se ≤3 → Log API CRM SEFIN (Q-01 BLOCKER) Fire-and-Forget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8. DESPEDIDA: Link Portal SEFIN (Q-06) + opção nova consulta (loop ao menu)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Premissas — 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FLUXO E EXPERIÊNCIA (P-01 a P-07):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P-01: Todo encerramento = Pesquisa satisfação → API CRM SEFIN → Despedida com link Portal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P-02: Sem transbordo humano — bot encerra automaticamente com link Portal SEFIN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P-03: Pesquisa satisfação em todos os fluxos (IPTU, TMRSU, ISS, Alteração Cadastral)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P-04: Notas ≤3 estrelas → bot coleta justificativa antes de encerrar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P-05: Máximo 2 tentativas digitação inválida em qualquer campo, depois encerra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P-06: Usuário já identificado na sessão → pula identificação e vai direto ao Menu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P-07: Sem horário de atendimento — bot disponível 24/7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Premissas — 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ALTERAÇÃO CADASTRAL (P-08 a P-11):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P-08: Campos: CPF/CNPJ (não editável), nome, telefone, email, endereço completo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P-09: Endereço completo: logradouro, número, complemento, bairro, CEP, cidade, estado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P-10: CPF/CNPJ é chave única — não pode ser alterado pelo cidadão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P-11: Sem validação automática CEP/telefone/email na v1.0 (a confirmar)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APIS E INTEGRAÇÕES (P-12 a P-17):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P-12: API EmitirDamUnico e ConsultaImovel já existem e prontas para consumo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P-13: API CRM SEFIN (log satisfação) será entregue pelo cliente — REST + API Key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P-14: API Dados Cadastrais será entregue pelo cliente — REST + API Key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P-15: ISS continua apenas link do site (sem emissão DAM) — a confirmar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P-16: Falha API = 1 retentativa → se falhar informa 'tente novamente' → encerra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P-17: Cliente possui conectividade IP entre Service Cloud e APIs SEFIN (sem MuleSoft)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Premissas — Parte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INFRAESTRUTURA E SEGURANÇA (P-18 a P-23):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• P-18: Nova ORG Salesforce from scratch (</a:t>
            </a:r>
            <a:r>
              <a:rPr sz="1200" dirty="0" err="1"/>
              <a:t>não</a:t>
            </a:r>
            <a:r>
              <a:rPr sz="1200" dirty="0"/>
              <a:t> </a:t>
            </a:r>
            <a:r>
              <a:rPr sz="1200" dirty="0" err="1"/>
              <a:t>há</a:t>
            </a:r>
            <a:r>
              <a:rPr sz="1200" dirty="0"/>
              <a:t> ORG </a:t>
            </a:r>
            <a:r>
              <a:rPr sz="1200" dirty="0" err="1"/>
              <a:t>existente</a:t>
            </a:r>
            <a:r>
              <a:rPr sz="1200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• P-19: LGPD </a:t>
            </a:r>
            <a:r>
              <a:rPr sz="1200" dirty="0" err="1"/>
              <a:t>obrigatória</a:t>
            </a:r>
            <a:r>
              <a:rPr sz="1200" dirty="0"/>
              <a:t> — CPF/CNPJ </a:t>
            </a:r>
            <a:r>
              <a:rPr sz="1200" dirty="0" err="1"/>
              <a:t>são</a:t>
            </a:r>
            <a:r>
              <a:rPr sz="1200" dirty="0"/>
              <a:t> dados </a:t>
            </a:r>
            <a:r>
              <a:rPr sz="1200" dirty="0" err="1"/>
              <a:t>pessoais</a:t>
            </a:r>
            <a:r>
              <a:rPr sz="1200" dirty="0"/>
              <a:t> </a:t>
            </a:r>
            <a:r>
              <a:rPr sz="1200" dirty="0" err="1"/>
              <a:t>sensíveis</a:t>
            </a:r>
            <a:r>
              <a:rPr sz="1200" dirty="0"/>
              <a:t> (Art. 11)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• P-20: </a:t>
            </a:r>
            <a:r>
              <a:rPr sz="1200" dirty="0" err="1"/>
              <a:t>Contratação</a:t>
            </a:r>
            <a:r>
              <a:rPr sz="1200" dirty="0"/>
              <a:t> canal WhatsApp Business </a:t>
            </a:r>
            <a:r>
              <a:rPr sz="1200" dirty="0" err="1"/>
              <a:t>é</a:t>
            </a:r>
            <a:r>
              <a:rPr sz="1200" dirty="0"/>
              <a:t> com Meta/Facebook, </a:t>
            </a:r>
            <a:r>
              <a:rPr sz="1200" dirty="0" err="1"/>
              <a:t>não</a:t>
            </a:r>
            <a:r>
              <a:rPr sz="1200" dirty="0"/>
              <a:t> Salesforce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• P-21: </a:t>
            </a:r>
            <a:r>
              <a:rPr sz="1200" dirty="0" err="1"/>
              <a:t>Licitação</a:t>
            </a:r>
            <a:r>
              <a:rPr sz="1200" dirty="0"/>
              <a:t> </a:t>
            </a:r>
            <a:r>
              <a:rPr sz="1200" dirty="0" err="1"/>
              <a:t>pública</a:t>
            </a:r>
            <a:r>
              <a:rPr sz="1200" dirty="0"/>
              <a:t> via Lei 14.133/2021 (Nova Lei de </a:t>
            </a:r>
            <a:r>
              <a:rPr sz="1200" dirty="0" err="1"/>
              <a:t>Licitações</a:t>
            </a:r>
            <a:r>
              <a:rPr sz="1200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• P-22: </a:t>
            </a:r>
            <a:r>
              <a:rPr sz="1200" dirty="0" err="1"/>
              <a:t>Residência</a:t>
            </a:r>
            <a:r>
              <a:rPr sz="1200" dirty="0"/>
              <a:t> de dados: </a:t>
            </a:r>
            <a:r>
              <a:rPr sz="1200" dirty="0" err="1"/>
              <a:t>região</a:t>
            </a:r>
            <a:r>
              <a:rPr sz="1200" dirty="0"/>
              <a:t> Salesforce </a:t>
            </a:r>
            <a:r>
              <a:rPr sz="1200" dirty="0" err="1"/>
              <a:t>geograficamente</a:t>
            </a:r>
            <a:r>
              <a:rPr sz="1200" dirty="0"/>
              <a:t> </a:t>
            </a:r>
            <a:r>
              <a:rPr sz="1200" dirty="0" err="1"/>
              <a:t>aprovada</a:t>
            </a:r>
            <a:r>
              <a:rPr sz="1200" dirty="0"/>
              <a:t> (</a:t>
            </a:r>
            <a:r>
              <a:rPr sz="1200" dirty="0" err="1"/>
              <a:t>conforme</a:t>
            </a:r>
            <a:r>
              <a:rPr sz="1200" dirty="0"/>
              <a:t> DATAPREV)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• P-23: DATAPREV </a:t>
            </a:r>
            <a:r>
              <a:rPr sz="1200" dirty="0" err="1"/>
              <a:t>já</a:t>
            </a:r>
            <a:r>
              <a:rPr sz="1200" dirty="0"/>
              <a:t> </a:t>
            </a:r>
            <a:r>
              <a:rPr sz="1200" dirty="0" err="1"/>
              <a:t>possui</a:t>
            </a:r>
            <a:r>
              <a:rPr sz="1200" dirty="0"/>
              <a:t> </a:t>
            </a:r>
            <a:r>
              <a:rPr sz="1200" dirty="0" err="1"/>
              <a:t>aprovação</a:t>
            </a:r>
            <a:r>
              <a:rPr sz="1200" dirty="0"/>
              <a:t> CTID para </a:t>
            </a:r>
            <a:r>
              <a:rPr sz="1200" dirty="0" err="1"/>
              <a:t>uso</a:t>
            </a:r>
            <a:r>
              <a:rPr sz="1200" dirty="0"/>
              <a:t> Service Cloud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 sz="1200" dirty="0"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ESCOPO E ENTREGA (P-24 a P-30):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• P-24: Salesforce PS </a:t>
            </a:r>
            <a:r>
              <a:rPr sz="1200" dirty="0" err="1"/>
              <a:t>não</a:t>
            </a:r>
            <a:r>
              <a:rPr sz="1200" dirty="0"/>
              <a:t> </a:t>
            </a:r>
            <a:r>
              <a:rPr sz="1200" dirty="0" err="1"/>
              <a:t>fornece</a:t>
            </a:r>
            <a:r>
              <a:rPr sz="1200" dirty="0"/>
              <a:t> </a:t>
            </a:r>
            <a:r>
              <a:rPr sz="1200" dirty="0" err="1"/>
              <a:t>licenças</a:t>
            </a:r>
            <a:r>
              <a:rPr sz="1200" dirty="0"/>
              <a:t> — </a:t>
            </a:r>
            <a:r>
              <a:rPr sz="1200" dirty="0" err="1"/>
              <a:t>cliente</a:t>
            </a:r>
            <a:r>
              <a:rPr sz="1200" dirty="0"/>
              <a:t> </a:t>
            </a:r>
            <a:r>
              <a:rPr sz="1200" dirty="0" err="1"/>
              <a:t>contrata</a:t>
            </a:r>
            <a:r>
              <a:rPr sz="1200" dirty="0"/>
              <a:t> </a:t>
            </a:r>
            <a:r>
              <a:rPr sz="1200" dirty="0" err="1"/>
              <a:t>diretamente</a:t>
            </a:r>
            <a:endParaRPr sz="1200" dirty="0"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• P-25: Service Cloud AS-IS: Einstein Bot + WhatsApp (</a:t>
            </a:r>
            <a:r>
              <a:rPr sz="1200" dirty="0" err="1"/>
              <a:t>sem</a:t>
            </a:r>
            <a:r>
              <a:rPr sz="1200" dirty="0"/>
              <a:t> Case Management/Console)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• P-26: 10 </a:t>
            </a:r>
            <a:r>
              <a:rPr sz="1200" dirty="0" err="1"/>
              <a:t>usuários</a:t>
            </a:r>
            <a:r>
              <a:rPr sz="1200" dirty="0"/>
              <a:t>: 3 System Admin + 7 </a:t>
            </a:r>
            <a:r>
              <a:rPr sz="1200" dirty="0" err="1"/>
              <a:t>perfil</a:t>
            </a:r>
            <a:r>
              <a:rPr sz="1200" dirty="0"/>
              <a:t> </a:t>
            </a:r>
            <a:r>
              <a:rPr sz="1200" dirty="0" err="1"/>
              <a:t>customizado</a:t>
            </a:r>
            <a:r>
              <a:rPr sz="1200" dirty="0"/>
              <a:t> (bot maintainer)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• P-27: </a:t>
            </a:r>
            <a:r>
              <a:rPr sz="1200" dirty="0" err="1"/>
              <a:t>Treinamento</a:t>
            </a:r>
            <a:r>
              <a:rPr sz="1200" dirty="0"/>
              <a:t> de </a:t>
            </a:r>
            <a:r>
              <a:rPr sz="1200" dirty="0" err="1"/>
              <a:t>administradores</a:t>
            </a:r>
            <a:r>
              <a:rPr sz="1200" dirty="0"/>
              <a:t> </a:t>
            </a:r>
            <a:r>
              <a:rPr sz="1200" dirty="0" err="1"/>
              <a:t>não</a:t>
            </a:r>
            <a:r>
              <a:rPr sz="1200" dirty="0"/>
              <a:t> </a:t>
            </a:r>
            <a:r>
              <a:rPr sz="1200" dirty="0" err="1"/>
              <a:t>incluído</a:t>
            </a:r>
            <a:r>
              <a:rPr sz="1200" dirty="0"/>
              <a:t> no </a:t>
            </a:r>
            <a:r>
              <a:rPr sz="1200" dirty="0" err="1"/>
              <a:t>escopo</a:t>
            </a:r>
            <a:r>
              <a:rPr sz="1200" dirty="0"/>
              <a:t> core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• P-28: DATAPREV assume </a:t>
            </a:r>
            <a:r>
              <a:rPr sz="1200" dirty="0" err="1"/>
              <a:t>sustentação</a:t>
            </a:r>
            <a:r>
              <a:rPr sz="1200" dirty="0"/>
              <a:t> (AMS) </a:t>
            </a:r>
            <a:r>
              <a:rPr sz="1200" dirty="0" err="1"/>
              <a:t>pós-implantação</a:t>
            </a:r>
            <a:endParaRPr sz="1200" dirty="0"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• P-29: Loop </a:t>
            </a:r>
            <a:r>
              <a:rPr sz="1200" dirty="0" err="1"/>
              <a:t>emissão</a:t>
            </a:r>
            <a:r>
              <a:rPr sz="1200" dirty="0"/>
              <a:t> DAM se </a:t>
            </a:r>
            <a:r>
              <a:rPr sz="1200" dirty="0" err="1"/>
              <a:t>repete</a:t>
            </a:r>
            <a:r>
              <a:rPr sz="1200" dirty="0"/>
              <a:t> para </a:t>
            </a:r>
            <a:r>
              <a:rPr sz="1200" dirty="0" err="1"/>
              <a:t>todas</a:t>
            </a:r>
            <a:r>
              <a:rPr sz="1200" dirty="0"/>
              <a:t> as </a:t>
            </a:r>
            <a:r>
              <a:rPr sz="1200" dirty="0" err="1"/>
              <a:t>inscrições</a:t>
            </a:r>
            <a:r>
              <a:rPr sz="1200" dirty="0"/>
              <a:t> </a:t>
            </a:r>
            <a:r>
              <a:rPr sz="1200" dirty="0" err="1"/>
              <a:t>selecionadas</a:t>
            </a:r>
            <a:endParaRPr sz="1200" dirty="0"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rPr sz="1200" dirty="0"/>
              <a:t>• P-30: Sem </a:t>
            </a:r>
            <a:r>
              <a:rPr sz="1200" dirty="0" err="1"/>
              <a:t>limite</a:t>
            </a:r>
            <a:r>
              <a:rPr sz="1200" dirty="0"/>
              <a:t> de </a:t>
            </a:r>
            <a:r>
              <a:rPr sz="1200" dirty="0" err="1"/>
              <a:t>inscrições</a:t>
            </a:r>
            <a:r>
              <a:rPr sz="1200" dirty="0"/>
              <a:t> — bot </a:t>
            </a:r>
            <a:r>
              <a:rPr sz="1200" dirty="0" err="1"/>
              <a:t>apresenta</a:t>
            </a:r>
            <a:r>
              <a:rPr sz="1200" dirty="0"/>
              <a:t> </a:t>
            </a:r>
            <a:r>
              <a:rPr sz="1200" dirty="0" err="1"/>
              <a:t>todas</a:t>
            </a:r>
            <a:r>
              <a:rPr sz="1200" dirty="0"/>
              <a:t> </a:t>
            </a:r>
            <a:r>
              <a:rPr sz="1200" dirty="0" err="1"/>
              <a:t>retornadas</a:t>
            </a:r>
            <a:r>
              <a:rPr sz="1200" dirty="0"/>
              <a:t> pela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Perguntas ao Cliente — 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APIS E INTEGRAÇÕES (Q-01 a Q-05):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Q-01: API CRM SEFIN (log satisfação): endpoint, payload exato, headers, autenticação?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Q-02: API Dados Cadastrais: endpoint, payload exato, headers, autenticação?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Q-03: Validação campos: deve validar CEP (ViaCEP)? Telefone? Email? Ou apenas salva?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Q-04: ISS: continua apenas link do site ou muda para emissão DAM (como IPTU/TMRSU)?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Q-05: Se ISS mudar para emissão DAM: qual tipoDebito usar na API EmitirDamUnico?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Perguntas ao Cliente — 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EXPERIÊNCIA DO USUÁRIO (Q-06 a Q-08):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Q-06: Qual é a URL do Portal SEFIN para link de despedida?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Q-07: Mensagem de despedida padrão: tem texto preferencial ou deixamos genérico?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Q-08: Cidadão pode solicitar opt-out de mensagens proativas (ADD-ON Marketing Cloud)?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DADOS E VOLUME (Q-09 a Q-10):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Q-09: MUTANTE entrega dados históricos de volume/uso para sizing mais preciso?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Q-10: Base contribuintes SEFIN com CPF/CNPJ válido e atualizado para Marketing Cloud?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76D3"/>
                </a:solidFill>
              </a:defRPr>
            </a:pPr>
            <a:r>
              <a:t>Perguntas ao Cliente — Parte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TIMELINE E CONTRATO (Q-11 a Q-14):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Q-11: Qual a data de vencimento do contrato MUTANTE?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Q-12: Deadline desejado para go-live?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Q-13: Número do processo licitatório?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Q-14: Há janela de manutenção ou blackout para evitar (ex: período arrecadação IPTU)?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USUÁRIOS E PERFIS (Q-15 a Q-16):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Q-15: Perfil customizado 'Bot Maintainer': precisa permissões além de Einstein Bot + revisão conversas?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080707"/>
                </a:solidFill>
              </a:defRPr>
            </a:pPr>
            <a:r>
              <a:t>• Q-16: Usuários revisam conversas via Service Cloud Console ou via relatório/dashboard?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1364</Words>
  <Application>Microsoft Macintosh PowerPoint</Application>
  <PresentationFormat>Apresentação na tela (4:3)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Nelson Stebulaitis Filho</cp:lastModifiedBy>
  <cp:revision>2</cp:revision>
  <dcterms:created xsi:type="dcterms:W3CDTF">2013-01-27T09:14:16Z</dcterms:created>
  <dcterms:modified xsi:type="dcterms:W3CDTF">2026-07-03T19:34:05Z</dcterms:modified>
  <cp:category/>
</cp:coreProperties>
</file>