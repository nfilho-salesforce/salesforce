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DATAPREV-SEFIN-CE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ROM v2.0 — Investimento Professional Services + Timeline +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06E6B"/>
                </a:solidFill>
              </a:defRPr>
            </a:pPr>
            <a:r>
              <a:t>Salesforce Professional Services LATAM | ROM v2.0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Resumo Executivo — ROM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💰 ROM INVESTIMENTO PS: R$ 1,781,136 – R$ 4,882,236 BRL (com impostos)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📅 TIMELINE: 18-30 semanas | 3-5 pessoas (pico 2 arquitetos + 2 desenvolvedores)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🎯 ESCOPO BASE (CORE): Service Cloud ORG Setup + Einstein Bot 4 fluxos conversacionais WhatsApp + 4 APIs SEFIN + UX Research + Security LGPD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➕ ADD-ONs (investimento separado): E08 Marketing Cloud Jornada Proativa + E07 Knowledge Base Vectorization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⚠️ PREMISSAS CRÍTICAS: Licenças Salesforce não incluídas (cliente contrata direto); Meta WhatsApp approval 2-8 semanas (critical path); 2 API specs BLOCKER (CRM SEFIN + Dados Cadastrais)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Escopo — BASE vs ADD-ONs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ESCOPO BASE (CORE) — 6 Épicas: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E01 — Salesforce ORG Foundation + WhatsApp Channel (Hyperforce Brazil, Meta approval)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E02 — Einstein Bot 4 Fluxos (IPTU, TMRSU, ISS, Alteração Cadastral) + NLU 5 intents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E03 — API Integration Layer (4 APIs SEFIN: EmitirDamUnico, ConsultaImovel, CRM, Dados Cadastrais)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E04 — Feedback &amp; Satisfaction Tracking (1-5 estrelas obrigatória, log API CRM SEFIN)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E05 — UX Research &amp; Accessibility (12 personas, 15 usability sessions, WCAG 2.1 AA)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E06 — Security Model LGPD (2 perfis: 3 Admin + 7 Bot Maintainer, TDE encryption, audit)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E09 — Transbordo Humano via Omni-Channel/Service Console (ADD-ON aprovado, incorporado ao ROM base)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ADD-ONs (Investimento e Escopo Separados):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E08 — Marketing Cloud Proactive Journey (4,86M msgs/ano, régua D-15/D-5/D+1, SFTP batch)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E07 — Knowledge Base Vectorization Data Cloud (base externa → bot responde dúvidas)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❌ FORA DE ESCOPO: Case Management completo, Contact/Account Management completo, treinamento administradores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Timeline — 6 Fases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TIMELINE: 18-30 semanas | 6 Fases (Phase 0 a 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Phase 0 — Discovery Resolution &amp; API Specs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Resolver 133 gaps, obter 2 API specs BLOCKER (CRM SEFIN + Dados Cadastrais), validar Meta approval timeline, confirmar Hyperforce Brazil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Phase 1 — Foundation &amp; ORG Setup (E01, E06)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Provisionar Hyperforce Brazil ORG + WhatsApp Channel + Named Credentials 4 APIs + Security LGPD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Phase 2 — Einstein Bot + API Integration (E02, E03, E04)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 Einstein Bot flows + NLU training + 4 Apex REST callouts + Flow Orchestration + Satisfaction survey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Phase 3 — UX Research &amp; Refinement (E05)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12 persona interviews (6 PF + 6 PJ) + 15 usability sessions + accessibility WCAG 2.1 AA + bot refinement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Phase 4 — Marketing Cloud Proactive Journey ADD-ON (E08)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Setup MC + SFTP batch ingestion + Journey Builder régua proativa + HSM templates Meta approval + opt-out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Phase 5 — Transbordo Humano via Omni-Channel/Service Console ADD-ON (E09)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Enhanced Omni-Channel + Service Console para 3 PAs (turno único) + Business Hours 08h-17h seg-sex + pesquisa de satisfação estendida ao fechamento humano. Depende de Phase 1+2, roda em paralelo às Phases 3/4. Incorporado ao ROM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Roles &amp; Disciplinas — 6 Papéis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6 DISCIPLINAS (multi-disciplinar — 1 pessoa pode exercer múltiplos papéis):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R01 + R05 — Technical Architect (Phases 0-4)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Solution architecture ownership, Hyperforce Brazil decisão, Einstein Bot NLU design, integration patterns Flow+Apex+4 APIs, LGPD compliance TDE encryption, MC zero-copy batch, UX accessibility conversational UI, Phase 0 gap resolution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R02 — Technical Consultant (Phases 1, 2, 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Build E01 ORG Foundation + E02 Einstein Bot 4 flows + E03 Apex 4 APIs + E04 satisfaction survey + E08 ADD-ON MC Journey Builder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R03 — Technical Consultant Security + Profiles (Phases 1,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E06 Security — custom profiles (Admin + Bot Maintainer), Field History, Event Monitoring, data retention batch, Named Credentials FLS hidden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R04 — Experience Architect (Phase 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E05 UX Research — 12 persona interviews, 15 usability sessions, accessibility report WCAG 2.1 AA conversational UI, bot refinement, LGPD consent forms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R06 — Project Manager (Phases 0-4)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Delivery orchestration, Phase 0 gap resolution 133 gaps + 17 perguntas, Meta approval critical path management, stakeholder communication (Alex Siqueira + Oswaldo Melo + SEFIN-CE DPO + Meta)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Investimento BASE — Professional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INVESTIMENTO PROFESSIONAL SERVICES — ESCOPO BASE (6 épicas CORE):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💰 ROM: R$ 1,781,136 – R$ 4,882,236 BRL (com impostos 75,35%)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📅 PRAZO: 18-30 semanas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👥 EQUIPE: 3-5 pessoas (pico: 2 arquitetos + 2 desenvolvedores)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📊 COMPOSIÇÃO TAXAS DIÁRIAS (BRL com impostos):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Onshore Architect: R$ 7,032.56/dia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Onshore Developer: R$ 5,725.28/dia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Offshore: não aplicável (0 offshore neste projeto)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⚠️ DISCLAIMER: ROM indicativo baseado em bill rates validadas pelo cliente em 2026-07-03. Não inclui licenças Salesforce (cliente contrata diretamente). Estimativa top-down engagement-level — não é preço fixo nem FTE commitment.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Licenças Salesforce — Referência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LICENÇAS SALESFORCE (Cliente contrata diretamente — não incluídas no ROM PS):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SERVICE CLOUD + EINSTEIN BOT: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10 usuários Service Cloud (3 System Admin + 7 Bot Maintainer customizado)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Einstein Bot add-on (400k conversas/ano)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WhatsApp Channel connector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Hyperforce Brazil ORG (data residency LGPD)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MARKETING CLOUD ADD-ON (Opcional — E08):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Marketing Cloud Engagement (Core ou Pro edition — validar com cliente G0801)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WhatsApp for Marketing Cloud connector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Volume: 4,86M msgs WhatsApp/ano (~405k/mês)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DATA CLOUD ADD-ON (Opcional — E07 KB Vectorization):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Data Cloud licenses (zero-copy + vector embedding)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Volume KB a definir com cliente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📌 OBSERVAÇÃO: Valores licenças não fazem parte deste ROM. Cliente negocia diretamente com Account Executive Salesforce (Alex Siqueira). Investimento PS acima é exclusivamente Professional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ADD-ON E08 — Marketing Cloud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ADD-ON E08 — Marketing Cloud Proactive Journey (Investimento Separado):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ESCOPO: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Setup Marketing Cloud Engagement (Core/Pro edition)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SFTP batch ingestion (SEFIN arquivo cidadãos IPTU vencido diário/semanal)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1 Data Extension (1 fonte dados zero-copy)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1 segmentação (sem Identity Resolution)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Journey Builder: 1 jornada proativa régua (ex: D-15, D-5, D+1 reminders IPTU vencido)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3-5 HSM templates design + Meta approval (1-3 semanas)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Opt-out mechanism (reply STOP + MC attribute update)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LGPD compliance validation (tax reminders = legitimate public interest Art. 7 IX)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WhatsApp Business Account Tier 2+ upgrade se necessário (13,5K msgs/dia)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VOLUME: 4,86M msgs WhatsApp/ano (~405k/mês, ~13,5k/dia)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TIMELINE: Phase 4 (após Phase 2 complete — WhatsApp Channel + Meta approval já obtidos)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INVESTIMENTO: A DEFINIR (estimativa separada — não incluído no ROM BASE acima)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ADD-ON E07 — Knowledge Base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ADD-ON E07 — Knowledge Base Vectorization Data Cloud (Investimento Separado):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ESCOPO: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Ingestão base de conhecimento externa Salesforce → Data Cloud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Vetorização Data Cloud (vector embedding)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Einstein Bot responde dúvidas via KB (substitui redirecionamento site SEFIN)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Integração Einstein Bot + Data Cloud RAG (Retrieval-Augmented Generation)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PREMISSAS: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Volume KB a confirmar com cliente (Q-F discovery anterior)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Formato KB a definir (PDF, HTML, structured data?)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Fonte KB: SEFIN-CE fornece ou PS extrai de site público?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Manutenção KB: SEFIN-CE atualiza ou PS assume operação?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DEPENDÊNCIAS: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Data Cloud licenses (cliente contrata)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Base conhecimento SEFIN disponível e estruturada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TIMELINE: Pode ser paralelo Phase 2-3 se KB disponível cedo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INVESTIMENTO: A DEFINIR (estimativa separada — não incluído no ROM BASE acima)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STATUS: Confidence UNKNOWN — aguardando confirmação cliente se KB existe e qual volume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Riscos &amp; Dependências — Critical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RISCOS &amp; DEPENDÊNCIAS CRÍTICAS: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🔴 BLOCKERS Phase 0: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G0301: API CRM SEFIN spec (endpoint/payload/auth) — Q-01 BLOCKER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G0302: API Dados Cadastrais spec (endpoint/payload/auth) — Q-02 BLOCKER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G0103: Meta WhatsApp Business approval 2-8 semanas — CRITICAL PATH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P-22: Hyperforce Brazil vs US-East data residency decisão — LGPD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🟠 RISCOS Phase 1-2: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G0202: NLU training data ownership (SEFIN fornece ou PS infers?)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G0201: ISS flow ambiguity (link site ou DAM emission upgrade Q-04/Q-05)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G0303: Conectividade IP Salesforce → SEFIN APIs (ping/curl pre-prod validation)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G0208: WhatsApp 24h window vs session persistence &gt;24h (HSM templates needed)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🟡 RISCOS Phase 3: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G0501: UX research ownership (PS conducts ou DATAPREV with PS guidance?)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G0507: WCAG 2.1 AA não aplicável a conversational UI (W3C guidelines adaptation)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G0514: LGPD consent forms persona interviews + usability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🟢 RISCOS Phase 4 ADD-ON: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G0801: Marketing Cloud edition undefined (Core/Pro impacts licensing cost)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G0809: LGPD consent proactive marketing (legal validation Art. 7 IX SEFIN-CE DPO)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G0820: SEFIN batch file format/frequency undefined (daily/weekly impacts freshness)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Próximos Passos — Validação &amp; Kick-off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PRÓXIMOS PASSOS: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1️⃣ VALIDAÇÃO ROM (Cliente DATAPREV + SEFIN-CE):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Aprovar investimento PS ESCOPO BASE R$ 1,781,136 – R$ 4,882,236 BRL (inclui E09 incorporado)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Aprovar timeline 18-30 semanas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Confirmar se ADD-ONs E07/E08 entram no escopo (estimativa separada)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2️⃣ PHASE 0 — Discovery Resolution (Target &lt;3 semanas):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Responder 17 perguntas cliente (Q-01 a Q-17)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Obter 2 API specs BLOCKER (CRM SEFIN + Dados Cadastrais endpoint/payload/auth)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Validar Meta WhatsApp Business approval status (já obtida ou timeline para obter)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Confirmar Hyperforce Brazil data residency (vs US-East)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Definir ISS flow decisão (link site ou DAM emission)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3️⃣ CONTRATAÇÃO LICENÇAS SALESFORCE (Cliente contrata diretamente):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Service Cloud 10 usuários + Einstein Bot 400k conversas/ano + WhatsApp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Se ADD-ON E08: Marketing Cloud Engagement Core/Pro edition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Se ADD-ON E07: Data Cloud licenses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4️⃣ KICK-OFF Phase 1 (Após Phase 0 complete):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Provisionar Hyperforce Brazil ORG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   • Iniciar aprovação Meta WhatsApp Business (2-8 semanas critical path)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